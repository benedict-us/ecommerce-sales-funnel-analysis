
<file path=[Content_Types].xml><?xml version="1.0" encoding="utf-8"?>
<Types xmlns="http://schemas.openxmlformats.org/package/2006/content-types">
  <Default ContentType="application/x-fontdata" Extension="fntdata"/>
  <Default ContentType="image/jpeg" Extension="jpeg"/>
  <Default ContentType="image/png" Extension="png"/>
  <Default ContentType="application/vnd.openxmlformats-package.relationships+xml" Extension="rels"/>
  <Default ContentType="image/svg+xml" Extension="svg"/>
  <Default ContentType="application/xml" Extension="xml"/>
  <Override ContentType="application/vnd.openxmlformats-officedocument.extended-properties+xml" PartName="/docProps/app.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presentationml.slideLayout+xml" PartName="/ppt/slideLayouts/slideLayout1.xml"/>
  <Override ContentType="application/vnd.openxmlformats-officedocument.presentationml.slideLayout+xml" PartName="/ppt/slideLayouts/slideLayout2.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6.xml"/>
  <Override ContentType="application/vnd.openxmlformats-officedocument.presentationml.slideLayout+xml" PartName="/ppt/slideLayouts/slideLayout7.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Layout+xml" PartName="/ppt/slideLayouts/slideLayout10.xml"/>
  <Override ContentType="application/vnd.openxmlformats-officedocument.presentationml.slideLayout+xml" PartName="/ppt/slideLayouts/slideLayout11.xml"/>
  <Override ContentType="application/vnd.openxmlformats-officedocument.presentationml.slideMaster+xml" PartName="/ppt/slideMasters/slideMaster1.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4.xml"/>
  <Override ContentType="application/vnd.openxmlformats-officedocument.presentationml.slide+xml" PartName="/ppt/slides/slide5.xml"/>
  <Override ContentType="application/vnd.openxmlformats-officedocument.presentationml.slide+xml" PartName="/ppt/slides/slide6.xml"/>
  <Override ContentType="application/vnd.openxmlformats-officedocument.presentationml.slide+xml" PartName="/ppt/slides/slide7.xml"/>
  <Override ContentType="application/vnd.openxmlformats-officedocument.presentationml.slide+xml" PartName="/ppt/slides/slide8.xml"/>
  <Override ContentType="application/vnd.openxmlformats-officedocument.presentationml.tableStyles+xml" PartName="/ppt/tableStyles.xml"/>
  <Override ContentType="application/vnd.openxmlformats-officedocument.theme+xml" PartName="/ppt/theme/theme1.xml"/>
  <Override ContentType="application/vnd.openxmlformats-officedocument.presentationml.viewProps+xml" PartName="/ppt/viewProps.xml"/>
</Types>
</file>

<file path=_rels/.rels><?xml version="1.0" encoding="UTF-8" standalone="yes"?><Relationships xmlns="http://schemas.openxmlformats.org/package/2006/relationships"><Relationship Id="rId1" Target="ppt/presentation.xml" Type="http://schemas.openxmlformats.org/officeDocument/2006/relationships/officeDocument"/><Relationship Id="rId2" Target="docProps/thumbnail.jpeg" Type="http://schemas.openxmlformats.org/package/2006/relationships/metadata/thumbnail"/><Relationship Id="rId3" Target="docProps/core.xml" Type="http://schemas.openxmlformats.org/package/2006/relationships/metadata/core-properties"/><Relationship Id="rId4" Target="docProps/app.xml" Type="http://schemas.openxmlformats.org/officeDocument/2006/relationships/extended-properties"/></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56" r:id="rId6"/>
    <p:sldId id="257" r:id="rId7"/>
    <p:sldId id="258" r:id="rId8"/>
    <p:sldId id="259" r:id="rId9"/>
    <p:sldId id="260" r:id="rId10"/>
    <p:sldId id="261" r:id="rId11"/>
    <p:sldId id="262" r:id="rId12"/>
    <p:sldId id="263" r:id="rId13"/>
  </p:sldIdLst>
  <p:sldSz cx="18288000" cy="10287000"/>
  <p:notesSz cx="6858000" cy="9144000"/>
  <p:embeddedFontLst>
    <p:embeddedFont>
      <p:font typeface="Work Sans Semi-Bold" charset="1" panose="00000000000000000000"/>
      <p:regular r:id="rId14"/>
    </p:embeddedFont>
    <p:embeddedFont>
      <p:font typeface="Work Sans" charset="1" panose="00000000000000000000"/>
      <p:regular r:id="rId15"/>
    </p:embeddedFont>
    <p:embeddedFont>
      <p:font typeface="Work Sans Bold" charset="1" panose="00000000000000000000"/>
      <p:regular r:id="rId16"/>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Relationships xmlns="http://schemas.openxmlformats.org/package/2006/relationships"><Relationship Id="rId1" Target="slideMasters/slideMaster1.xml" Type="http://schemas.openxmlformats.org/officeDocument/2006/relationships/slideMaster"/><Relationship Id="rId10" Target="slides/slide5.xml" Type="http://schemas.openxmlformats.org/officeDocument/2006/relationships/slide"/><Relationship Id="rId11" Target="slides/slide6.xml" Type="http://schemas.openxmlformats.org/officeDocument/2006/relationships/slide"/><Relationship Id="rId12" Target="slides/slide7.xml" Type="http://schemas.openxmlformats.org/officeDocument/2006/relationships/slide"/><Relationship Id="rId13" Target="slides/slide8.xml" Type="http://schemas.openxmlformats.org/officeDocument/2006/relationships/slide"/><Relationship Id="rId14" Target="fonts/font14.fntdata" Type="http://schemas.openxmlformats.org/officeDocument/2006/relationships/font"/><Relationship Id="rId15" Target="fonts/font15.fntdata" Type="http://schemas.openxmlformats.org/officeDocument/2006/relationships/font"/><Relationship Id="rId16" Target="fonts/font16.fntdata" Type="http://schemas.openxmlformats.org/officeDocument/2006/relationships/font"/><Relationship Id="rId2" Target="presProps.xml" Type="http://schemas.openxmlformats.org/officeDocument/2006/relationships/presProps"/><Relationship Id="rId3" Target="viewProps.xml" Type="http://schemas.openxmlformats.org/officeDocument/2006/relationships/viewProps"/><Relationship Id="rId4" Target="theme/theme1.xml" Type="http://schemas.openxmlformats.org/officeDocument/2006/relationships/theme"/><Relationship Id="rId5" Target="tableStyles.xml" Type="http://schemas.openxmlformats.org/officeDocument/2006/relationships/tableStyles"/><Relationship Id="rId6" Target="slides/slide1.xml" Type="http://schemas.openxmlformats.org/officeDocument/2006/relationships/slide"/><Relationship Id="rId7" Target="slides/slide2.xml" Type="http://schemas.openxmlformats.org/officeDocument/2006/relationships/slide"/><Relationship Id="rId8" Target="slides/slide3.xml" Type="http://schemas.openxmlformats.org/officeDocument/2006/relationships/slide"/><Relationship Id="rId9" Target="slides/slide4.xml" Type="http://schemas.openxmlformats.org/officeDocument/2006/relationships/slide"/></Relationships>
</file>

<file path=ppt/slideLayouts/_rels/slideLayout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2.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3.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4.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5.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6.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7.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8.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9.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0.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Relationships xmlns="http://schemas.openxmlformats.org/package/2006/relationships"><Relationship Id="rId1" Target="../slideLayouts/slideLayout1.xml" Type="http://schemas.openxmlformats.org/officeDocument/2006/relationships/slideLayout"/><Relationship Id="rId10" Target="../slideLayouts/slideLayout10.xml" Type="http://schemas.openxmlformats.org/officeDocument/2006/relationships/slideLayout"/><Relationship Id="rId11" Target="../slideLayouts/slideLayout11.xml" Type="http://schemas.openxmlformats.org/officeDocument/2006/relationships/slideLayout"/><Relationship Id="rId12" Target="../theme/theme1.xml" Type="http://schemas.openxmlformats.org/officeDocument/2006/relationships/theme"/><Relationship Id="rId2" Target="../slideLayouts/slideLayout2.xml" Type="http://schemas.openxmlformats.org/officeDocument/2006/relationships/slideLayout"/><Relationship Id="rId3" Target="../slideLayouts/slideLayout3.xml" Type="http://schemas.openxmlformats.org/officeDocument/2006/relationships/slideLayout"/><Relationship Id="rId4" Target="../slideLayouts/slideLayout4.xml" Type="http://schemas.openxmlformats.org/officeDocument/2006/relationships/slideLayout"/><Relationship Id="rId5" Target="../slideLayouts/slideLayout5.xml" Type="http://schemas.openxmlformats.org/officeDocument/2006/relationships/slideLayout"/><Relationship Id="rId6" Target="../slideLayouts/slideLayout6.xml" Type="http://schemas.openxmlformats.org/officeDocument/2006/relationships/slideLayout"/><Relationship Id="rId7" Target="../slideLayouts/slideLayout7.xml" Type="http://schemas.openxmlformats.org/officeDocument/2006/relationships/slideLayout"/><Relationship Id="rId8" Target="../slideLayouts/slideLayout8.xml" Type="http://schemas.openxmlformats.org/officeDocument/2006/relationships/slideLayout"/><Relationship Id="rId9" Target="../slideLayouts/slideLayout9.xml" Type="http://schemas.openxmlformats.org/officeDocument/2006/relationships/slideLayout"/></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8.svg" Type="http://schemas.openxmlformats.org/officeDocument/2006/relationships/image"/><Relationship Id="rId11" Target="https://github.com/benedict-us/ecommerce-sales-funnel-analysis" TargetMode="External" Type="http://schemas.openxmlformats.org/officeDocument/2006/relationships/hyperlink"/><Relationship Id="rId12" Target="../media/image9.png" Type="http://schemas.openxmlformats.org/officeDocument/2006/relationships/image"/><Relationship Id="rId13" Target="../media/image10.svg" Type="http://schemas.openxmlformats.org/officeDocument/2006/relationships/image"/><Relationship Id="rId14" Target="../media/image11.png" Type="http://schemas.openxmlformats.org/officeDocument/2006/relationships/image"/><Relationship Id="rId15" Target="../media/image12.svg" Type="http://schemas.openxmlformats.org/officeDocument/2006/relationships/image"/><Relationship Id="rId2" Target="../media/image1.jpeg" Type="http://schemas.openxmlformats.org/officeDocument/2006/relationships/image"/><Relationship Id="rId3" Target="../media/image2.jpeg" Type="http://schemas.openxmlformats.org/officeDocument/2006/relationships/image"/><Relationship Id="rId4" Target="../media/image3.png" Type="http://schemas.openxmlformats.org/officeDocument/2006/relationships/image"/><Relationship Id="rId5" Target="../media/image4.svg" Type="http://schemas.openxmlformats.org/officeDocument/2006/relationships/image"/><Relationship Id="rId6" Target="../media/image5.png" Type="http://schemas.openxmlformats.org/officeDocument/2006/relationships/image"/><Relationship Id="rId7" Target="../media/image6.svg" Type="http://schemas.openxmlformats.org/officeDocument/2006/relationships/image"/><Relationship Id="rId8" Target="http://www.linkedin.com/in/kopanomofokeng/" TargetMode="External" Type="http://schemas.openxmlformats.org/officeDocument/2006/relationships/hyperlink"/><Relationship Id="rId9" Target="../media/image7.png" Type="http://schemas.openxmlformats.org/officeDocument/2006/relationships/image"/></Relationships>
</file>

<file path=ppt/slides/_rels/slide2.xml.rels><?xml version="1.0" encoding="UTF-8" standalone="yes"?><Relationships xmlns="http://schemas.openxmlformats.org/package/2006/relationships"><Relationship Id="rId1" Target="../slideLayouts/slideLayout7.xml" Type="http://schemas.openxmlformats.org/officeDocument/2006/relationships/slideLayout"/></Relationships>
</file>

<file path=ppt/slides/_rels/slide3.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3.jpeg" Type="http://schemas.openxmlformats.org/officeDocument/2006/relationships/image"/><Relationship Id="rId3" Target="../media/image14.png" Type="http://schemas.openxmlformats.org/officeDocument/2006/relationships/image"/><Relationship Id="rId4" Target="../media/image15.svg" Type="http://schemas.openxmlformats.org/officeDocument/2006/relationships/image"/></Relationships>
</file>

<file path=ppt/slides/_rels/slide4.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6.jpeg" Type="http://schemas.openxmlformats.org/officeDocument/2006/relationships/image"/></Relationships>
</file>

<file path=ppt/slides/_rels/slide5.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7.jpeg" Type="http://schemas.openxmlformats.org/officeDocument/2006/relationships/image"/></Relationships>
</file>

<file path=ppt/slides/_rels/slide6.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8.png" Type="http://schemas.openxmlformats.org/officeDocument/2006/relationships/image"/></Relationships>
</file>

<file path=ppt/slides/_rels/slide7.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9.png" Type="http://schemas.openxmlformats.org/officeDocument/2006/relationships/image"/></Relationships>
</file>

<file path=ppt/slides/_rels/slide8.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0.jpeg" Type="http://schemas.openxmlformats.org/officeDocument/2006/relationships/image"/></Relationships>
</file>

<file path=ppt/slides/slide1.xml><?xml version="1.0" encoding="utf-8"?>
<p:sld xmlns:p="http://schemas.openxmlformats.org/presentationml/2006/main" xmlns:a="http://schemas.openxmlformats.org/drawingml/2006/main" xmlns:r="http://schemas.openxmlformats.org/officeDocument/2006/relationships">
  <p:cSld>
    <p:bg>
      <p:bgPr>
        <a:solidFill>
          <a:srgbClr val="EEE6D9"/>
        </a:solidFill>
      </p:bgPr>
    </p:bg>
    <p:spTree>
      <p:nvGrpSpPr>
        <p:cNvPr id="1" name=""/>
        <p:cNvGrpSpPr/>
        <p:nvPr/>
      </p:nvGrpSpPr>
      <p:grpSpPr>
        <a:xfrm>
          <a:off x="0" y="0"/>
          <a:ext cx="0" cy="0"/>
          <a:chOff x="0" y="0"/>
          <a:chExt cx="0" cy="0"/>
        </a:xfrm>
      </p:grpSpPr>
      <p:grpSp>
        <p:nvGrpSpPr>
          <p:cNvPr name="Group 2" id="2"/>
          <p:cNvGrpSpPr/>
          <p:nvPr/>
        </p:nvGrpSpPr>
        <p:grpSpPr>
          <a:xfrm rot="0">
            <a:off x="666750" y="666750"/>
            <a:ext cx="16954500" cy="2686050"/>
            <a:chOff x="0" y="0"/>
            <a:chExt cx="4987154" cy="790100"/>
          </a:xfrm>
        </p:grpSpPr>
        <p:sp>
          <p:nvSpPr>
            <p:cNvPr name="Freeform 3" id="3"/>
            <p:cNvSpPr/>
            <p:nvPr/>
          </p:nvSpPr>
          <p:spPr>
            <a:xfrm flipH="false" flipV="false" rot="0">
              <a:off x="0" y="0"/>
              <a:ext cx="4987156" cy="790100"/>
            </a:xfrm>
            <a:custGeom>
              <a:avLst/>
              <a:gdLst/>
              <a:ahLst/>
              <a:cxnLst/>
              <a:rect r="r" b="b" t="t" l="l"/>
              <a:pathLst>
                <a:path h="790100" w="4987156">
                  <a:moveTo>
                    <a:pt x="4640197" y="0"/>
                  </a:moveTo>
                  <a:lnTo>
                    <a:pt x="148415" y="0"/>
                  </a:lnTo>
                  <a:cubicBezTo>
                    <a:pt x="66448" y="0"/>
                    <a:pt x="0" y="66448"/>
                    <a:pt x="0" y="148415"/>
                  </a:cubicBezTo>
                  <a:lnTo>
                    <a:pt x="0" y="510707"/>
                  </a:lnTo>
                  <a:cubicBezTo>
                    <a:pt x="0" y="547218"/>
                    <a:pt x="13458" y="582448"/>
                    <a:pt x="37800" y="609659"/>
                  </a:cubicBezTo>
                  <a:lnTo>
                    <a:pt x="154967" y="740636"/>
                  </a:lnTo>
                  <a:cubicBezTo>
                    <a:pt x="183122" y="772111"/>
                    <a:pt x="223353" y="790101"/>
                    <a:pt x="265584" y="790100"/>
                  </a:cubicBezTo>
                  <a:lnTo>
                    <a:pt x="4838740" y="790100"/>
                  </a:lnTo>
                  <a:cubicBezTo>
                    <a:pt x="4878102" y="790100"/>
                    <a:pt x="4915853" y="774464"/>
                    <a:pt x="4943686" y="746630"/>
                  </a:cubicBezTo>
                  <a:cubicBezTo>
                    <a:pt x="4971519" y="718797"/>
                    <a:pt x="4987156" y="681047"/>
                    <a:pt x="4987156" y="641685"/>
                  </a:cubicBezTo>
                  <a:lnTo>
                    <a:pt x="4987156" y="366141"/>
                  </a:lnTo>
                  <a:cubicBezTo>
                    <a:pt x="4987156" y="329143"/>
                    <a:pt x="4973337" y="293478"/>
                    <a:pt x="4948407" y="266140"/>
                  </a:cubicBezTo>
                  <a:lnTo>
                    <a:pt x="4749864" y="48414"/>
                  </a:lnTo>
                  <a:cubicBezTo>
                    <a:pt x="4721742" y="17574"/>
                    <a:pt x="4681934" y="0"/>
                    <a:pt x="4640197" y="0"/>
                  </a:cubicBezTo>
                  <a:close/>
                </a:path>
              </a:pathLst>
            </a:custGeom>
            <a:solidFill>
              <a:srgbClr val="093C25"/>
            </a:solidFill>
          </p:spPr>
        </p:sp>
      </p:grpSp>
      <p:grpSp>
        <p:nvGrpSpPr>
          <p:cNvPr name="Group 4" id="4"/>
          <p:cNvGrpSpPr/>
          <p:nvPr/>
        </p:nvGrpSpPr>
        <p:grpSpPr>
          <a:xfrm rot="0">
            <a:off x="10734675" y="6779029"/>
            <a:ext cx="6886575" cy="1400933"/>
            <a:chOff x="0" y="0"/>
            <a:chExt cx="1813748" cy="368970"/>
          </a:xfrm>
        </p:grpSpPr>
        <p:sp>
          <p:nvSpPr>
            <p:cNvPr name="Freeform 5" id="5"/>
            <p:cNvSpPr/>
            <p:nvPr/>
          </p:nvSpPr>
          <p:spPr>
            <a:xfrm flipH="false" flipV="false" rot="0">
              <a:off x="0" y="0"/>
              <a:ext cx="1813748" cy="368970"/>
            </a:xfrm>
            <a:custGeom>
              <a:avLst/>
              <a:gdLst/>
              <a:ahLst/>
              <a:cxnLst/>
              <a:rect r="r" b="b" t="t" l="l"/>
              <a:pathLst>
                <a:path h="368970" w="1813748">
                  <a:moveTo>
                    <a:pt x="44968" y="0"/>
                  </a:moveTo>
                  <a:lnTo>
                    <a:pt x="1768780" y="0"/>
                  </a:lnTo>
                  <a:cubicBezTo>
                    <a:pt x="1780706" y="0"/>
                    <a:pt x="1792144" y="4738"/>
                    <a:pt x="1800577" y="13171"/>
                  </a:cubicBezTo>
                  <a:cubicBezTo>
                    <a:pt x="1809011" y="21604"/>
                    <a:pt x="1813748" y="33042"/>
                    <a:pt x="1813748" y="44968"/>
                  </a:cubicBezTo>
                  <a:lnTo>
                    <a:pt x="1813748" y="324002"/>
                  </a:lnTo>
                  <a:cubicBezTo>
                    <a:pt x="1813748" y="335928"/>
                    <a:pt x="1809011" y="347366"/>
                    <a:pt x="1800577" y="355799"/>
                  </a:cubicBezTo>
                  <a:cubicBezTo>
                    <a:pt x="1792144" y="364232"/>
                    <a:pt x="1780706" y="368970"/>
                    <a:pt x="1768780" y="368970"/>
                  </a:cubicBezTo>
                  <a:lnTo>
                    <a:pt x="44968" y="368970"/>
                  </a:lnTo>
                  <a:cubicBezTo>
                    <a:pt x="33042" y="368970"/>
                    <a:pt x="21604" y="364232"/>
                    <a:pt x="13171" y="355799"/>
                  </a:cubicBezTo>
                  <a:cubicBezTo>
                    <a:pt x="4738" y="347366"/>
                    <a:pt x="0" y="335928"/>
                    <a:pt x="0" y="324002"/>
                  </a:cubicBezTo>
                  <a:lnTo>
                    <a:pt x="0" y="44968"/>
                  </a:lnTo>
                  <a:cubicBezTo>
                    <a:pt x="0" y="33042"/>
                    <a:pt x="4738" y="21604"/>
                    <a:pt x="13171" y="13171"/>
                  </a:cubicBezTo>
                  <a:cubicBezTo>
                    <a:pt x="21604" y="4738"/>
                    <a:pt x="33042" y="0"/>
                    <a:pt x="44968" y="0"/>
                  </a:cubicBezTo>
                  <a:close/>
                </a:path>
              </a:pathLst>
            </a:custGeom>
            <a:solidFill>
              <a:srgbClr val="FFFFFF"/>
            </a:solidFill>
          </p:spPr>
        </p:sp>
        <p:sp>
          <p:nvSpPr>
            <p:cNvPr name="TextBox 6" id="6"/>
            <p:cNvSpPr txBox="true"/>
            <p:nvPr/>
          </p:nvSpPr>
          <p:spPr>
            <a:xfrm>
              <a:off x="0" y="-57150"/>
              <a:ext cx="1813748" cy="426120"/>
            </a:xfrm>
            <a:prstGeom prst="rect">
              <a:avLst/>
            </a:prstGeom>
          </p:spPr>
          <p:txBody>
            <a:bodyPr anchor="ctr" rtlCol="false" tIns="50800" lIns="50800" bIns="50800" rIns="50800"/>
            <a:lstStyle/>
            <a:p>
              <a:pPr algn="ctr">
                <a:lnSpc>
                  <a:spcPts val="3359"/>
                </a:lnSpc>
              </a:pPr>
            </a:p>
          </p:txBody>
        </p:sp>
      </p:grpSp>
      <p:grpSp>
        <p:nvGrpSpPr>
          <p:cNvPr name="Group 7" id="7"/>
          <p:cNvGrpSpPr/>
          <p:nvPr/>
        </p:nvGrpSpPr>
        <p:grpSpPr>
          <a:xfrm rot="0">
            <a:off x="10734675" y="3657600"/>
            <a:ext cx="6886575" cy="2645179"/>
            <a:chOff x="0" y="0"/>
            <a:chExt cx="1066911" cy="409807"/>
          </a:xfrm>
        </p:grpSpPr>
        <p:sp>
          <p:nvSpPr>
            <p:cNvPr name="Freeform 8" id="8"/>
            <p:cNvSpPr/>
            <p:nvPr/>
          </p:nvSpPr>
          <p:spPr>
            <a:xfrm flipH="false" flipV="false" rot="0">
              <a:off x="0" y="0"/>
              <a:ext cx="1066911" cy="409807"/>
            </a:xfrm>
            <a:custGeom>
              <a:avLst/>
              <a:gdLst/>
              <a:ahLst/>
              <a:cxnLst/>
              <a:rect r="r" b="b" t="t" l="l"/>
              <a:pathLst>
                <a:path h="409807" w="1066911">
                  <a:moveTo>
                    <a:pt x="44968" y="0"/>
                  </a:moveTo>
                  <a:lnTo>
                    <a:pt x="1021942" y="0"/>
                  </a:lnTo>
                  <a:cubicBezTo>
                    <a:pt x="1033869" y="0"/>
                    <a:pt x="1045307" y="4738"/>
                    <a:pt x="1053740" y="13171"/>
                  </a:cubicBezTo>
                  <a:cubicBezTo>
                    <a:pt x="1062173" y="21604"/>
                    <a:pt x="1066911" y="33042"/>
                    <a:pt x="1066911" y="44968"/>
                  </a:cubicBezTo>
                  <a:lnTo>
                    <a:pt x="1066911" y="364839"/>
                  </a:lnTo>
                  <a:cubicBezTo>
                    <a:pt x="1066911" y="389675"/>
                    <a:pt x="1046778" y="409807"/>
                    <a:pt x="1021942" y="409807"/>
                  </a:cubicBezTo>
                  <a:lnTo>
                    <a:pt x="44968" y="409807"/>
                  </a:lnTo>
                  <a:cubicBezTo>
                    <a:pt x="33042" y="409807"/>
                    <a:pt x="21604" y="405070"/>
                    <a:pt x="13171" y="396637"/>
                  </a:cubicBezTo>
                  <a:cubicBezTo>
                    <a:pt x="4738" y="388203"/>
                    <a:pt x="0" y="376766"/>
                    <a:pt x="0" y="364839"/>
                  </a:cubicBezTo>
                  <a:lnTo>
                    <a:pt x="0" y="44968"/>
                  </a:lnTo>
                  <a:cubicBezTo>
                    <a:pt x="0" y="33042"/>
                    <a:pt x="4738" y="21604"/>
                    <a:pt x="13171" y="13171"/>
                  </a:cubicBezTo>
                  <a:cubicBezTo>
                    <a:pt x="21604" y="4738"/>
                    <a:pt x="33042" y="0"/>
                    <a:pt x="44968" y="0"/>
                  </a:cubicBezTo>
                  <a:close/>
                </a:path>
              </a:pathLst>
            </a:custGeom>
            <a:blipFill>
              <a:blip r:embed="rId2"/>
              <a:stretch>
                <a:fillRect l="0" t="-22896" r="0" b="-22896"/>
              </a:stretch>
            </a:blipFill>
          </p:spPr>
        </p:sp>
      </p:grpSp>
      <p:grpSp>
        <p:nvGrpSpPr>
          <p:cNvPr name="Group 9" id="9"/>
          <p:cNvGrpSpPr/>
          <p:nvPr/>
        </p:nvGrpSpPr>
        <p:grpSpPr>
          <a:xfrm rot="0">
            <a:off x="666750" y="3657600"/>
            <a:ext cx="9763125" cy="5962650"/>
            <a:chOff x="0" y="0"/>
            <a:chExt cx="4083676" cy="2494030"/>
          </a:xfrm>
        </p:grpSpPr>
        <p:sp>
          <p:nvSpPr>
            <p:cNvPr name="Freeform 10" id="10"/>
            <p:cNvSpPr/>
            <p:nvPr/>
          </p:nvSpPr>
          <p:spPr>
            <a:xfrm flipH="false" flipV="false" rot="0">
              <a:off x="54483" y="50038"/>
              <a:ext cx="3974583" cy="2394589"/>
            </a:xfrm>
            <a:custGeom>
              <a:avLst/>
              <a:gdLst/>
              <a:ahLst/>
              <a:cxnLst/>
              <a:rect r="r" b="b" t="t" l="l"/>
              <a:pathLst>
                <a:path h="2394589" w="3974583">
                  <a:moveTo>
                    <a:pt x="3886953" y="2394589"/>
                  </a:moveTo>
                  <a:lnTo>
                    <a:pt x="87757" y="2394589"/>
                  </a:lnTo>
                  <a:cubicBezTo>
                    <a:pt x="39370" y="2394589"/>
                    <a:pt x="0" y="2355346"/>
                    <a:pt x="0" y="2306832"/>
                  </a:cubicBezTo>
                  <a:lnTo>
                    <a:pt x="0" y="87757"/>
                  </a:lnTo>
                  <a:cubicBezTo>
                    <a:pt x="0" y="39370"/>
                    <a:pt x="39243" y="0"/>
                    <a:pt x="87757" y="0"/>
                  </a:cubicBezTo>
                  <a:lnTo>
                    <a:pt x="3886826" y="0"/>
                  </a:lnTo>
                  <a:cubicBezTo>
                    <a:pt x="3935213" y="0"/>
                    <a:pt x="3974583" y="39243"/>
                    <a:pt x="3974583" y="87757"/>
                  </a:cubicBezTo>
                  <a:lnTo>
                    <a:pt x="3974583" y="2306832"/>
                  </a:lnTo>
                  <a:cubicBezTo>
                    <a:pt x="3974583" y="2355219"/>
                    <a:pt x="3935340" y="2394589"/>
                    <a:pt x="3886826" y="2394589"/>
                  </a:cubicBezTo>
                  <a:close/>
                </a:path>
              </a:pathLst>
            </a:custGeom>
            <a:blipFill>
              <a:blip r:embed="rId3"/>
              <a:stretch>
                <a:fillRect l="0" t="-209" r="0" b="-209"/>
              </a:stretch>
            </a:blipFill>
          </p:spPr>
        </p:sp>
        <p:sp>
          <p:nvSpPr>
            <p:cNvPr name="Freeform 11" id="11"/>
            <p:cNvSpPr/>
            <p:nvPr/>
          </p:nvSpPr>
          <p:spPr>
            <a:xfrm flipH="false" flipV="false" rot="0">
              <a:off x="0" y="0"/>
              <a:ext cx="4083549" cy="2493903"/>
            </a:xfrm>
            <a:custGeom>
              <a:avLst/>
              <a:gdLst/>
              <a:ahLst/>
              <a:cxnLst/>
              <a:rect r="r" b="b" t="t" l="l"/>
              <a:pathLst>
                <a:path h="2493903" w="4083549">
                  <a:moveTo>
                    <a:pt x="0" y="91567"/>
                  </a:moveTo>
                  <a:lnTo>
                    <a:pt x="0" y="2402337"/>
                  </a:lnTo>
                  <a:cubicBezTo>
                    <a:pt x="0" y="2452882"/>
                    <a:pt x="41021" y="2493903"/>
                    <a:pt x="91567" y="2493903"/>
                  </a:cubicBezTo>
                  <a:lnTo>
                    <a:pt x="3991982" y="2493903"/>
                  </a:lnTo>
                  <a:cubicBezTo>
                    <a:pt x="4042528" y="2493903"/>
                    <a:pt x="4083549" y="2452882"/>
                    <a:pt x="4083549" y="2402337"/>
                  </a:cubicBezTo>
                  <a:lnTo>
                    <a:pt x="4083549" y="91567"/>
                  </a:lnTo>
                  <a:cubicBezTo>
                    <a:pt x="4083549" y="41021"/>
                    <a:pt x="4042528" y="0"/>
                    <a:pt x="3991982" y="0"/>
                  </a:cubicBezTo>
                  <a:lnTo>
                    <a:pt x="91567" y="0"/>
                  </a:lnTo>
                  <a:cubicBezTo>
                    <a:pt x="41021" y="0"/>
                    <a:pt x="0" y="41021"/>
                    <a:pt x="0" y="91567"/>
                  </a:cubicBezTo>
                  <a:close/>
                  <a:moveTo>
                    <a:pt x="3241793" y="331724"/>
                  </a:moveTo>
                  <a:lnTo>
                    <a:pt x="3900923" y="331724"/>
                  </a:lnTo>
                  <a:cubicBezTo>
                    <a:pt x="3951469" y="331724"/>
                    <a:pt x="3992490" y="372745"/>
                    <a:pt x="3992490" y="423291"/>
                  </a:cubicBezTo>
                  <a:lnTo>
                    <a:pt x="3992490" y="2311277"/>
                  </a:lnTo>
                  <a:cubicBezTo>
                    <a:pt x="3992490" y="2361823"/>
                    <a:pt x="3951469" y="2402844"/>
                    <a:pt x="3900923" y="2402844"/>
                  </a:cubicBezTo>
                  <a:lnTo>
                    <a:pt x="182753" y="2402844"/>
                  </a:lnTo>
                  <a:cubicBezTo>
                    <a:pt x="132207" y="2402844"/>
                    <a:pt x="91186" y="2361823"/>
                    <a:pt x="91186" y="2311277"/>
                  </a:cubicBezTo>
                  <a:lnTo>
                    <a:pt x="91186" y="182753"/>
                  </a:lnTo>
                  <a:cubicBezTo>
                    <a:pt x="91186" y="132207"/>
                    <a:pt x="132207" y="91186"/>
                    <a:pt x="182753" y="91186"/>
                  </a:cubicBezTo>
                  <a:lnTo>
                    <a:pt x="2944740" y="91186"/>
                  </a:lnTo>
                  <a:cubicBezTo>
                    <a:pt x="2970775" y="91186"/>
                    <a:pt x="2995667" y="102235"/>
                    <a:pt x="3013066" y="121666"/>
                  </a:cubicBezTo>
                  <a:lnTo>
                    <a:pt x="3173721" y="301244"/>
                  </a:lnTo>
                  <a:cubicBezTo>
                    <a:pt x="3191120" y="320675"/>
                    <a:pt x="3215885" y="331724"/>
                    <a:pt x="3242047" y="331724"/>
                  </a:cubicBezTo>
                  <a:lnTo>
                    <a:pt x="3241793" y="331724"/>
                  </a:lnTo>
                  <a:close/>
                </a:path>
              </a:pathLst>
            </a:custGeom>
            <a:solidFill>
              <a:srgbClr val="E8FF54"/>
            </a:solidFill>
          </p:spPr>
        </p:sp>
      </p:grpSp>
      <p:sp>
        <p:nvSpPr>
          <p:cNvPr name="Freeform 12" id="12"/>
          <p:cNvSpPr/>
          <p:nvPr/>
        </p:nvSpPr>
        <p:spPr>
          <a:xfrm flipH="false" flipV="false" rot="0">
            <a:off x="15220953" y="1376364"/>
            <a:ext cx="1266822" cy="1266822"/>
          </a:xfrm>
          <a:custGeom>
            <a:avLst/>
            <a:gdLst/>
            <a:ahLst/>
            <a:cxnLst/>
            <a:rect r="r" b="b" t="t" l="l"/>
            <a:pathLst>
              <a:path h="1266822" w="1266822">
                <a:moveTo>
                  <a:pt x="0" y="0"/>
                </a:moveTo>
                <a:lnTo>
                  <a:pt x="1266822" y="0"/>
                </a:lnTo>
                <a:lnTo>
                  <a:pt x="1266822" y="1266822"/>
                </a:lnTo>
                <a:lnTo>
                  <a:pt x="0" y="1266822"/>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13" id="13">
            <a:hlinkClick r:id="rId8" tooltip="http://www.linkedin.com/in/kopanomofokeng/"/>
          </p:cNvPr>
          <p:cNvSpPr/>
          <p:nvPr/>
        </p:nvSpPr>
        <p:spPr>
          <a:xfrm flipH="false" flipV="false" rot="0">
            <a:off x="16637651" y="8354675"/>
            <a:ext cx="983599" cy="983599"/>
          </a:xfrm>
          <a:custGeom>
            <a:avLst/>
            <a:gdLst/>
            <a:ahLst/>
            <a:cxnLst/>
            <a:rect r="r" b="b" t="t" l="l"/>
            <a:pathLst>
              <a:path h="983599" w="983599">
                <a:moveTo>
                  <a:pt x="0" y="0"/>
                </a:moveTo>
                <a:lnTo>
                  <a:pt x="983599" y="0"/>
                </a:lnTo>
                <a:lnTo>
                  <a:pt x="983599" y="983599"/>
                </a:lnTo>
                <a:lnTo>
                  <a:pt x="0" y="983599"/>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14" id="14">
            <a:hlinkClick r:id="rId11" tooltip="https://github.com/benedict-us/ecommerce-sales-funnel-analysis"/>
          </p:cNvPr>
          <p:cNvSpPr/>
          <p:nvPr/>
        </p:nvSpPr>
        <p:spPr>
          <a:xfrm flipH="false" flipV="false" rot="0">
            <a:off x="14666596" y="8339982"/>
            <a:ext cx="998292" cy="998292"/>
          </a:xfrm>
          <a:custGeom>
            <a:avLst/>
            <a:gdLst/>
            <a:ahLst/>
            <a:cxnLst/>
            <a:rect r="r" b="b" t="t" l="l"/>
            <a:pathLst>
              <a:path h="998292" w="998292">
                <a:moveTo>
                  <a:pt x="0" y="0"/>
                </a:moveTo>
                <a:lnTo>
                  <a:pt x="998292" y="0"/>
                </a:lnTo>
                <a:lnTo>
                  <a:pt x="998292" y="998292"/>
                </a:lnTo>
                <a:lnTo>
                  <a:pt x="0" y="998292"/>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name="Freeform 15" id="15"/>
          <p:cNvSpPr/>
          <p:nvPr/>
        </p:nvSpPr>
        <p:spPr>
          <a:xfrm flipH="false" flipV="false" rot="0">
            <a:off x="12996032" y="8646110"/>
            <a:ext cx="1374606" cy="386035"/>
          </a:xfrm>
          <a:custGeom>
            <a:avLst/>
            <a:gdLst/>
            <a:ahLst/>
            <a:cxnLst/>
            <a:rect r="r" b="b" t="t" l="l"/>
            <a:pathLst>
              <a:path h="386035" w="1374606">
                <a:moveTo>
                  <a:pt x="0" y="0"/>
                </a:moveTo>
                <a:lnTo>
                  <a:pt x="1374606" y="0"/>
                </a:lnTo>
                <a:lnTo>
                  <a:pt x="1374606" y="386035"/>
                </a:lnTo>
                <a:lnTo>
                  <a:pt x="0" y="386035"/>
                </a:lnTo>
                <a:lnTo>
                  <a:pt x="0" y="0"/>
                </a:lnTo>
                <a:close/>
              </a:path>
            </a:pathLst>
          </a:custGeom>
          <a:blipFill>
            <a:blip r:embed="rId12">
              <a:extLst>
                <a:ext uri="{96DAC541-7B7A-43D3-8B79-37D633B846F1}">
                  <asvg:svgBlip xmlns:asvg="http://schemas.microsoft.com/office/drawing/2016/SVG/main" r:embed="rId13"/>
                </a:ext>
              </a:extLst>
            </a:blip>
            <a:stretch>
              <a:fillRect l="0" t="0" r="0" b="0"/>
            </a:stretch>
          </a:blipFill>
        </p:spPr>
      </p:sp>
      <p:sp>
        <p:nvSpPr>
          <p:cNvPr name="Freeform 16" id="16"/>
          <p:cNvSpPr/>
          <p:nvPr/>
        </p:nvSpPr>
        <p:spPr>
          <a:xfrm flipH="false" flipV="false" rot="0">
            <a:off x="11001528" y="9338274"/>
            <a:ext cx="6352869" cy="714698"/>
          </a:xfrm>
          <a:custGeom>
            <a:avLst/>
            <a:gdLst/>
            <a:ahLst/>
            <a:cxnLst/>
            <a:rect r="r" b="b" t="t" l="l"/>
            <a:pathLst>
              <a:path h="714698" w="6352869">
                <a:moveTo>
                  <a:pt x="0" y="0"/>
                </a:moveTo>
                <a:lnTo>
                  <a:pt x="6352869" y="0"/>
                </a:lnTo>
                <a:lnTo>
                  <a:pt x="6352869" y="714698"/>
                </a:lnTo>
                <a:lnTo>
                  <a:pt x="0" y="714698"/>
                </a:lnTo>
                <a:lnTo>
                  <a:pt x="0" y="0"/>
                </a:lnTo>
                <a:close/>
              </a:path>
            </a:pathLst>
          </a:custGeom>
          <a:blipFill>
            <a:blip r:embed="rId14">
              <a:extLst>
                <a:ext uri="{96DAC541-7B7A-43D3-8B79-37D633B846F1}">
                  <asvg:svgBlip xmlns:asvg="http://schemas.microsoft.com/office/drawing/2016/SVG/main" r:embed="rId15"/>
                </a:ext>
              </a:extLst>
            </a:blip>
            <a:stretch>
              <a:fillRect l="0" t="0" r="0" b="0"/>
            </a:stretch>
          </a:blipFill>
          <a:ln cap="sq">
            <a:noFill/>
            <a:prstDash val="solid"/>
            <a:miter/>
          </a:ln>
        </p:spPr>
      </p:sp>
      <p:sp>
        <p:nvSpPr>
          <p:cNvPr name="TextBox 17" id="17"/>
          <p:cNvSpPr txBox="true"/>
          <p:nvPr/>
        </p:nvSpPr>
        <p:spPr>
          <a:xfrm rot="0">
            <a:off x="1320434" y="1168582"/>
            <a:ext cx="13424266" cy="1809755"/>
          </a:xfrm>
          <a:prstGeom prst="rect">
            <a:avLst/>
          </a:prstGeom>
        </p:spPr>
        <p:txBody>
          <a:bodyPr anchor="t" rtlCol="false" tIns="0" lIns="0" bIns="0" rIns="0">
            <a:spAutoFit/>
          </a:bodyPr>
          <a:lstStyle/>
          <a:p>
            <a:pPr algn="l" marL="0" indent="0" lvl="0">
              <a:lnSpc>
                <a:spcPts val="6840"/>
              </a:lnSpc>
            </a:pPr>
            <a:r>
              <a:rPr lang="en-US" b="true" sz="7200" spc="-396">
                <a:solidFill>
                  <a:srgbClr val="F8F7EF"/>
                </a:solidFill>
                <a:latin typeface="Work Sans Semi-Bold"/>
                <a:ea typeface="Work Sans Semi-Bold"/>
                <a:cs typeface="Work Sans Semi-Bold"/>
                <a:sym typeface="Work Sans Semi-Bold"/>
              </a:rPr>
              <a:t>E-Commerce Funnel Conversion &amp; Revenue Analysis</a:t>
            </a:r>
          </a:p>
        </p:txBody>
      </p:sp>
      <p:grpSp>
        <p:nvGrpSpPr>
          <p:cNvPr name="Group 18" id="18"/>
          <p:cNvGrpSpPr/>
          <p:nvPr/>
        </p:nvGrpSpPr>
        <p:grpSpPr>
          <a:xfrm rot="0">
            <a:off x="11376357" y="6979550"/>
            <a:ext cx="5603210" cy="999890"/>
            <a:chOff x="0" y="0"/>
            <a:chExt cx="7470947" cy="1333187"/>
          </a:xfrm>
        </p:grpSpPr>
        <p:sp>
          <p:nvSpPr>
            <p:cNvPr name="TextBox 19" id="19"/>
            <p:cNvSpPr txBox="true"/>
            <p:nvPr/>
          </p:nvSpPr>
          <p:spPr>
            <a:xfrm rot="0">
              <a:off x="0" y="-47625"/>
              <a:ext cx="7470947" cy="657225"/>
            </a:xfrm>
            <a:prstGeom prst="rect">
              <a:avLst/>
            </a:prstGeom>
          </p:spPr>
          <p:txBody>
            <a:bodyPr anchor="t" rtlCol="false" tIns="0" lIns="0" bIns="0" rIns="0">
              <a:spAutoFit/>
            </a:bodyPr>
            <a:lstStyle/>
            <a:p>
              <a:pPr algn="l" marL="0" indent="0" lvl="0">
                <a:lnSpc>
                  <a:spcPts val="3900"/>
                </a:lnSpc>
              </a:pPr>
              <a:r>
                <a:rPr lang="en-US" b="true" sz="3000" spc="-165">
                  <a:solidFill>
                    <a:srgbClr val="093C25"/>
                  </a:solidFill>
                  <a:latin typeface="Work Sans Semi-Bold"/>
                  <a:ea typeface="Work Sans Semi-Bold"/>
                  <a:cs typeface="Work Sans Semi-Bold"/>
                  <a:sym typeface="Work Sans Semi-Bold"/>
                </a:rPr>
                <a:t>Analysis </a:t>
              </a:r>
              <a:r>
                <a:rPr lang="en-US" b="true" sz="3000" spc="-165">
                  <a:solidFill>
                    <a:srgbClr val="093C25"/>
                  </a:solidFill>
                  <a:latin typeface="Work Sans Semi-Bold"/>
                  <a:ea typeface="Work Sans Semi-Bold"/>
                  <a:cs typeface="Work Sans Semi-Bold"/>
                  <a:sym typeface="Work Sans Semi-Bold"/>
                </a:rPr>
                <a:t>by</a:t>
              </a:r>
            </a:p>
          </p:txBody>
        </p:sp>
        <p:sp>
          <p:nvSpPr>
            <p:cNvPr name="TextBox 20" id="20"/>
            <p:cNvSpPr txBox="true"/>
            <p:nvPr/>
          </p:nvSpPr>
          <p:spPr>
            <a:xfrm rot="0">
              <a:off x="0" y="675962"/>
              <a:ext cx="7470947" cy="657225"/>
            </a:xfrm>
            <a:prstGeom prst="rect">
              <a:avLst/>
            </a:prstGeom>
          </p:spPr>
          <p:txBody>
            <a:bodyPr anchor="t" rtlCol="false" tIns="0" lIns="0" bIns="0" rIns="0">
              <a:spAutoFit/>
            </a:bodyPr>
            <a:lstStyle/>
            <a:p>
              <a:pPr algn="l" marL="0" indent="0" lvl="0">
                <a:lnSpc>
                  <a:spcPts val="3900"/>
                </a:lnSpc>
              </a:pPr>
              <a:r>
                <a:rPr lang="en-US" sz="3000" spc="-165">
                  <a:solidFill>
                    <a:srgbClr val="093C25"/>
                  </a:solidFill>
                  <a:latin typeface="Work Sans"/>
                  <a:ea typeface="Work Sans"/>
                  <a:cs typeface="Work Sans"/>
                  <a:sym typeface="Work Sans"/>
                </a:rPr>
                <a:t>Kopano Mofokeng</a:t>
              </a:r>
            </a:p>
          </p:txBody>
        </p:sp>
      </p:grpSp>
      <p:sp>
        <p:nvSpPr>
          <p:cNvPr name="TextBox 21" id="21"/>
          <p:cNvSpPr txBox="true"/>
          <p:nvPr/>
        </p:nvSpPr>
        <p:spPr>
          <a:xfrm rot="0">
            <a:off x="16080606" y="8570487"/>
            <a:ext cx="141327" cy="544830"/>
          </a:xfrm>
          <a:prstGeom prst="rect">
            <a:avLst/>
          </a:prstGeom>
        </p:spPr>
        <p:txBody>
          <a:bodyPr anchor="t" rtlCol="false" tIns="0" lIns="0" bIns="0" rIns="0">
            <a:spAutoFit/>
          </a:bodyPr>
          <a:lstStyle/>
          <a:p>
            <a:pPr algn="ctr">
              <a:lnSpc>
                <a:spcPts val="4199"/>
              </a:lnSpc>
              <a:spcBef>
                <a:spcPct val="0"/>
              </a:spcBef>
            </a:pPr>
            <a:r>
              <a:rPr lang="en-US" b="true" sz="4199" spc="-230">
                <a:solidFill>
                  <a:srgbClr val="000000"/>
                </a:solidFill>
                <a:latin typeface="Work Sans Bold"/>
                <a:ea typeface="Work Sans Bold"/>
                <a:cs typeface="Work Sans Bold"/>
                <a:sym typeface="Work Sans Bold"/>
              </a:rPr>
              <a:t>|</a:t>
            </a:r>
          </a:p>
        </p:txBody>
      </p:sp>
      <p:sp>
        <p:nvSpPr>
          <p:cNvPr name="TextBox 22" id="22"/>
          <p:cNvSpPr txBox="true"/>
          <p:nvPr/>
        </p:nvSpPr>
        <p:spPr>
          <a:xfrm rot="0">
            <a:off x="11001528" y="8635892"/>
            <a:ext cx="1698546" cy="375920"/>
          </a:xfrm>
          <a:prstGeom prst="rect">
            <a:avLst/>
          </a:prstGeom>
        </p:spPr>
        <p:txBody>
          <a:bodyPr anchor="t" rtlCol="false" tIns="0" lIns="0" bIns="0" rIns="0">
            <a:spAutoFit/>
          </a:bodyPr>
          <a:lstStyle/>
          <a:p>
            <a:pPr algn="ctr">
              <a:lnSpc>
                <a:spcPts val="2799"/>
              </a:lnSpc>
              <a:spcBef>
                <a:spcPct val="0"/>
              </a:spcBef>
            </a:pPr>
            <a:r>
              <a:rPr lang="en-US" b="true" sz="2799" spc="-153">
                <a:solidFill>
                  <a:srgbClr val="000000"/>
                </a:solidFill>
                <a:latin typeface="Work Sans Bold"/>
                <a:ea typeface="Work Sans Bold"/>
                <a:cs typeface="Work Sans Bold"/>
                <a:sym typeface="Work Sans Bold"/>
              </a:rPr>
              <a:t>Click Here:</a:t>
            </a:r>
          </a:p>
        </p:txBody>
      </p:sp>
    </p:spTree>
  </p:cSld>
  <p:clrMapOvr>
    <a:masterClrMapping/>
  </p:clrMapOvr>
</p:sld>
</file>

<file path=ppt/slides/slide2.xml><?xml version="1.0" encoding="utf-8"?>
<p:sld xmlns:p="http://schemas.openxmlformats.org/presentationml/2006/main" xmlns:a="http://schemas.openxmlformats.org/drawingml/2006/main">
  <p:cSld>
    <p:bg>
      <p:bgPr>
        <a:solidFill>
          <a:srgbClr val="EEE6D9"/>
        </a:solidFill>
      </p:bgPr>
    </p:bg>
    <p:spTree>
      <p:nvGrpSpPr>
        <p:cNvPr id="1" name=""/>
        <p:cNvGrpSpPr/>
        <p:nvPr/>
      </p:nvGrpSpPr>
      <p:grpSpPr>
        <a:xfrm>
          <a:off x="0" y="0"/>
          <a:ext cx="0" cy="0"/>
          <a:chOff x="0" y="0"/>
          <a:chExt cx="0" cy="0"/>
        </a:xfrm>
      </p:grpSpPr>
      <p:grpSp>
        <p:nvGrpSpPr>
          <p:cNvPr name="Group 2" id="2"/>
          <p:cNvGrpSpPr/>
          <p:nvPr/>
        </p:nvGrpSpPr>
        <p:grpSpPr>
          <a:xfrm rot="0">
            <a:off x="666750" y="666750"/>
            <a:ext cx="13244896" cy="8953500"/>
            <a:chOff x="0" y="0"/>
            <a:chExt cx="2577814" cy="1742593"/>
          </a:xfrm>
        </p:grpSpPr>
        <p:sp>
          <p:nvSpPr>
            <p:cNvPr name="Freeform 3" id="3"/>
            <p:cNvSpPr/>
            <p:nvPr/>
          </p:nvSpPr>
          <p:spPr>
            <a:xfrm flipH="false" flipV="false" rot="0">
              <a:off x="0" y="0"/>
              <a:ext cx="2577814" cy="1742587"/>
            </a:xfrm>
            <a:custGeom>
              <a:avLst/>
              <a:gdLst/>
              <a:ahLst/>
              <a:cxnLst/>
              <a:rect r="r" b="b" t="t" l="l"/>
              <a:pathLst>
                <a:path h="1742587" w="2577814">
                  <a:moveTo>
                    <a:pt x="965120" y="1606277"/>
                  </a:moveTo>
                  <a:cubicBezTo>
                    <a:pt x="983327" y="1585924"/>
                    <a:pt x="1009342" y="1574291"/>
                    <a:pt x="1036650" y="1574291"/>
                  </a:cubicBezTo>
                  <a:lnTo>
                    <a:pt x="2491549" y="1574626"/>
                  </a:lnTo>
                  <a:cubicBezTo>
                    <a:pt x="2514424" y="1574639"/>
                    <a:pt x="2536366" y="1565561"/>
                    <a:pt x="2552545" y="1549390"/>
                  </a:cubicBezTo>
                  <a:cubicBezTo>
                    <a:pt x="2568724" y="1533220"/>
                    <a:pt x="2577814" y="1511283"/>
                    <a:pt x="2577814" y="1488408"/>
                  </a:cubicBezTo>
                  <a:lnTo>
                    <a:pt x="2577814" y="86219"/>
                  </a:lnTo>
                  <a:cubicBezTo>
                    <a:pt x="2577814" y="63352"/>
                    <a:pt x="2568730" y="41422"/>
                    <a:pt x="2552561" y="25253"/>
                  </a:cubicBezTo>
                  <a:cubicBezTo>
                    <a:pt x="2536392" y="9084"/>
                    <a:pt x="2514462" y="0"/>
                    <a:pt x="2491595" y="0"/>
                  </a:cubicBezTo>
                  <a:lnTo>
                    <a:pt x="303022" y="0"/>
                  </a:lnTo>
                  <a:cubicBezTo>
                    <a:pt x="278489" y="-1"/>
                    <a:pt x="255117" y="10450"/>
                    <a:pt x="238760" y="28735"/>
                  </a:cubicBezTo>
                  <a:lnTo>
                    <a:pt x="21960" y="271092"/>
                  </a:lnTo>
                  <a:cubicBezTo>
                    <a:pt x="7818" y="286900"/>
                    <a:pt x="0" y="307366"/>
                    <a:pt x="0" y="328576"/>
                  </a:cubicBezTo>
                  <a:lnTo>
                    <a:pt x="0" y="1656375"/>
                  </a:lnTo>
                  <a:cubicBezTo>
                    <a:pt x="4" y="1703990"/>
                    <a:pt x="38604" y="1742587"/>
                    <a:pt x="86219" y="1742587"/>
                  </a:cubicBezTo>
                  <a:lnTo>
                    <a:pt x="804624" y="1742587"/>
                  </a:lnTo>
                  <a:cubicBezTo>
                    <a:pt x="829157" y="1742588"/>
                    <a:pt x="852529" y="1732137"/>
                    <a:pt x="868886" y="1713853"/>
                  </a:cubicBezTo>
                  <a:close/>
                </a:path>
              </a:pathLst>
            </a:custGeom>
            <a:solidFill>
              <a:srgbClr val="FFFFFF"/>
            </a:solidFill>
          </p:spPr>
        </p:sp>
      </p:grpSp>
      <p:grpSp>
        <p:nvGrpSpPr>
          <p:cNvPr name="Group 4" id="4"/>
          <p:cNvGrpSpPr/>
          <p:nvPr/>
        </p:nvGrpSpPr>
        <p:grpSpPr>
          <a:xfrm rot="0">
            <a:off x="2105025" y="1562100"/>
            <a:ext cx="12639675" cy="6346788"/>
            <a:chOff x="0" y="0"/>
            <a:chExt cx="16852900" cy="8462384"/>
          </a:xfrm>
        </p:grpSpPr>
        <p:sp>
          <p:nvSpPr>
            <p:cNvPr name="TextBox 5" id="5"/>
            <p:cNvSpPr txBox="true"/>
            <p:nvPr/>
          </p:nvSpPr>
          <p:spPr>
            <a:xfrm rot="0">
              <a:off x="0" y="133350"/>
              <a:ext cx="16852900" cy="1284817"/>
            </a:xfrm>
            <a:prstGeom prst="rect">
              <a:avLst/>
            </a:prstGeom>
          </p:spPr>
          <p:txBody>
            <a:bodyPr anchor="t" rtlCol="false" tIns="0" lIns="0" bIns="0" rIns="0">
              <a:spAutoFit/>
            </a:bodyPr>
            <a:lstStyle/>
            <a:p>
              <a:pPr algn="l" marL="0" indent="0" lvl="0">
                <a:lnSpc>
                  <a:spcPts val="6999"/>
                </a:lnSpc>
              </a:pPr>
              <a:r>
                <a:rPr lang="en-US" b="true" sz="6999" spc="-384" strike="noStrike" u="none">
                  <a:solidFill>
                    <a:srgbClr val="093C25"/>
                  </a:solidFill>
                  <a:latin typeface="Work Sans Semi-Bold"/>
                  <a:ea typeface="Work Sans Semi-Bold"/>
                  <a:cs typeface="Work Sans Semi-Bold"/>
                  <a:sym typeface="Work Sans Semi-Bold"/>
                </a:rPr>
                <a:t>B</a:t>
              </a:r>
              <a:r>
                <a:rPr lang="en-US" b="true" sz="6999" spc="-384" strike="noStrike" u="none">
                  <a:solidFill>
                    <a:srgbClr val="093C25"/>
                  </a:solidFill>
                  <a:latin typeface="Work Sans Semi-Bold"/>
                  <a:ea typeface="Work Sans Semi-Bold"/>
                  <a:cs typeface="Work Sans Semi-Bold"/>
                  <a:sym typeface="Work Sans Semi-Bold"/>
                </a:rPr>
                <a:t>us</a:t>
              </a:r>
              <a:r>
                <a:rPr lang="en-US" b="true" sz="6999" spc="-384" strike="noStrike" u="none">
                  <a:solidFill>
                    <a:srgbClr val="093C25"/>
                  </a:solidFill>
                  <a:latin typeface="Work Sans Semi-Bold"/>
                  <a:ea typeface="Work Sans Semi-Bold"/>
                  <a:cs typeface="Work Sans Semi-Bold"/>
                  <a:sym typeface="Work Sans Semi-Bold"/>
                </a:rPr>
                <a:t>in</a:t>
              </a:r>
              <a:r>
                <a:rPr lang="en-US" b="true" sz="6999" spc="-384" strike="noStrike" u="none">
                  <a:solidFill>
                    <a:srgbClr val="093C25"/>
                  </a:solidFill>
                  <a:latin typeface="Work Sans Semi-Bold"/>
                  <a:ea typeface="Work Sans Semi-Bold"/>
                  <a:cs typeface="Work Sans Semi-Bold"/>
                  <a:sym typeface="Work Sans Semi-Bold"/>
                </a:rPr>
                <a:t>e</a:t>
              </a:r>
              <a:r>
                <a:rPr lang="en-US" b="true" sz="6999" spc="-384" strike="noStrike" u="none">
                  <a:solidFill>
                    <a:srgbClr val="093C25"/>
                  </a:solidFill>
                  <a:latin typeface="Work Sans Semi-Bold"/>
                  <a:ea typeface="Work Sans Semi-Bold"/>
                  <a:cs typeface="Work Sans Semi-Bold"/>
                  <a:sym typeface="Work Sans Semi-Bold"/>
                </a:rPr>
                <a:t>ss</a:t>
              </a:r>
              <a:r>
                <a:rPr lang="en-US" b="true" sz="6999" spc="-384" strike="noStrike" u="none">
                  <a:solidFill>
                    <a:srgbClr val="093C25"/>
                  </a:solidFill>
                  <a:latin typeface="Work Sans Semi-Bold"/>
                  <a:ea typeface="Work Sans Semi-Bold"/>
                  <a:cs typeface="Work Sans Semi-Bold"/>
                  <a:sym typeface="Work Sans Semi-Bold"/>
                </a:rPr>
                <a:t> </a:t>
              </a:r>
              <a:r>
                <a:rPr lang="en-US" b="true" sz="6999" spc="-384" strike="noStrike" u="none">
                  <a:solidFill>
                    <a:srgbClr val="093C25"/>
                  </a:solidFill>
                  <a:latin typeface="Work Sans Semi-Bold"/>
                  <a:ea typeface="Work Sans Semi-Bold"/>
                  <a:cs typeface="Work Sans Semi-Bold"/>
                  <a:sym typeface="Work Sans Semi-Bold"/>
                </a:rPr>
                <a:t>Con</a:t>
              </a:r>
              <a:r>
                <a:rPr lang="en-US" b="true" sz="6999" spc="-384" strike="noStrike" u="none">
                  <a:solidFill>
                    <a:srgbClr val="093C25"/>
                  </a:solidFill>
                  <a:latin typeface="Work Sans Semi-Bold"/>
                  <a:ea typeface="Work Sans Semi-Bold"/>
                  <a:cs typeface="Work Sans Semi-Bold"/>
                  <a:sym typeface="Work Sans Semi-Bold"/>
                </a:rPr>
                <a:t>te</a:t>
              </a:r>
              <a:r>
                <a:rPr lang="en-US" b="true" sz="6999" spc="-384" strike="noStrike" u="none">
                  <a:solidFill>
                    <a:srgbClr val="093C25"/>
                  </a:solidFill>
                  <a:latin typeface="Work Sans Semi-Bold"/>
                  <a:ea typeface="Work Sans Semi-Bold"/>
                  <a:cs typeface="Work Sans Semi-Bold"/>
                  <a:sym typeface="Work Sans Semi-Bold"/>
                </a:rPr>
                <a:t>xt</a:t>
              </a:r>
            </a:p>
          </p:txBody>
        </p:sp>
        <p:sp>
          <p:nvSpPr>
            <p:cNvPr name="TextBox 6" id="6"/>
            <p:cNvSpPr txBox="true"/>
            <p:nvPr/>
          </p:nvSpPr>
          <p:spPr>
            <a:xfrm rot="0">
              <a:off x="0" y="1611369"/>
              <a:ext cx="14580202" cy="6851015"/>
            </a:xfrm>
            <a:prstGeom prst="rect">
              <a:avLst/>
            </a:prstGeom>
          </p:spPr>
          <p:txBody>
            <a:bodyPr anchor="t" rtlCol="false" tIns="0" lIns="0" bIns="0" rIns="0">
              <a:spAutoFit/>
            </a:bodyPr>
            <a:lstStyle/>
            <a:p>
              <a:pPr algn="l">
                <a:lnSpc>
                  <a:spcPts val="2730"/>
                </a:lnSpc>
              </a:pPr>
              <a:r>
                <a:rPr lang="en-US" sz="2100" spc="-115">
                  <a:solidFill>
                    <a:srgbClr val="093C25"/>
                  </a:solidFill>
                  <a:latin typeface="Work Sans"/>
                  <a:ea typeface="Work Sans"/>
                  <a:cs typeface="Work Sans"/>
                  <a:sym typeface="Work Sans"/>
                </a:rPr>
                <a:t>The objective of this analysis was to evaluate customer behaviour across the five-stage purchase journey: </a:t>
              </a:r>
              <a:r>
                <a:rPr lang="en-US" sz="2100" spc="-115">
                  <a:solidFill>
                    <a:srgbClr val="093C25"/>
                  </a:solidFill>
                  <a:latin typeface="Work Sans"/>
                  <a:ea typeface="Work Sans"/>
                  <a:cs typeface="Work Sans"/>
                  <a:sym typeface="Work Sans"/>
                </a:rPr>
                <a:t>Product View, Add to Cart, Checkout, Payment, and Purchase.</a:t>
              </a:r>
            </a:p>
            <a:p>
              <a:pPr algn="l">
                <a:lnSpc>
                  <a:spcPts val="2730"/>
                </a:lnSpc>
              </a:pPr>
            </a:p>
            <a:p>
              <a:pPr algn="l" marL="0" indent="0" lvl="0">
                <a:lnSpc>
                  <a:spcPts val="2730"/>
                </a:lnSpc>
              </a:pPr>
              <a:r>
                <a:rPr lang="en-US" sz="2100" spc="-115">
                  <a:solidFill>
                    <a:srgbClr val="093C25"/>
                  </a:solidFill>
                  <a:latin typeface="Work Sans"/>
                  <a:ea typeface="Work Sans"/>
                  <a:cs typeface="Work Sans"/>
                  <a:sym typeface="Work Sans"/>
                </a:rPr>
                <a:t>The purpose was to identify conversion bottlenecks, assess traffic quality, and determine where optimisation efforts should be focused to increase revenue efficiently.</a:t>
              </a:r>
            </a:p>
            <a:p>
              <a:pPr algn="l" marL="0" indent="0" lvl="0">
                <a:lnSpc>
                  <a:spcPts val="2730"/>
                </a:lnSpc>
              </a:pPr>
            </a:p>
            <a:p>
              <a:pPr algn="l" marL="0" indent="0" lvl="0">
                <a:lnSpc>
                  <a:spcPts val="2730"/>
                </a:lnSpc>
              </a:pPr>
              <a:r>
                <a:rPr lang="en-US" sz="2100" spc="-115">
                  <a:solidFill>
                    <a:srgbClr val="093C25"/>
                  </a:solidFill>
                  <a:latin typeface="Work Sans"/>
                  <a:ea typeface="Work Sans"/>
                  <a:cs typeface="Work Sans"/>
                  <a:sym typeface="Work Sans"/>
                </a:rPr>
                <a:t>Specifically, the analysis sought to answer:</a:t>
              </a:r>
            </a:p>
            <a:p>
              <a:pPr algn="l" marL="453390" indent="-226695" lvl="1">
                <a:lnSpc>
                  <a:spcPts val="2730"/>
                </a:lnSpc>
                <a:buFont typeface="Arial"/>
                <a:buChar char="•"/>
              </a:pPr>
              <a:r>
                <a:rPr lang="en-US" sz="2100" spc="-115">
                  <a:solidFill>
                    <a:srgbClr val="093C25"/>
                  </a:solidFill>
                  <a:latin typeface="Work Sans"/>
                  <a:ea typeface="Work Sans"/>
                  <a:cs typeface="Work Sans"/>
                  <a:sym typeface="Work Sans"/>
                </a:rPr>
                <a:t>Where are customers dropping off in the funnel?</a:t>
              </a:r>
            </a:p>
            <a:p>
              <a:pPr algn="l" marL="453390" indent="-226695" lvl="1">
                <a:lnSpc>
                  <a:spcPts val="2730"/>
                </a:lnSpc>
                <a:buFont typeface="Arial"/>
                <a:buChar char="•"/>
              </a:pPr>
              <a:r>
                <a:rPr lang="en-US" sz="2100" spc="-115">
                  <a:solidFill>
                    <a:srgbClr val="093C25"/>
                  </a:solidFill>
                  <a:latin typeface="Work Sans"/>
                  <a:ea typeface="Work Sans"/>
                  <a:cs typeface="Work Sans"/>
                  <a:sym typeface="Work Sans"/>
                </a:rPr>
                <a:t>Which traffic sources bring high-quality users?</a:t>
              </a:r>
            </a:p>
            <a:p>
              <a:pPr algn="l" marL="453390" indent="-226695" lvl="1">
                <a:lnSpc>
                  <a:spcPts val="2730"/>
                </a:lnSpc>
                <a:buFont typeface="Arial"/>
                <a:buChar char="•"/>
              </a:pPr>
              <a:r>
                <a:rPr lang="en-US" sz="2100" spc="-115">
                  <a:solidFill>
                    <a:srgbClr val="093C25"/>
                  </a:solidFill>
                  <a:latin typeface="Work Sans"/>
                  <a:ea typeface="Work Sans"/>
                  <a:cs typeface="Work Sans"/>
                  <a:sym typeface="Work Sans"/>
                </a:rPr>
                <a:t>Where should optimisation efforts be prioritised to drive revenue growth?</a:t>
              </a:r>
            </a:p>
            <a:p>
              <a:pPr algn="l">
                <a:lnSpc>
                  <a:spcPts val="2730"/>
                </a:lnSpc>
              </a:pPr>
            </a:p>
            <a:p>
              <a:pPr algn="l" marL="0" indent="0" lvl="0">
                <a:lnSpc>
                  <a:spcPts val="2730"/>
                </a:lnSpc>
              </a:pPr>
              <a:r>
                <a:rPr lang="en-US" sz="2100" spc="-115">
                  <a:solidFill>
                    <a:srgbClr val="093C25"/>
                  </a:solidFill>
                  <a:latin typeface="Work Sans"/>
                  <a:ea typeface="Work Sans"/>
                  <a:cs typeface="Work Sans"/>
                  <a:sym typeface="Work Sans"/>
                </a:rPr>
                <a:t>The analysis covers the period 04 February 2026 to 02 February 2026 and compares performance against historical benchmarks.</a:t>
              </a:r>
            </a:p>
            <a:p>
              <a:pPr algn="l" marL="0" indent="0" lvl="0">
                <a:lnSpc>
                  <a:spcPts val="2730"/>
                </a:lnSpc>
              </a:pPr>
            </a:p>
            <a:p>
              <a:pPr algn="l" marL="0" indent="0" lvl="0">
                <a:lnSpc>
                  <a:spcPts val="2730"/>
                </a:lnSpc>
              </a:pPr>
            </a:p>
          </p:txBody>
        </p:sp>
      </p:grpSp>
    </p:spTree>
  </p:cSld>
  <p:clrMapOvr>
    <a:masterClrMapping/>
  </p:clrMapOvr>
</p:sld>
</file>

<file path=ppt/slides/slide3.xml><?xml version="1.0" encoding="utf-8"?>
<p:sld xmlns:p="http://schemas.openxmlformats.org/presentationml/2006/main" xmlns:a="http://schemas.openxmlformats.org/drawingml/2006/main" xmlns:r="http://schemas.openxmlformats.org/officeDocument/2006/relationships">
  <p:cSld>
    <p:bg>
      <p:bgPr>
        <a:solidFill>
          <a:srgbClr val="EEE6D9"/>
        </a:solidFill>
      </p:bgPr>
    </p:bg>
    <p:spTree>
      <p:nvGrpSpPr>
        <p:cNvPr id="1" name=""/>
        <p:cNvGrpSpPr/>
        <p:nvPr/>
      </p:nvGrpSpPr>
      <p:grpSpPr>
        <a:xfrm>
          <a:off x="0" y="0"/>
          <a:ext cx="0" cy="0"/>
          <a:chOff x="0" y="0"/>
          <a:chExt cx="0" cy="0"/>
        </a:xfrm>
      </p:grpSpPr>
      <p:grpSp>
        <p:nvGrpSpPr>
          <p:cNvPr name="Group 2" id="2"/>
          <p:cNvGrpSpPr/>
          <p:nvPr/>
        </p:nvGrpSpPr>
        <p:grpSpPr>
          <a:xfrm rot="0">
            <a:off x="666750" y="266497"/>
            <a:ext cx="9994789" cy="9668214"/>
            <a:chOff x="0" y="0"/>
            <a:chExt cx="2722626" cy="2633665"/>
          </a:xfrm>
        </p:grpSpPr>
        <p:sp>
          <p:nvSpPr>
            <p:cNvPr name="Freeform 3" id="3"/>
            <p:cNvSpPr/>
            <p:nvPr/>
          </p:nvSpPr>
          <p:spPr>
            <a:xfrm flipH="false" flipV="false" rot="0">
              <a:off x="0" y="0"/>
              <a:ext cx="2722628" cy="2633665"/>
            </a:xfrm>
            <a:custGeom>
              <a:avLst/>
              <a:gdLst/>
              <a:ahLst/>
              <a:cxnLst/>
              <a:rect r="r" b="b" t="t" l="l"/>
              <a:pathLst>
                <a:path h="2633665" w="2722628">
                  <a:moveTo>
                    <a:pt x="2375669" y="0"/>
                  </a:moveTo>
                  <a:lnTo>
                    <a:pt x="148415" y="0"/>
                  </a:lnTo>
                  <a:cubicBezTo>
                    <a:pt x="66448" y="0"/>
                    <a:pt x="0" y="66448"/>
                    <a:pt x="0" y="148415"/>
                  </a:cubicBezTo>
                  <a:lnTo>
                    <a:pt x="0" y="2354273"/>
                  </a:lnTo>
                  <a:cubicBezTo>
                    <a:pt x="0" y="2390784"/>
                    <a:pt x="13458" y="2426013"/>
                    <a:pt x="37800" y="2453225"/>
                  </a:cubicBezTo>
                  <a:lnTo>
                    <a:pt x="154967" y="2584201"/>
                  </a:lnTo>
                  <a:cubicBezTo>
                    <a:pt x="183122" y="2615677"/>
                    <a:pt x="223353" y="2633666"/>
                    <a:pt x="265584" y="2633665"/>
                  </a:cubicBezTo>
                  <a:lnTo>
                    <a:pt x="2574212" y="2633665"/>
                  </a:lnTo>
                  <a:cubicBezTo>
                    <a:pt x="2613575" y="2633666"/>
                    <a:pt x="2651325" y="2618029"/>
                    <a:pt x="2679158" y="2590196"/>
                  </a:cubicBezTo>
                  <a:cubicBezTo>
                    <a:pt x="2706992" y="2562363"/>
                    <a:pt x="2722628" y="2524613"/>
                    <a:pt x="2722628" y="2485251"/>
                  </a:cubicBezTo>
                  <a:lnTo>
                    <a:pt x="2722628" y="366141"/>
                  </a:lnTo>
                  <a:cubicBezTo>
                    <a:pt x="2722629" y="329143"/>
                    <a:pt x="2708809" y="293478"/>
                    <a:pt x="2683879" y="266140"/>
                  </a:cubicBezTo>
                  <a:lnTo>
                    <a:pt x="2485336" y="48414"/>
                  </a:lnTo>
                  <a:cubicBezTo>
                    <a:pt x="2457214" y="17574"/>
                    <a:pt x="2417406" y="0"/>
                    <a:pt x="2375669" y="0"/>
                  </a:cubicBezTo>
                  <a:close/>
                </a:path>
              </a:pathLst>
            </a:custGeom>
            <a:solidFill>
              <a:srgbClr val="093C25"/>
            </a:solidFill>
          </p:spPr>
        </p:sp>
      </p:grpSp>
      <p:grpSp>
        <p:nvGrpSpPr>
          <p:cNvPr name="Group 4" id="4"/>
          <p:cNvGrpSpPr/>
          <p:nvPr/>
        </p:nvGrpSpPr>
        <p:grpSpPr>
          <a:xfrm rot="0">
            <a:off x="11654716" y="1934952"/>
            <a:ext cx="5966534" cy="6417096"/>
            <a:chOff x="0" y="0"/>
            <a:chExt cx="2192553" cy="2358123"/>
          </a:xfrm>
        </p:grpSpPr>
        <p:sp>
          <p:nvSpPr>
            <p:cNvPr name="Freeform 5" id="5"/>
            <p:cNvSpPr/>
            <p:nvPr/>
          </p:nvSpPr>
          <p:spPr>
            <a:xfrm flipH="false" flipV="false" rot="0">
              <a:off x="0" y="0"/>
              <a:ext cx="2192553" cy="2358124"/>
            </a:xfrm>
            <a:custGeom>
              <a:avLst/>
              <a:gdLst/>
              <a:ahLst/>
              <a:cxnLst/>
              <a:rect r="r" b="b" t="t" l="l"/>
              <a:pathLst>
                <a:path h="2358124" w="2192553">
                  <a:moveTo>
                    <a:pt x="71366" y="0"/>
                  </a:moveTo>
                  <a:lnTo>
                    <a:pt x="2121188" y="0"/>
                  </a:lnTo>
                  <a:cubicBezTo>
                    <a:pt x="2160602" y="0"/>
                    <a:pt x="2192553" y="31951"/>
                    <a:pt x="2192553" y="71366"/>
                  </a:cubicBezTo>
                  <a:lnTo>
                    <a:pt x="2192553" y="2286758"/>
                  </a:lnTo>
                  <a:cubicBezTo>
                    <a:pt x="2192553" y="2326172"/>
                    <a:pt x="2160602" y="2358124"/>
                    <a:pt x="2121188" y="2358124"/>
                  </a:cubicBezTo>
                  <a:lnTo>
                    <a:pt x="71366" y="2358124"/>
                  </a:lnTo>
                  <a:cubicBezTo>
                    <a:pt x="52438" y="2358124"/>
                    <a:pt x="34286" y="2350605"/>
                    <a:pt x="20903" y="2337221"/>
                  </a:cubicBezTo>
                  <a:cubicBezTo>
                    <a:pt x="7519" y="2323837"/>
                    <a:pt x="0" y="2305685"/>
                    <a:pt x="0" y="2286758"/>
                  </a:cubicBezTo>
                  <a:lnTo>
                    <a:pt x="0" y="71366"/>
                  </a:lnTo>
                  <a:cubicBezTo>
                    <a:pt x="0" y="52438"/>
                    <a:pt x="7519" y="34286"/>
                    <a:pt x="20903" y="20903"/>
                  </a:cubicBezTo>
                  <a:cubicBezTo>
                    <a:pt x="34286" y="7519"/>
                    <a:pt x="52438" y="0"/>
                    <a:pt x="71366" y="0"/>
                  </a:cubicBezTo>
                  <a:close/>
                </a:path>
              </a:pathLst>
            </a:custGeom>
            <a:solidFill>
              <a:srgbClr val="FFFFFF"/>
            </a:solidFill>
          </p:spPr>
        </p:sp>
        <p:sp>
          <p:nvSpPr>
            <p:cNvPr name="TextBox 6" id="6"/>
            <p:cNvSpPr txBox="true"/>
            <p:nvPr/>
          </p:nvSpPr>
          <p:spPr>
            <a:xfrm>
              <a:off x="0" y="-57150"/>
              <a:ext cx="2192553" cy="2415273"/>
            </a:xfrm>
            <a:prstGeom prst="rect">
              <a:avLst/>
            </a:prstGeom>
          </p:spPr>
          <p:txBody>
            <a:bodyPr anchor="ctr" rtlCol="false" tIns="50800" lIns="50800" bIns="50800" rIns="50800"/>
            <a:lstStyle/>
            <a:p>
              <a:pPr algn="ctr">
                <a:lnSpc>
                  <a:spcPts val="3359"/>
                </a:lnSpc>
              </a:pPr>
            </a:p>
          </p:txBody>
        </p:sp>
      </p:grpSp>
      <p:grpSp>
        <p:nvGrpSpPr>
          <p:cNvPr name="Group 7" id="7"/>
          <p:cNvGrpSpPr/>
          <p:nvPr/>
        </p:nvGrpSpPr>
        <p:grpSpPr>
          <a:xfrm rot="0">
            <a:off x="12074378" y="2310336"/>
            <a:ext cx="5127211" cy="5666328"/>
            <a:chOff x="0" y="0"/>
            <a:chExt cx="1935901" cy="2139458"/>
          </a:xfrm>
        </p:grpSpPr>
        <p:sp>
          <p:nvSpPr>
            <p:cNvPr name="Freeform 8" id="8"/>
            <p:cNvSpPr/>
            <p:nvPr/>
          </p:nvSpPr>
          <p:spPr>
            <a:xfrm flipH="false" flipV="false" rot="0">
              <a:off x="0" y="0"/>
              <a:ext cx="1935903" cy="2139471"/>
            </a:xfrm>
            <a:custGeom>
              <a:avLst/>
              <a:gdLst/>
              <a:ahLst/>
              <a:cxnLst/>
              <a:rect r="r" b="b" t="t" l="l"/>
              <a:pathLst>
                <a:path h="2139471" w="1935903">
                  <a:moveTo>
                    <a:pt x="1448460" y="0"/>
                  </a:moveTo>
                  <a:lnTo>
                    <a:pt x="177673" y="0"/>
                  </a:lnTo>
                  <a:cubicBezTo>
                    <a:pt x="79547" y="0"/>
                    <a:pt x="0" y="79547"/>
                    <a:pt x="0" y="177673"/>
                  </a:cubicBezTo>
                  <a:lnTo>
                    <a:pt x="0" y="1961798"/>
                  </a:lnTo>
                  <a:cubicBezTo>
                    <a:pt x="0" y="2059924"/>
                    <a:pt x="79547" y="2139471"/>
                    <a:pt x="177673" y="2139471"/>
                  </a:cubicBezTo>
                  <a:lnTo>
                    <a:pt x="1758230" y="2139471"/>
                  </a:lnTo>
                  <a:cubicBezTo>
                    <a:pt x="1856356" y="2139471"/>
                    <a:pt x="1935903" y="2059924"/>
                    <a:pt x="1935903" y="1961798"/>
                  </a:cubicBezTo>
                  <a:lnTo>
                    <a:pt x="1935903" y="523958"/>
                  </a:lnTo>
                  <a:cubicBezTo>
                    <a:pt x="1935903" y="480251"/>
                    <a:pt x="1919793" y="438079"/>
                    <a:pt x="1890654" y="405503"/>
                  </a:cubicBezTo>
                  <a:lnTo>
                    <a:pt x="1580877" y="59214"/>
                  </a:lnTo>
                  <a:cubicBezTo>
                    <a:pt x="1547173" y="21536"/>
                    <a:pt x="1499013" y="0"/>
                    <a:pt x="1448460" y="0"/>
                  </a:cubicBezTo>
                  <a:close/>
                </a:path>
              </a:pathLst>
            </a:custGeom>
            <a:blipFill>
              <a:blip r:embed="rId2"/>
              <a:stretch>
                <a:fillRect l="-353" t="0" r="-353" b="0"/>
              </a:stretch>
            </a:blipFill>
          </p:spPr>
        </p:sp>
      </p:grpSp>
      <p:sp>
        <p:nvSpPr>
          <p:cNvPr name="Freeform 9" id="9"/>
          <p:cNvSpPr/>
          <p:nvPr/>
        </p:nvSpPr>
        <p:spPr>
          <a:xfrm flipH="false" flipV="false" rot="0">
            <a:off x="12575427" y="3216001"/>
            <a:ext cx="4125113" cy="4114800"/>
          </a:xfrm>
          <a:custGeom>
            <a:avLst/>
            <a:gdLst/>
            <a:ahLst/>
            <a:cxnLst/>
            <a:rect r="r" b="b" t="t" l="l"/>
            <a:pathLst>
              <a:path h="4114800" w="4125113">
                <a:moveTo>
                  <a:pt x="0" y="0"/>
                </a:moveTo>
                <a:lnTo>
                  <a:pt x="4125112" y="0"/>
                </a:lnTo>
                <a:lnTo>
                  <a:pt x="4125112" y="4114800"/>
                </a:lnTo>
                <a:lnTo>
                  <a:pt x="0" y="4114800"/>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10" id="10"/>
          <p:cNvGrpSpPr/>
          <p:nvPr/>
        </p:nvGrpSpPr>
        <p:grpSpPr>
          <a:xfrm rot="0">
            <a:off x="1268071" y="460116"/>
            <a:ext cx="8792146" cy="9626570"/>
            <a:chOff x="0" y="0"/>
            <a:chExt cx="11722862" cy="12835427"/>
          </a:xfrm>
        </p:grpSpPr>
        <p:sp>
          <p:nvSpPr>
            <p:cNvPr name="TextBox 11" id="11"/>
            <p:cNvSpPr txBox="true"/>
            <p:nvPr/>
          </p:nvSpPr>
          <p:spPr>
            <a:xfrm rot="0">
              <a:off x="0" y="2521060"/>
              <a:ext cx="11722862" cy="10314367"/>
            </a:xfrm>
            <a:prstGeom prst="rect">
              <a:avLst/>
            </a:prstGeom>
          </p:spPr>
          <p:txBody>
            <a:bodyPr anchor="t" rtlCol="false" tIns="0" lIns="0" bIns="0" rIns="0">
              <a:spAutoFit/>
            </a:bodyPr>
            <a:lstStyle/>
            <a:p>
              <a:pPr algn="l" marL="0" indent="0" lvl="0">
                <a:lnSpc>
                  <a:spcPts val="2600"/>
                </a:lnSpc>
              </a:pPr>
              <a:r>
                <a:rPr lang="en-US" sz="2000" spc="-110">
                  <a:solidFill>
                    <a:srgbClr val="F8F7EF"/>
                  </a:solidFill>
                  <a:latin typeface="Work Sans"/>
                  <a:ea typeface="Work Sans"/>
                  <a:cs typeface="Work Sans"/>
                  <a:sym typeface="Work Sans"/>
                </a:rPr>
                <a:t>All-Time Data</a:t>
              </a:r>
            </a:p>
            <a:p>
              <a:pPr algn="l" marL="431801" indent="-215900" lvl="1">
                <a:lnSpc>
                  <a:spcPts val="2600"/>
                </a:lnSpc>
                <a:buFont typeface="Arial"/>
                <a:buChar char="•"/>
              </a:pPr>
              <a:r>
                <a:rPr lang="en-US" sz="2000" spc="-110">
                  <a:solidFill>
                    <a:srgbClr val="F8F7EF"/>
                  </a:solidFill>
                  <a:latin typeface="Work Sans"/>
                  <a:ea typeface="Work Sans"/>
                  <a:cs typeface="Work Sans"/>
                  <a:sym typeface="Work Sans"/>
                </a:rPr>
                <a:t>5,000 P</a:t>
              </a:r>
              <a:r>
                <a:rPr lang="en-US" sz="2000" spc="-110">
                  <a:solidFill>
                    <a:srgbClr val="F8F7EF"/>
                  </a:solidFill>
                  <a:latin typeface="Work Sans"/>
                  <a:ea typeface="Work Sans"/>
                  <a:cs typeface="Work Sans"/>
                  <a:sym typeface="Work Sans"/>
                </a:rPr>
                <a:t>r</a:t>
              </a:r>
              <a:r>
                <a:rPr lang="en-US" sz="2000" spc="-110">
                  <a:solidFill>
                    <a:srgbClr val="F8F7EF"/>
                  </a:solidFill>
                  <a:latin typeface="Work Sans"/>
                  <a:ea typeface="Work Sans"/>
                  <a:cs typeface="Work Sans"/>
                  <a:sym typeface="Work Sans"/>
                </a:rPr>
                <a:t>oduct Vi</a:t>
              </a:r>
              <a:r>
                <a:rPr lang="en-US" sz="2000" spc="-110">
                  <a:solidFill>
                    <a:srgbClr val="F8F7EF"/>
                  </a:solidFill>
                  <a:latin typeface="Work Sans"/>
                  <a:ea typeface="Work Sans"/>
                  <a:cs typeface="Work Sans"/>
                  <a:sym typeface="Work Sans"/>
                </a:rPr>
                <a:t>e</a:t>
              </a:r>
              <a:r>
                <a:rPr lang="en-US" sz="2000" spc="-110">
                  <a:solidFill>
                    <a:srgbClr val="F8F7EF"/>
                  </a:solidFill>
                  <a:latin typeface="Work Sans"/>
                  <a:ea typeface="Work Sans"/>
                  <a:cs typeface="Work Sans"/>
                  <a:sym typeface="Work Sans"/>
                </a:rPr>
                <a:t>w</a:t>
              </a:r>
              <a:r>
                <a:rPr lang="en-US" sz="2000" spc="-110">
                  <a:solidFill>
                    <a:srgbClr val="F8F7EF"/>
                  </a:solidFill>
                  <a:latin typeface="Work Sans"/>
                  <a:ea typeface="Work Sans"/>
                  <a:cs typeface="Work Sans"/>
                  <a:sym typeface="Work Sans"/>
                </a:rPr>
                <a:t>e</a:t>
              </a:r>
              <a:r>
                <a:rPr lang="en-US" sz="2000" spc="-110">
                  <a:solidFill>
                    <a:srgbClr val="F8F7EF"/>
                  </a:solidFill>
                  <a:latin typeface="Work Sans"/>
                  <a:ea typeface="Work Sans"/>
                  <a:cs typeface="Work Sans"/>
                  <a:sym typeface="Work Sans"/>
                </a:rPr>
                <a:t>r</a:t>
              </a:r>
              <a:r>
                <a:rPr lang="en-US" sz="2000" spc="-110">
                  <a:solidFill>
                    <a:srgbClr val="F8F7EF"/>
                  </a:solidFill>
                  <a:latin typeface="Work Sans"/>
                  <a:ea typeface="Work Sans"/>
                  <a:cs typeface="Work Sans"/>
                  <a:sym typeface="Work Sans"/>
                </a:rPr>
                <a:t>s</a:t>
              </a:r>
            </a:p>
            <a:p>
              <a:pPr algn="l" marL="431801" indent="-215900" lvl="1">
                <a:lnSpc>
                  <a:spcPts val="2600"/>
                </a:lnSpc>
                <a:buFont typeface="Arial"/>
                <a:buChar char="•"/>
              </a:pPr>
              <a:r>
                <a:rPr lang="en-US" sz="2000" spc="-110">
                  <a:solidFill>
                    <a:srgbClr val="F8F7EF"/>
                  </a:solidFill>
                  <a:latin typeface="Work Sans"/>
                  <a:ea typeface="Work Sans"/>
                  <a:cs typeface="Work Sans"/>
                  <a:sym typeface="Work Sans"/>
                </a:rPr>
                <a:t>826 Purchases</a:t>
              </a:r>
            </a:p>
            <a:p>
              <a:pPr algn="l" marL="431801" indent="-215900" lvl="1">
                <a:lnSpc>
                  <a:spcPts val="2600"/>
                </a:lnSpc>
                <a:buFont typeface="Arial"/>
                <a:buChar char="•"/>
              </a:pPr>
              <a:r>
                <a:rPr lang="en-US" sz="2000" spc="-110">
                  <a:solidFill>
                    <a:srgbClr val="F8F7EF"/>
                  </a:solidFill>
                  <a:latin typeface="Work Sans"/>
                  <a:ea typeface="Work Sans"/>
                  <a:cs typeface="Work Sans"/>
                  <a:sym typeface="Work Sans"/>
                </a:rPr>
                <a:t>All-time conversion rate: 16.52%</a:t>
              </a:r>
            </a:p>
            <a:p>
              <a:pPr algn="l">
                <a:lnSpc>
                  <a:spcPts val="2600"/>
                </a:lnSpc>
              </a:pPr>
            </a:p>
            <a:p>
              <a:pPr algn="l" marL="0" indent="0" lvl="0">
                <a:lnSpc>
                  <a:spcPts val="2600"/>
                </a:lnSpc>
              </a:pPr>
              <a:r>
                <a:rPr lang="en-US" sz="2000" spc="-110">
                  <a:solidFill>
                    <a:srgbClr val="F8F7EF"/>
                  </a:solidFill>
                  <a:latin typeface="Work Sans"/>
                  <a:ea typeface="Work Sans"/>
                  <a:cs typeface="Work Sans"/>
                  <a:sym typeface="Work Sans"/>
                </a:rPr>
                <a:t>Analysis Period</a:t>
              </a:r>
              <a:r>
                <a:rPr lang="en-US" sz="2000" spc="-110">
                  <a:solidFill>
                    <a:srgbClr val="F8F7EF"/>
                  </a:solidFill>
                  <a:latin typeface="Work Sans"/>
                  <a:ea typeface="Work Sans"/>
                  <a:cs typeface="Work Sans"/>
                  <a:sym typeface="Work Sans"/>
                </a:rPr>
                <a:t> Funnel Data</a:t>
              </a:r>
            </a:p>
            <a:p>
              <a:pPr algn="l" marL="431801" indent="-215900" lvl="1">
                <a:lnSpc>
                  <a:spcPts val="2600"/>
                </a:lnSpc>
                <a:buFont typeface="Arial"/>
                <a:buChar char="•"/>
              </a:pPr>
              <a:r>
                <a:rPr lang="en-US" sz="2000" spc="-110">
                  <a:solidFill>
                    <a:srgbClr val="F8F7EF"/>
                  </a:solidFill>
                  <a:latin typeface="Work Sans"/>
                  <a:ea typeface="Work Sans"/>
                  <a:cs typeface="Work Sans"/>
                  <a:sym typeface="Work Sans"/>
                </a:rPr>
                <a:t>4,272 Product Views</a:t>
              </a:r>
            </a:p>
            <a:p>
              <a:pPr algn="l" marL="431801" indent="-215900" lvl="1">
                <a:lnSpc>
                  <a:spcPts val="2600"/>
                </a:lnSpc>
                <a:buFont typeface="Arial"/>
                <a:buChar char="•"/>
              </a:pPr>
              <a:r>
                <a:rPr lang="en-US" sz="2000" spc="-110">
                  <a:solidFill>
                    <a:srgbClr val="F8F7EF"/>
                  </a:solidFill>
                  <a:latin typeface="Work Sans"/>
                  <a:ea typeface="Work Sans"/>
                  <a:cs typeface="Work Sans"/>
                  <a:sym typeface="Work Sans"/>
                </a:rPr>
                <a:t>1,334 </a:t>
              </a:r>
              <a:r>
                <a:rPr lang="en-US" sz="2000" spc="-110">
                  <a:solidFill>
                    <a:srgbClr val="F8F7EF"/>
                  </a:solidFill>
                  <a:latin typeface="Work Sans"/>
                  <a:ea typeface="Work Sans"/>
                  <a:cs typeface="Work Sans"/>
                  <a:sym typeface="Work Sans"/>
                </a:rPr>
                <a:t>Add to Cart</a:t>
              </a:r>
            </a:p>
            <a:p>
              <a:pPr algn="l" marL="431801" indent="-215900" lvl="1">
                <a:lnSpc>
                  <a:spcPts val="2600"/>
                </a:lnSpc>
                <a:buFont typeface="Arial"/>
                <a:buChar char="•"/>
              </a:pPr>
              <a:r>
                <a:rPr lang="en-US" sz="2000" spc="-110">
                  <a:solidFill>
                    <a:srgbClr val="F8F7EF"/>
                  </a:solidFill>
                  <a:latin typeface="Work Sans"/>
                  <a:ea typeface="Work Sans"/>
                  <a:cs typeface="Work Sans"/>
                  <a:sym typeface="Work Sans"/>
                </a:rPr>
                <a:t>951 </a:t>
              </a:r>
              <a:r>
                <a:rPr lang="en-US" sz="2000" spc="-110">
                  <a:solidFill>
                    <a:srgbClr val="F8F7EF"/>
                  </a:solidFill>
                  <a:latin typeface="Work Sans"/>
                  <a:ea typeface="Work Sans"/>
                  <a:cs typeface="Work Sans"/>
                  <a:sym typeface="Work Sans"/>
                </a:rPr>
                <a:t>Checkout</a:t>
              </a:r>
            </a:p>
            <a:p>
              <a:pPr algn="l" marL="431801" indent="-215900" lvl="1">
                <a:lnSpc>
                  <a:spcPts val="2600"/>
                </a:lnSpc>
                <a:buFont typeface="Arial"/>
                <a:buChar char="•"/>
              </a:pPr>
              <a:r>
                <a:rPr lang="en-US" sz="2000" spc="-110">
                  <a:solidFill>
                    <a:srgbClr val="F8F7EF"/>
                  </a:solidFill>
                  <a:latin typeface="Work Sans"/>
                  <a:ea typeface="Work Sans"/>
                  <a:cs typeface="Work Sans"/>
                  <a:sym typeface="Work Sans"/>
                </a:rPr>
                <a:t>767 </a:t>
              </a:r>
              <a:r>
                <a:rPr lang="en-US" sz="2000" spc="-110">
                  <a:solidFill>
                    <a:srgbClr val="F8F7EF"/>
                  </a:solidFill>
                  <a:latin typeface="Work Sans"/>
                  <a:ea typeface="Work Sans"/>
                  <a:cs typeface="Work Sans"/>
                  <a:sym typeface="Work Sans"/>
                </a:rPr>
                <a:t>Payment Page</a:t>
              </a:r>
            </a:p>
            <a:p>
              <a:pPr algn="l" marL="431801" indent="-215900" lvl="1">
                <a:lnSpc>
                  <a:spcPts val="2600"/>
                </a:lnSpc>
                <a:buFont typeface="Arial"/>
                <a:buChar char="•"/>
              </a:pPr>
              <a:r>
                <a:rPr lang="en-US" sz="2000" spc="-110">
                  <a:solidFill>
                    <a:srgbClr val="F8F7EF"/>
                  </a:solidFill>
                  <a:latin typeface="Work Sans"/>
                  <a:ea typeface="Work Sans"/>
                  <a:cs typeface="Work Sans"/>
                  <a:sym typeface="Work Sans"/>
                </a:rPr>
                <a:t>706 </a:t>
              </a:r>
              <a:r>
                <a:rPr lang="en-US" sz="2000" spc="-110">
                  <a:solidFill>
                    <a:srgbClr val="F8F7EF"/>
                  </a:solidFill>
                  <a:latin typeface="Work Sans"/>
                  <a:ea typeface="Work Sans"/>
                  <a:cs typeface="Work Sans"/>
                  <a:sym typeface="Work Sans"/>
                </a:rPr>
                <a:t>Purchases</a:t>
              </a:r>
            </a:p>
            <a:p>
              <a:pPr algn="l" marL="0" indent="0" lvl="0">
                <a:lnSpc>
                  <a:spcPts val="2600"/>
                </a:lnSpc>
              </a:pPr>
              <a:r>
                <a:rPr lang="en-US" sz="2000" spc="-110">
                  <a:solidFill>
                    <a:srgbClr val="F8F7EF"/>
                  </a:solidFill>
                  <a:latin typeface="Work Sans"/>
                  <a:ea typeface="Work Sans"/>
                  <a:cs typeface="Work Sans"/>
                  <a:sym typeface="Work Sans"/>
                </a:rPr>
                <a:t>30-day conversion rate: 16.53%</a:t>
              </a:r>
            </a:p>
            <a:p>
              <a:pPr algn="l" marL="0" indent="0" lvl="0">
                <a:lnSpc>
                  <a:spcPts val="2600"/>
                </a:lnSpc>
              </a:pPr>
            </a:p>
            <a:p>
              <a:pPr algn="l" marL="0" indent="0" lvl="0">
                <a:lnSpc>
                  <a:spcPts val="2600"/>
                </a:lnSpc>
              </a:pPr>
              <a:r>
                <a:rPr lang="en-US" sz="2000" spc="-110">
                  <a:solidFill>
                    <a:srgbClr val="F8F7EF"/>
                  </a:solidFill>
                  <a:latin typeface="Work Sans"/>
                  <a:ea typeface="Work Sans"/>
                  <a:cs typeface="Work Sans"/>
                  <a:sym typeface="Work Sans"/>
                </a:rPr>
                <a:t>The largest drop-off occurs at the Product View stage. But once customers add items to their cart, conversion performance strengthens significantly:</a:t>
              </a:r>
            </a:p>
            <a:p>
              <a:pPr algn="l" marL="431801" indent="-215900" lvl="1">
                <a:lnSpc>
                  <a:spcPts val="2600"/>
                </a:lnSpc>
                <a:buFont typeface="Arial"/>
                <a:buChar char="•"/>
              </a:pPr>
              <a:r>
                <a:rPr lang="en-US" sz="2000" spc="-110">
                  <a:solidFill>
                    <a:srgbClr val="F8F7EF"/>
                  </a:solidFill>
                  <a:latin typeface="Work Sans"/>
                  <a:ea typeface="Work Sans"/>
                  <a:cs typeface="Work Sans"/>
                  <a:sym typeface="Work Sans"/>
                </a:rPr>
                <a:t>More than half proceed to checkout</a:t>
              </a:r>
            </a:p>
            <a:p>
              <a:pPr algn="l" marL="431801" indent="-215900" lvl="1">
                <a:lnSpc>
                  <a:spcPts val="2600"/>
                </a:lnSpc>
                <a:buFont typeface="Arial"/>
                <a:buChar char="•"/>
              </a:pPr>
              <a:r>
                <a:rPr lang="en-US" sz="2000" spc="-110">
                  <a:solidFill>
                    <a:srgbClr val="F8F7EF"/>
                  </a:solidFill>
                  <a:latin typeface="Work Sans"/>
                  <a:ea typeface="Work Sans"/>
                  <a:cs typeface="Work Sans"/>
                  <a:sym typeface="Work Sans"/>
                </a:rPr>
                <a:t>92% successfully complete payment</a:t>
              </a:r>
            </a:p>
            <a:p>
              <a:pPr algn="l" marL="0" indent="0" lvl="0">
                <a:lnSpc>
                  <a:spcPts val="2947"/>
                </a:lnSpc>
              </a:pPr>
            </a:p>
            <a:p>
              <a:pPr algn="l" marL="0" indent="0" lvl="0">
                <a:lnSpc>
                  <a:spcPts val="2947"/>
                </a:lnSpc>
              </a:pPr>
              <a:r>
                <a:rPr lang="en-US" sz="2267" spc="-124">
                  <a:solidFill>
                    <a:srgbClr val="F8F7EF"/>
                  </a:solidFill>
                  <a:latin typeface="Work Sans"/>
                  <a:ea typeface="Work Sans"/>
                  <a:cs typeface="Work Sans"/>
                  <a:sym typeface="Work Sans"/>
                </a:rPr>
                <a:t>The similarity between the all-time conversion rate (16.5%) and the last 30-day rate (16.53%) indicates consistent funnel performance over time. The primary issue is not transaction failure, It is early-stage disengagement</a:t>
              </a:r>
            </a:p>
            <a:p>
              <a:pPr algn="l" marL="0" indent="0" lvl="0">
                <a:lnSpc>
                  <a:spcPts val="2947"/>
                </a:lnSpc>
              </a:pPr>
            </a:p>
          </p:txBody>
        </p:sp>
        <p:sp>
          <p:nvSpPr>
            <p:cNvPr name="TextBox 12" id="12"/>
            <p:cNvSpPr txBox="true"/>
            <p:nvPr/>
          </p:nvSpPr>
          <p:spPr>
            <a:xfrm rot="0">
              <a:off x="0" y="104775"/>
              <a:ext cx="11129790" cy="2270972"/>
            </a:xfrm>
            <a:prstGeom prst="rect">
              <a:avLst/>
            </a:prstGeom>
          </p:spPr>
          <p:txBody>
            <a:bodyPr anchor="t" rtlCol="false" tIns="0" lIns="0" bIns="0" rIns="0">
              <a:spAutoFit/>
            </a:bodyPr>
            <a:lstStyle/>
            <a:p>
              <a:pPr algn="l" marL="0" indent="0" lvl="0">
                <a:lnSpc>
                  <a:spcPts val="6400"/>
                </a:lnSpc>
              </a:pPr>
              <a:r>
                <a:rPr lang="en-US" b="true" sz="6400" spc="-352">
                  <a:solidFill>
                    <a:srgbClr val="F8F7EF"/>
                  </a:solidFill>
                  <a:latin typeface="Work Sans Semi-Bold"/>
                  <a:ea typeface="Work Sans Semi-Bold"/>
                  <a:cs typeface="Work Sans Semi-Bold"/>
                  <a:sym typeface="Work Sans Semi-Bold"/>
                </a:rPr>
                <a:t>Funnel Performance Analysis</a:t>
              </a:r>
            </a:p>
          </p:txBody>
        </p:sp>
      </p:grpSp>
    </p:spTree>
  </p:cSld>
  <p:clrMapOvr>
    <a:masterClrMapping/>
  </p:clrMapOvr>
</p:sld>
</file>

<file path=ppt/slides/slide4.xml><?xml version="1.0" encoding="utf-8"?>
<p:sld xmlns:p="http://schemas.openxmlformats.org/presentationml/2006/main" xmlns:a="http://schemas.openxmlformats.org/drawingml/2006/main" xmlns:r="http://schemas.openxmlformats.org/officeDocument/2006/relationships">
  <p:cSld>
    <p:bg>
      <p:bgPr>
        <a:solidFill>
          <a:srgbClr val="EEE6D9"/>
        </a:solidFill>
      </p:bgPr>
    </p:bg>
    <p:spTree>
      <p:nvGrpSpPr>
        <p:cNvPr id="1" name=""/>
        <p:cNvGrpSpPr/>
        <p:nvPr/>
      </p:nvGrpSpPr>
      <p:grpSpPr>
        <a:xfrm>
          <a:off x="0" y="0"/>
          <a:ext cx="0" cy="0"/>
          <a:chOff x="0" y="0"/>
          <a:chExt cx="0" cy="0"/>
        </a:xfrm>
      </p:grpSpPr>
      <p:grpSp>
        <p:nvGrpSpPr>
          <p:cNvPr name="Group 2" id="2"/>
          <p:cNvGrpSpPr/>
          <p:nvPr/>
        </p:nvGrpSpPr>
        <p:grpSpPr>
          <a:xfrm rot="0">
            <a:off x="666750" y="266497"/>
            <a:ext cx="9994789" cy="9668214"/>
            <a:chOff x="0" y="0"/>
            <a:chExt cx="2722626" cy="2633665"/>
          </a:xfrm>
        </p:grpSpPr>
        <p:sp>
          <p:nvSpPr>
            <p:cNvPr name="Freeform 3" id="3"/>
            <p:cNvSpPr/>
            <p:nvPr/>
          </p:nvSpPr>
          <p:spPr>
            <a:xfrm flipH="false" flipV="false" rot="0">
              <a:off x="0" y="0"/>
              <a:ext cx="2722628" cy="2633665"/>
            </a:xfrm>
            <a:custGeom>
              <a:avLst/>
              <a:gdLst/>
              <a:ahLst/>
              <a:cxnLst/>
              <a:rect r="r" b="b" t="t" l="l"/>
              <a:pathLst>
                <a:path h="2633665" w="2722628">
                  <a:moveTo>
                    <a:pt x="2375669" y="0"/>
                  </a:moveTo>
                  <a:lnTo>
                    <a:pt x="148415" y="0"/>
                  </a:lnTo>
                  <a:cubicBezTo>
                    <a:pt x="66448" y="0"/>
                    <a:pt x="0" y="66448"/>
                    <a:pt x="0" y="148415"/>
                  </a:cubicBezTo>
                  <a:lnTo>
                    <a:pt x="0" y="2354273"/>
                  </a:lnTo>
                  <a:cubicBezTo>
                    <a:pt x="0" y="2390784"/>
                    <a:pt x="13458" y="2426013"/>
                    <a:pt x="37800" y="2453225"/>
                  </a:cubicBezTo>
                  <a:lnTo>
                    <a:pt x="154967" y="2584201"/>
                  </a:lnTo>
                  <a:cubicBezTo>
                    <a:pt x="183122" y="2615677"/>
                    <a:pt x="223353" y="2633666"/>
                    <a:pt x="265584" y="2633665"/>
                  </a:cubicBezTo>
                  <a:lnTo>
                    <a:pt x="2574212" y="2633665"/>
                  </a:lnTo>
                  <a:cubicBezTo>
                    <a:pt x="2613575" y="2633666"/>
                    <a:pt x="2651325" y="2618029"/>
                    <a:pt x="2679158" y="2590196"/>
                  </a:cubicBezTo>
                  <a:cubicBezTo>
                    <a:pt x="2706992" y="2562363"/>
                    <a:pt x="2722628" y="2524613"/>
                    <a:pt x="2722628" y="2485251"/>
                  </a:cubicBezTo>
                  <a:lnTo>
                    <a:pt x="2722628" y="366141"/>
                  </a:lnTo>
                  <a:cubicBezTo>
                    <a:pt x="2722629" y="329143"/>
                    <a:pt x="2708809" y="293478"/>
                    <a:pt x="2683879" y="266140"/>
                  </a:cubicBezTo>
                  <a:lnTo>
                    <a:pt x="2485336" y="48414"/>
                  </a:lnTo>
                  <a:cubicBezTo>
                    <a:pt x="2457214" y="17574"/>
                    <a:pt x="2417406" y="0"/>
                    <a:pt x="2375669" y="0"/>
                  </a:cubicBezTo>
                  <a:close/>
                </a:path>
              </a:pathLst>
            </a:custGeom>
            <a:solidFill>
              <a:srgbClr val="093C25"/>
            </a:solidFill>
          </p:spPr>
        </p:sp>
      </p:grpSp>
      <p:grpSp>
        <p:nvGrpSpPr>
          <p:cNvPr name="Group 4" id="4"/>
          <p:cNvGrpSpPr/>
          <p:nvPr/>
        </p:nvGrpSpPr>
        <p:grpSpPr>
          <a:xfrm rot="0">
            <a:off x="1466138" y="756012"/>
            <a:ext cx="8843411" cy="6959570"/>
            <a:chOff x="0" y="0"/>
            <a:chExt cx="11791215" cy="9279427"/>
          </a:xfrm>
        </p:grpSpPr>
        <p:sp>
          <p:nvSpPr>
            <p:cNvPr name="TextBox 5" id="5"/>
            <p:cNvSpPr txBox="true"/>
            <p:nvPr/>
          </p:nvSpPr>
          <p:spPr>
            <a:xfrm rot="0">
              <a:off x="0" y="1441560"/>
              <a:ext cx="11791215" cy="7837867"/>
            </a:xfrm>
            <a:prstGeom prst="rect">
              <a:avLst/>
            </a:prstGeom>
          </p:spPr>
          <p:txBody>
            <a:bodyPr anchor="t" rtlCol="false" tIns="0" lIns="0" bIns="0" rIns="0">
              <a:spAutoFit/>
            </a:bodyPr>
            <a:lstStyle/>
            <a:p>
              <a:pPr algn="l">
                <a:lnSpc>
                  <a:spcPts val="2600"/>
                </a:lnSpc>
              </a:pPr>
              <a:r>
                <a:rPr lang="en-US" sz="2000" spc="-110">
                  <a:solidFill>
                    <a:srgbClr val="F8F7EF"/>
                  </a:solidFill>
                  <a:latin typeface="Work Sans"/>
                  <a:ea typeface="Work Sans"/>
                  <a:cs typeface="Work Sans"/>
                  <a:sym typeface="Work Sans"/>
                </a:rPr>
                <a:t>Conversion performance varies significantly by channel:</a:t>
              </a:r>
            </a:p>
            <a:p>
              <a:pPr algn="l" marL="431801" indent="-215900" lvl="1">
                <a:lnSpc>
                  <a:spcPts val="2600"/>
                </a:lnSpc>
                <a:buFont typeface="Arial"/>
                <a:buChar char="•"/>
              </a:pPr>
              <a:r>
                <a:rPr lang="en-US" sz="2000" spc="-110">
                  <a:solidFill>
                    <a:srgbClr val="F8F7EF"/>
                  </a:solidFill>
                  <a:latin typeface="Work Sans"/>
                  <a:ea typeface="Work Sans"/>
                  <a:cs typeface="Work Sans"/>
                  <a:sym typeface="Work Sans"/>
                </a:rPr>
                <a:t>Email: 448 customers, 151 purchases = </a:t>
              </a:r>
              <a:r>
                <a:rPr lang="en-US" sz="2000" spc="-110">
                  <a:solidFill>
                    <a:srgbClr val="F8F7EF"/>
                  </a:solidFill>
                  <a:latin typeface="Work Sans"/>
                  <a:ea typeface="Work Sans"/>
                  <a:cs typeface="Work Sans"/>
                  <a:sym typeface="Work Sans"/>
                </a:rPr>
                <a:t>34% conversion</a:t>
              </a:r>
            </a:p>
            <a:p>
              <a:pPr algn="l" marL="431801" indent="-215900" lvl="1">
                <a:lnSpc>
                  <a:spcPts val="2600"/>
                </a:lnSpc>
                <a:buFont typeface="Arial"/>
                <a:buChar char="•"/>
              </a:pPr>
              <a:r>
                <a:rPr lang="en-US" sz="2000" spc="-110">
                  <a:solidFill>
                    <a:srgbClr val="F8F7EF"/>
                  </a:solidFill>
                  <a:latin typeface="Work Sans"/>
                  <a:ea typeface="Work Sans"/>
                  <a:cs typeface="Work Sans"/>
                  <a:sym typeface="Work Sans"/>
                </a:rPr>
                <a:t>Paid Ads: 821 customers, 173 purchases = 21% conversion</a:t>
              </a:r>
            </a:p>
            <a:p>
              <a:pPr algn="l" marL="431801" indent="-215900" lvl="1">
                <a:lnSpc>
                  <a:spcPts val="2600"/>
                </a:lnSpc>
                <a:buFont typeface="Arial"/>
                <a:buChar char="•"/>
              </a:pPr>
              <a:r>
                <a:rPr lang="en-US" sz="2000" spc="-110">
                  <a:solidFill>
                    <a:srgbClr val="F8F7EF"/>
                  </a:solidFill>
                  <a:latin typeface="Work Sans"/>
                  <a:ea typeface="Work Sans"/>
                  <a:cs typeface="Work Sans"/>
                  <a:sym typeface="Work Sans"/>
                </a:rPr>
                <a:t>Organic: 1,750 customers, 298 purchases = 17% conversion</a:t>
              </a:r>
            </a:p>
            <a:p>
              <a:pPr algn="l" marL="431801" indent="-215900" lvl="1">
                <a:lnSpc>
                  <a:spcPts val="2600"/>
                </a:lnSpc>
                <a:buFont typeface="Arial"/>
                <a:buChar char="•"/>
              </a:pPr>
              <a:r>
                <a:rPr lang="en-US" sz="2000" spc="-110">
                  <a:solidFill>
                    <a:srgbClr val="F8F7EF"/>
                  </a:solidFill>
                  <a:latin typeface="Work Sans"/>
                  <a:ea typeface="Work Sans"/>
                  <a:cs typeface="Work Sans"/>
                  <a:sym typeface="Work Sans"/>
                </a:rPr>
                <a:t>Social: 1,253 customers, 84 purchases = 7% conversion</a:t>
              </a:r>
            </a:p>
            <a:p>
              <a:pPr algn="l">
                <a:lnSpc>
                  <a:spcPts val="2600"/>
                </a:lnSpc>
              </a:pPr>
            </a:p>
            <a:p>
              <a:pPr algn="l" marL="0" indent="0" lvl="0">
                <a:lnSpc>
                  <a:spcPts val="2600"/>
                </a:lnSpc>
              </a:pPr>
              <a:r>
                <a:rPr lang="en-US" sz="2000" spc="-110">
                  <a:solidFill>
                    <a:srgbClr val="F8F7EF"/>
                  </a:solidFill>
                  <a:latin typeface="Work Sans"/>
                  <a:ea typeface="Work Sans"/>
                  <a:cs typeface="Work Sans"/>
                  <a:sym typeface="Work Sans"/>
                </a:rPr>
                <a:t>This indicates that not all traffic is equally aligned with the product off</a:t>
              </a:r>
              <a:r>
                <a:rPr lang="en-US" sz="2000" spc="-110">
                  <a:solidFill>
                    <a:srgbClr val="F8F7EF"/>
                  </a:solidFill>
                  <a:latin typeface="Work Sans"/>
                  <a:ea typeface="Work Sans"/>
                  <a:cs typeface="Work Sans"/>
                  <a:sym typeface="Work Sans"/>
                </a:rPr>
                <a:t>ering.</a:t>
              </a:r>
            </a:p>
            <a:p>
              <a:pPr algn="l" marL="0" indent="0" lvl="0">
                <a:lnSpc>
                  <a:spcPts val="2600"/>
                </a:lnSpc>
              </a:pPr>
            </a:p>
            <a:p>
              <a:pPr algn="l" marL="0" indent="0" lvl="0">
                <a:lnSpc>
                  <a:spcPts val="2600"/>
                </a:lnSpc>
              </a:pPr>
              <a:r>
                <a:rPr lang="en-US" sz="2000" spc="-110">
                  <a:solidFill>
                    <a:srgbClr val="F8F7EF"/>
                  </a:solidFill>
                  <a:latin typeface="Work Sans"/>
                  <a:ea typeface="Work Sans"/>
                  <a:cs typeface="Work Sans"/>
                  <a:sym typeface="Work Sans"/>
                </a:rPr>
                <a:t>Social traffic, despite generating customers or visits, converts at less than one fifth of Email performance.</a:t>
              </a:r>
            </a:p>
            <a:p>
              <a:pPr algn="l" marL="0" indent="0" lvl="0">
                <a:lnSpc>
                  <a:spcPts val="2600"/>
                </a:lnSpc>
              </a:pPr>
            </a:p>
            <a:p>
              <a:pPr algn="l" marL="0" indent="0" lvl="0">
                <a:lnSpc>
                  <a:spcPts val="2600"/>
                </a:lnSpc>
              </a:pPr>
              <a:r>
                <a:rPr lang="en-US" sz="2000" spc="-110">
                  <a:solidFill>
                    <a:srgbClr val="F8F7EF"/>
                  </a:solidFill>
                  <a:latin typeface="Work Sans"/>
                  <a:ea typeface="Work Sans"/>
                  <a:cs typeface="Work Sans"/>
                  <a:sym typeface="Work Sans"/>
                </a:rPr>
                <a:t>While Social drives traffic volume, it underperforms in conversion efficiency compared to Email and Paid Ads, indicating lower purchase intent</a:t>
              </a:r>
            </a:p>
            <a:p>
              <a:pPr algn="l" marL="0" indent="0" lvl="0">
                <a:lnSpc>
                  <a:spcPts val="2600"/>
                </a:lnSpc>
              </a:pPr>
            </a:p>
            <a:p>
              <a:pPr algn="l" marL="0" indent="0" lvl="0">
                <a:lnSpc>
                  <a:spcPts val="2600"/>
                </a:lnSpc>
              </a:pPr>
              <a:r>
                <a:rPr lang="en-US" sz="2000" spc="-110">
                  <a:solidFill>
                    <a:srgbClr val="F8F7EF"/>
                  </a:solidFill>
                  <a:latin typeface="Work Sans"/>
                  <a:ea typeface="Work Sans"/>
                  <a:cs typeface="Work Sans"/>
                  <a:sym typeface="Work Sans"/>
                </a:rPr>
                <a:t>Traffic quality plays a major role in funnel progression.</a:t>
              </a:r>
            </a:p>
            <a:p>
              <a:pPr algn="l" marL="0" indent="0" lvl="0">
                <a:lnSpc>
                  <a:spcPts val="2600"/>
                </a:lnSpc>
              </a:pPr>
            </a:p>
            <a:p>
              <a:pPr algn="l" marL="0" indent="0" lvl="0">
                <a:lnSpc>
                  <a:spcPts val="2600"/>
                </a:lnSpc>
              </a:pPr>
            </a:p>
            <a:p>
              <a:pPr algn="l" marL="0" indent="0" lvl="0">
                <a:lnSpc>
                  <a:spcPts val="2947"/>
                </a:lnSpc>
              </a:pPr>
            </a:p>
          </p:txBody>
        </p:sp>
        <p:sp>
          <p:nvSpPr>
            <p:cNvPr name="TextBox 6" id="6"/>
            <p:cNvSpPr txBox="true"/>
            <p:nvPr/>
          </p:nvSpPr>
          <p:spPr>
            <a:xfrm rot="0">
              <a:off x="0" y="104775"/>
              <a:ext cx="11194685" cy="1191472"/>
            </a:xfrm>
            <a:prstGeom prst="rect">
              <a:avLst/>
            </a:prstGeom>
          </p:spPr>
          <p:txBody>
            <a:bodyPr anchor="t" rtlCol="false" tIns="0" lIns="0" bIns="0" rIns="0">
              <a:spAutoFit/>
            </a:bodyPr>
            <a:lstStyle/>
            <a:p>
              <a:pPr algn="l" marL="0" indent="0" lvl="0">
                <a:lnSpc>
                  <a:spcPts val="6400"/>
                </a:lnSpc>
              </a:pPr>
              <a:r>
                <a:rPr lang="en-US" b="true" sz="6400" spc="-352">
                  <a:solidFill>
                    <a:srgbClr val="F8F7EF"/>
                  </a:solidFill>
                  <a:latin typeface="Work Sans Semi-Bold"/>
                  <a:ea typeface="Work Sans Semi-Bold"/>
                  <a:cs typeface="Work Sans Semi-Bold"/>
                  <a:sym typeface="Work Sans Semi-Bold"/>
                </a:rPr>
                <a:t>Traffic Source Analysis</a:t>
              </a:r>
            </a:p>
          </p:txBody>
        </p:sp>
        <p:sp>
          <p:nvSpPr>
            <p:cNvPr name="TextBox 7" id="7"/>
            <p:cNvSpPr txBox="true"/>
            <p:nvPr/>
          </p:nvSpPr>
          <p:spPr>
            <a:xfrm rot="0">
              <a:off x="0" y="3287808"/>
              <a:ext cx="10686204" cy="667786"/>
            </a:xfrm>
            <a:prstGeom prst="rect">
              <a:avLst/>
            </a:prstGeom>
          </p:spPr>
          <p:txBody>
            <a:bodyPr anchor="t" rtlCol="false" tIns="0" lIns="0" bIns="0" rIns="0">
              <a:spAutoFit/>
            </a:bodyPr>
            <a:lstStyle/>
            <a:p>
              <a:pPr algn="l" marL="0" indent="0" lvl="0">
                <a:lnSpc>
                  <a:spcPts val="3887"/>
                </a:lnSpc>
                <a:spcBef>
                  <a:spcPct val="0"/>
                </a:spcBef>
              </a:pPr>
            </a:p>
          </p:txBody>
        </p:sp>
      </p:grpSp>
      <p:grpSp>
        <p:nvGrpSpPr>
          <p:cNvPr name="Group 8" id="8"/>
          <p:cNvGrpSpPr/>
          <p:nvPr/>
        </p:nvGrpSpPr>
        <p:grpSpPr>
          <a:xfrm rot="0">
            <a:off x="12901989" y="2568395"/>
            <a:ext cx="4788599" cy="5150209"/>
            <a:chOff x="0" y="0"/>
            <a:chExt cx="2192553" cy="2358123"/>
          </a:xfrm>
        </p:grpSpPr>
        <p:sp>
          <p:nvSpPr>
            <p:cNvPr name="Freeform 9" id="9"/>
            <p:cNvSpPr/>
            <p:nvPr/>
          </p:nvSpPr>
          <p:spPr>
            <a:xfrm flipH="false" flipV="false" rot="0">
              <a:off x="0" y="0"/>
              <a:ext cx="2192553" cy="2358124"/>
            </a:xfrm>
            <a:custGeom>
              <a:avLst/>
              <a:gdLst/>
              <a:ahLst/>
              <a:cxnLst/>
              <a:rect r="r" b="b" t="t" l="l"/>
              <a:pathLst>
                <a:path h="2358124" w="2192553">
                  <a:moveTo>
                    <a:pt x="88921" y="0"/>
                  </a:moveTo>
                  <a:lnTo>
                    <a:pt x="2103632" y="0"/>
                  </a:lnTo>
                  <a:cubicBezTo>
                    <a:pt x="2152742" y="0"/>
                    <a:pt x="2192553" y="39811"/>
                    <a:pt x="2192553" y="88921"/>
                  </a:cubicBezTo>
                  <a:lnTo>
                    <a:pt x="2192553" y="2269203"/>
                  </a:lnTo>
                  <a:cubicBezTo>
                    <a:pt x="2192553" y="2318312"/>
                    <a:pt x="2152742" y="2358124"/>
                    <a:pt x="2103632" y="2358124"/>
                  </a:cubicBezTo>
                  <a:lnTo>
                    <a:pt x="88921" y="2358124"/>
                  </a:lnTo>
                  <a:cubicBezTo>
                    <a:pt x="39811" y="2358124"/>
                    <a:pt x="0" y="2318312"/>
                    <a:pt x="0" y="2269203"/>
                  </a:cubicBezTo>
                  <a:lnTo>
                    <a:pt x="0" y="88921"/>
                  </a:lnTo>
                  <a:cubicBezTo>
                    <a:pt x="0" y="39811"/>
                    <a:pt x="39811" y="0"/>
                    <a:pt x="88921" y="0"/>
                  </a:cubicBezTo>
                  <a:close/>
                </a:path>
              </a:pathLst>
            </a:custGeom>
            <a:solidFill>
              <a:srgbClr val="FFFFFF"/>
            </a:solidFill>
          </p:spPr>
        </p:sp>
        <p:sp>
          <p:nvSpPr>
            <p:cNvPr name="TextBox 10" id="10"/>
            <p:cNvSpPr txBox="true"/>
            <p:nvPr/>
          </p:nvSpPr>
          <p:spPr>
            <a:xfrm>
              <a:off x="0" y="-57150"/>
              <a:ext cx="2192553" cy="2415273"/>
            </a:xfrm>
            <a:prstGeom prst="rect">
              <a:avLst/>
            </a:prstGeom>
          </p:spPr>
          <p:txBody>
            <a:bodyPr anchor="ctr" rtlCol="false" tIns="50800" lIns="50800" bIns="50800" rIns="50800"/>
            <a:lstStyle/>
            <a:p>
              <a:pPr algn="ctr">
                <a:lnSpc>
                  <a:spcPts val="3359"/>
                </a:lnSpc>
              </a:pPr>
            </a:p>
          </p:txBody>
        </p:sp>
      </p:grpSp>
      <p:grpSp>
        <p:nvGrpSpPr>
          <p:cNvPr name="Group 11" id="11"/>
          <p:cNvGrpSpPr/>
          <p:nvPr/>
        </p:nvGrpSpPr>
        <p:grpSpPr>
          <a:xfrm rot="0">
            <a:off x="13238800" y="2869670"/>
            <a:ext cx="4114978" cy="4547661"/>
            <a:chOff x="0" y="0"/>
            <a:chExt cx="1935901" cy="2139458"/>
          </a:xfrm>
        </p:grpSpPr>
        <p:sp>
          <p:nvSpPr>
            <p:cNvPr name="Freeform 12" id="12"/>
            <p:cNvSpPr/>
            <p:nvPr/>
          </p:nvSpPr>
          <p:spPr>
            <a:xfrm flipH="false" flipV="false" rot="0">
              <a:off x="0" y="0"/>
              <a:ext cx="1935903" cy="2139471"/>
            </a:xfrm>
            <a:custGeom>
              <a:avLst/>
              <a:gdLst/>
              <a:ahLst/>
              <a:cxnLst/>
              <a:rect r="r" b="b" t="t" l="l"/>
              <a:pathLst>
                <a:path h="2139471" w="1935903">
                  <a:moveTo>
                    <a:pt x="1448460" y="0"/>
                  </a:moveTo>
                  <a:lnTo>
                    <a:pt x="177673" y="0"/>
                  </a:lnTo>
                  <a:cubicBezTo>
                    <a:pt x="79547" y="0"/>
                    <a:pt x="0" y="79547"/>
                    <a:pt x="0" y="177673"/>
                  </a:cubicBezTo>
                  <a:lnTo>
                    <a:pt x="0" y="1961798"/>
                  </a:lnTo>
                  <a:cubicBezTo>
                    <a:pt x="0" y="2059924"/>
                    <a:pt x="79547" y="2139471"/>
                    <a:pt x="177673" y="2139471"/>
                  </a:cubicBezTo>
                  <a:lnTo>
                    <a:pt x="1758230" y="2139471"/>
                  </a:lnTo>
                  <a:cubicBezTo>
                    <a:pt x="1856356" y="2139471"/>
                    <a:pt x="1935903" y="2059924"/>
                    <a:pt x="1935903" y="1961798"/>
                  </a:cubicBezTo>
                  <a:lnTo>
                    <a:pt x="1935903" y="523958"/>
                  </a:lnTo>
                  <a:cubicBezTo>
                    <a:pt x="1935903" y="480251"/>
                    <a:pt x="1919793" y="438079"/>
                    <a:pt x="1890654" y="405503"/>
                  </a:cubicBezTo>
                  <a:lnTo>
                    <a:pt x="1580877" y="59214"/>
                  </a:lnTo>
                  <a:cubicBezTo>
                    <a:pt x="1547173" y="21536"/>
                    <a:pt x="1499013" y="0"/>
                    <a:pt x="1448460" y="0"/>
                  </a:cubicBezTo>
                  <a:close/>
                </a:path>
              </a:pathLst>
            </a:custGeom>
            <a:blipFill>
              <a:blip r:embed="rId2"/>
              <a:stretch>
                <a:fillRect l="-353" t="0" r="-353" b="0"/>
              </a:stretch>
            </a:blipFill>
          </p:spPr>
        </p:sp>
      </p:grpSp>
    </p:spTree>
  </p:cSld>
  <p:clrMapOvr>
    <a:masterClrMapping/>
  </p:clrMapOvr>
</p:sld>
</file>

<file path=ppt/slides/slide5.xml><?xml version="1.0" encoding="utf-8"?>
<p:sld xmlns:p="http://schemas.openxmlformats.org/presentationml/2006/main" xmlns:a="http://schemas.openxmlformats.org/drawingml/2006/main" xmlns:r="http://schemas.openxmlformats.org/officeDocument/2006/relationships">
  <p:cSld>
    <p:bg>
      <p:bgPr>
        <a:solidFill>
          <a:srgbClr val="EEE6D9"/>
        </a:solidFill>
      </p:bgPr>
    </p:bg>
    <p:spTree>
      <p:nvGrpSpPr>
        <p:cNvPr id="1" name=""/>
        <p:cNvGrpSpPr/>
        <p:nvPr/>
      </p:nvGrpSpPr>
      <p:grpSpPr>
        <a:xfrm>
          <a:off x="0" y="0"/>
          <a:ext cx="0" cy="0"/>
          <a:chOff x="0" y="0"/>
          <a:chExt cx="0" cy="0"/>
        </a:xfrm>
      </p:grpSpPr>
      <p:grpSp>
        <p:nvGrpSpPr>
          <p:cNvPr name="Group 2" id="2"/>
          <p:cNvGrpSpPr/>
          <p:nvPr/>
        </p:nvGrpSpPr>
        <p:grpSpPr>
          <a:xfrm rot="0">
            <a:off x="666750" y="266497"/>
            <a:ext cx="9994789" cy="9668214"/>
            <a:chOff x="0" y="0"/>
            <a:chExt cx="2722626" cy="2633665"/>
          </a:xfrm>
        </p:grpSpPr>
        <p:sp>
          <p:nvSpPr>
            <p:cNvPr name="Freeform 3" id="3"/>
            <p:cNvSpPr/>
            <p:nvPr/>
          </p:nvSpPr>
          <p:spPr>
            <a:xfrm flipH="false" flipV="false" rot="0">
              <a:off x="0" y="0"/>
              <a:ext cx="2722628" cy="2633665"/>
            </a:xfrm>
            <a:custGeom>
              <a:avLst/>
              <a:gdLst/>
              <a:ahLst/>
              <a:cxnLst/>
              <a:rect r="r" b="b" t="t" l="l"/>
              <a:pathLst>
                <a:path h="2633665" w="2722628">
                  <a:moveTo>
                    <a:pt x="2375669" y="0"/>
                  </a:moveTo>
                  <a:lnTo>
                    <a:pt x="148415" y="0"/>
                  </a:lnTo>
                  <a:cubicBezTo>
                    <a:pt x="66448" y="0"/>
                    <a:pt x="0" y="66448"/>
                    <a:pt x="0" y="148415"/>
                  </a:cubicBezTo>
                  <a:lnTo>
                    <a:pt x="0" y="2354273"/>
                  </a:lnTo>
                  <a:cubicBezTo>
                    <a:pt x="0" y="2390784"/>
                    <a:pt x="13458" y="2426013"/>
                    <a:pt x="37800" y="2453225"/>
                  </a:cubicBezTo>
                  <a:lnTo>
                    <a:pt x="154967" y="2584201"/>
                  </a:lnTo>
                  <a:cubicBezTo>
                    <a:pt x="183122" y="2615677"/>
                    <a:pt x="223353" y="2633666"/>
                    <a:pt x="265584" y="2633665"/>
                  </a:cubicBezTo>
                  <a:lnTo>
                    <a:pt x="2574212" y="2633665"/>
                  </a:lnTo>
                  <a:cubicBezTo>
                    <a:pt x="2613575" y="2633666"/>
                    <a:pt x="2651325" y="2618029"/>
                    <a:pt x="2679158" y="2590196"/>
                  </a:cubicBezTo>
                  <a:cubicBezTo>
                    <a:pt x="2706992" y="2562363"/>
                    <a:pt x="2722628" y="2524613"/>
                    <a:pt x="2722628" y="2485251"/>
                  </a:cubicBezTo>
                  <a:lnTo>
                    <a:pt x="2722628" y="366141"/>
                  </a:lnTo>
                  <a:cubicBezTo>
                    <a:pt x="2722629" y="329143"/>
                    <a:pt x="2708809" y="293478"/>
                    <a:pt x="2683879" y="266140"/>
                  </a:cubicBezTo>
                  <a:lnTo>
                    <a:pt x="2485336" y="48414"/>
                  </a:lnTo>
                  <a:cubicBezTo>
                    <a:pt x="2457214" y="17574"/>
                    <a:pt x="2417406" y="0"/>
                    <a:pt x="2375669" y="0"/>
                  </a:cubicBezTo>
                  <a:close/>
                </a:path>
              </a:pathLst>
            </a:custGeom>
            <a:solidFill>
              <a:srgbClr val="093C25"/>
            </a:solidFill>
          </p:spPr>
        </p:sp>
      </p:grpSp>
      <p:grpSp>
        <p:nvGrpSpPr>
          <p:cNvPr name="Group 4" id="4"/>
          <p:cNvGrpSpPr/>
          <p:nvPr/>
        </p:nvGrpSpPr>
        <p:grpSpPr>
          <a:xfrm rot="0">
            <a:off x="1466138" y="756012"/>
            <a:ext cx="8635396" cy="6473795"/>
            <a:chOff x="0" y="0"/>
            <a:chExt cx="11513861" cy="8631727"/>
          </a:xfrm>
        </p:grpSpPr>
        <p:sp>
          <p:nvSpPr>
            <p:cNvPr name="TextBox 5" id="5"/>
            <p:cNvSpPr txBox="true"/>
            <p:nvPr/>
          </p:nvSpPr>
          <p:spPr>
            <a:xfrm rot="0">
              <a:off x="0" y="2521060"/>
              <a:ext cx="11513861" cy="6110667"/>
            </a:xfrm>
            <a:prstGeom prst="rect">
              <a:avLst/>
            </a:prstGeom>
          </p:spPr>
          <p:txBody>
            <a:bodyPr anchor="t" rtlCol="false" tIns="0" lIns="0" bIns="0" rIns="0">
              <a:spAutoFit/>
            </a:bodyPr>
            <a:lstStyle/>
            <a:p>
              <a:pPr algn="l" marL="0" indent="0" lvl="0">
                <a:lnSpc>
                  <a:spcPts val="2600"/>
                </a:lnSpc>
              </a:pPr>
              <a:r>
                <a:rPr lang="en-US" sz="2000" spc="-110">
                  <a:solidFill>
                    <a:srgbClr val="F8F7EF"/>
                  </a:solidFill>
                  <a:latin typeface="Work Sans"/>
                  <a:ea typeface="Work Sans"/>
                  <a:cs typeface="Work Sans"/>
                  <a:sym typeface="Work Sans"/>
                </a:rPr>
                <a:t>Time an</a:t>
              </a:r>
              <a:r>
                <a:rPr lang="en-US" sz="2000" spc="-110">
                  <a:solidFill>
                    <a:srgbClr val="F8F7EF"/>
                  </a:solidFill>
                  <a:latin typeface="Work Sans"/>
                  <a:ea typeface="Work Sans"/>
                  <a:cs typeface="Work Sans"/>
                  <a:sym typeface="Work Sans"/>
                </a:rPr>
                <a:t>alysis shows that customers who pr</a:t>
              </a:r>
              <a:r>
                <a:rPr lang="en-US" sz="2000" spc="-110">
                  <a:solidFill>
                    <a:srgbClr val="F8F7EF"/>
                  </a:solidFill>
                  <a:latin typeface="Work Sans"/>
                  <a:ea typeface="Work Sans"/>
                  <a:cs typeface="Work Sans"/>
                  <a:sym typeface="Work Sans"/>
                </a:rPr>
                <a:t>ogress past the Product View stage move efficiently through Checkout and Payment stage.</a:t>
              </a:r>
            </a:p>
            <a:p>
              <a:pPr algn="l" marL="431801" indent="-215900" lvl="1">
                <a:lnSpc>
                  <a:spcPts val="2600"/>
                </a:lnSpc>
                <a:buFont typeface="Arial"/>
                <a:buChar char="•"/>
              </a:pPr>
              <a:r>
                <a:rPr lang="en-US" sz="2000" spc="-110">
                  <a:solidFill>
                    <a:srgbClr val="F8F7EF"/>
                  </a:solidFill>
                  <a:latin typeface="Work Sans"/>
                  <a:ea typeface="Work Sans"/>
                  <a:cs typeface="Work Sans"/>
                  <a:sym typeface="Work Sans"/>
                </a:rPr>
                <a:t>Customers spend an average of 11 minutes in the View stage, and</a:t>
              </a:r>
            </a:p>
            <a:p>
              <a:pPr algn="l" marL="431801" indent="-215900" lvl="1">
                <a:lnSpc>
                  <a:spcPts val="2600"/>
                </a:lnSpc>
                <a:buFont typeface="Arial"/>
                <a:buChar char="•"/>
              </a:pPr>
              <a:r>
                <a:rPr lang="en-US" sz="2000" spc="-110">
                  <a:solidFill>
                    <a:srgbClr val="F8F7EF"/>
                  </a:solidFill>
                  <a:latin typeface="Work Sans"/>
                  <a:ea typeface="Work Sans"/>
                  <a:cs typeface="Work Sans"/>
                  <a:sym typeface="Work Sans"/>
                </a:rPr>
                <a:t>an average of 13 minutes between the four stages of Add to Cart and Purchase stage.</a:t>
              </a:r>
            </a:p>
            <a:p>
              <a:pPr algn="l">
                <a:lnSpc>
                  <a:spcPts val="2600"/>
                </a:lnSpc>
              </a:pPr>
            </a:p>
            <a:p>
              <a:pPr algn="l" marL="0" indent="0" lvl="0">
                <a:lnSpc>
                  <a:spcPts val="2600"/>
                </a:lnSpc>
              </a:pPr>
              <a:r>
                <a:rPr lang="en-US" sz="2000" spc="-110">
                  <a:solidFill>
                    <a:srgbClr val="F8F7EF"/>
                  </a:solidFill>
                  <a:latin typeface="Work Sans"/>
                  <a:ea typeface="Work Sans"/>
                  <a:cs typeface="Work Sans"/>
                  <a:sym typeface="Work Sans"/>
                </a:rPr>
                <a:t>Mo</a:t>
              </a:r>
              <a:r>
                <a:rPr lang="en-US" sz="2000" spc="-110">
                  <a:solidFill>
                    <a:srgbClr val="F8F7EF"/>
                  </a:solidFill>
                  <a:latin typeface="Work Sans"/>
                  <a:ea typeface="Work Sans"/>
                  <a:cs typeface="Work Sans"/>
                  <a:sym typeface="Work Sans"/>
                </a:rPr>
                <a:t>st exits occur early, suggesting that customers may not be finding products th</a:t>
              </a:r>
              <a:r>
                <a:rPr lang="en-US" sz="2000" spc="-110">
                  <a:solidFill>
                    <a:srgbClr val="F8F7EF"/>
                  </a:solidFill>
                  <a:latin typeface="Work Sans"/>
                  <a:ea typeface="Work Sans"/>
                  <a:cs typeface="Work Sans"/>
                  <a:sym typeface="Work Sans"/>
                </a:rPr>
                <a:t>at match their expectations when they land on the website.</a:t>
              </a:r>
            </a:p>
            <a:p>
              <a:pPr algn="l" marL="0" indent="0" lvl="0">
                <a:lnSpc>
                  <a:spcPts val="2600"/>
                </a:lnSpc>
              </a:pPr>
            </a:p>
            <a:p>
              <a:pPr algn="l" marL="0" indent="0" lvl="0">
                <a:lnSpc>
                  <a:spcPts val="2600"/>
                </a:lnSpc>
              </a:pPr>
              <a:r>
                <a:rPr lang="en-US" sz="2000" spc="-110">
                  <a:solidFill>
                    <a:srgbClr val="F8F7EF"/>
                  </a:solidFill>
                  <a:latin typeface="Work Sans"/>
                  <a:ea typeface="Work Sans"/>
                  <a:cs typeface="Work Sans"/>
                  <a:sym typeface="Work Sans"/>
                </a:rPr>
                <a:t>This points to a potential misalignment between:</a:t>
              </a:r>
            </a:p>
            <a:p>
              <a:pPr algn="l" marL="431801" indent="-215900" lvl="1">
                <a:lnSpc>
                  <a:spcPts val="2600"/>
                </a:lnSpc>
                <a:buFont typeface="Arial"/>
                <a:buChar char="•"/>
              </a:pPr>
              <a:r>
                <a:rPr lang="en-US" sz="2000" spc="-110">
                  <a:solidFill>
                    <a:srgbClr val="F8F7EF"/>
                  </a:solidFill>
                  <a:latin typeface="Work Sans"/>
                  <a:ea typeface="Work Sans"/>
                  <a:cs typeface="Work Sans"/>
                  <a:sym typeface="Work Sans"/>
                </a:rPr>
                <a:t>Audience targeting</a:t>
              </a:r>
            </a:p>
            <a:p>
              <a:pPr algn="l" marL="431801" indent="-215900" lvl="1">
                <a:lnSpc>
                  <a:spcPts val="2600"/>
                </a:lnSpc>
                <a:buFont typeface="Arial"/>
                <a:buChar char="•"/>
              </a:pPr>
              <a:r>
                <a:rPr lang="en-US" sz="2000" spc="-110">
                  <a:solidFill>
                    <a:srgbClr val="F8F7EF"/>
                  </a:solidFill>
                  <a:latin typeface="Work Sans"/>
                  <a:ea typeface="Work Sans"/>
                  <a:cs typeface="Work Sans"/>
                  <a:sym typeface="Work Sans"/>
                </a:rPr>
                <a:t>Product assortment</a:t>
              </a:r>
            </a:p>
            <a:p>
              <a:pPr algn="l" marL="431801" indent="-215900" lvl="1">
                <a:lnSpc>
                  <a:spcPts val="2600"/>
                </a:lnSpc>
                <a:buFont typeface="Arial"/>
                <a:buChar char="•"/>
              </a:pPr>
              <a:r>
                <a:rPr lang="en-US" sz="2000" spc="-110">
                  <a:solidFill>
                    <a:srgbClr val="F8F7EF"/>
                  </a:solidFill>
                  <a:latin typeface="Work Sans"/>
                  <a:ea typeface="Work Sans"/>
                  <a:cs typeface="Work Sans"/>
                  <a:sym typeface="Work Sans"/>
                </a:rPr>
                <a:t>L</a:t>
              </a:r>
              <a:r>
                <a:rPr lang="en-US" sz="2000" spc="-110">
                  <a:solidFill>
                    <a:srgbClr val="F8F7EF"/>
                  </a:solidFill>
                  <a:latin typeface="Work Sans"/>
                  <a:ea typeface="Work Sans"/>
                  <a:cs typeface="Work Sans"/>
                  <a:sym typeface="Work Sans"/>
                </a:rPr>
                <a:t>anding page experience</a:t>
              </a:r>
            </a:p>
            <a:p>
              <a:pPr algn="l" marL="0" indent="0" lvl="0">
                <a:lnSpc>
                  <a:spcPts val="2947"/>
                </a:lnSpc>
              </a:pPr>
            </a:p>
          </p:txBody>
        </p:sp>
        <p:sp>
          <p:nvSpPr>
            <p:cNvPr name="TextBox 6" id="6"/>
            <p:cNvSpPr txBox="true"/>
            <p:nvPr/>
          </p:nvSpPr>
          <p:spPr>
            <a:xfrm rot="0">
              <a:off x="0" y="104775"/>
              <a:ext cx="10931363" cy="2270972"/>
            </a:xfrm>
            <a:prstGeom prst="rect">
              <a:avLst/>
            </a:prstGeom>
          </p:spPr>
          <p:txBody>
            <a:bodyPr anchor="t" rtlCol="false" tIns="0" lIns="0" bIns="0" rIns="0">
              <a:spAutoFit/>
            </a:bodyPr>
            <a:lstStyle/>
            <a:p>
              <a:pPr algn="l" marL="0" indent="0" lvl="0">
                <a:lnSpc>
                  <a:spcPts val="6400"/>
                </a:lnSpc>
              </a:pPr>
              <a:r>
                <a:rPr lang="en-US" b="true" sz="6400" spc="-352">
                  <a:solidFill>
                    <a:srgbClr val="F8F7EF"/>
                  </a:solidFill>
                  <a:latin typeface="Work Sans Semi-Bold"/>
                  <a:ea typeface="Work Sans Semi-Bold"/>
                  <a:cs typeface="Work Sans Semi-Bold"/>
                  <a:sym typeface="Work Sans Semi-Bold"/>
                </a:rPr>
                <a:t>Behavioural Insight Analysis</a:t>
              </a:r>
            </a:p>
          </p:txBody>
        </p:sp>
        <p:sp>
          <p:nvSpPr>
            <p:cNvPr name="TextBox 7" id="7"/>
            <p:cNvSpPr txBox="true"/>
            <p:nvPr/>
          </p:nvSpPr>
          <p:spPr>
            <a:xfrm rot="0">
              <a:off x="0" y="4367308"/>
              <a:ext cx="10434842" cy="667786"/>
            </a:xfrm>
            <a:prstGeom prst="rect">
              <a:avLst/>
            </a:prstGeom>
          </p:spPr>
          <p:txBody>
            <a:bodyPr anchor="t" rtlCol="false" tIns="0" lIns="0" bIns="0" rIns="0">
              <a:spAutoFit/>
            </a:bodyPr>
            <a:lstStyle/>
            <a:p>
              <a:pPr algn="l" marL="0" indent="0" lvl="0">
                <a:lnSpc>
                  <a:spcPts val="3887"/>
                </a:lnSpc>
                <a:spcBef>
                  <a:spcPct val="0"/>
                </a:spcBef>
              </a:pPr>
            </a:p>
          </p:txBody>
        </p:sp>
      </p:grpSp>
      <p:grpSp>
        <p:nvGrpSpPr>
          <p:cNvPr name="Group 8" id="8"/>
          <p:cNvGrpSpPr/>
          <p:nvPr/>
        </p:nvGrpSpPr>
        <p:grpSpPr>
          <a:xfrm rot="0">
            <a:off x="12832651" y="2568395"/>
            <a:ext cx="4788599" cy="5150209"/>
            <a:chOff x="0" y="0"/>
            <a:chExt cx="2192553" cy="2358123"/>
          </a:xfrm>
        </p:grpSpPr>
        <p:sp>
          <p:nvSpPr>
            <p:cNvPr name="Freeform 9" id="9"/>
            <p:cNvSpPr/>
            <p:nvPr/>
          </p:nvSpPr>
          <p:spPr>
            <a:xfrm flipH="false" flipV="false" rot="0">
              <a:off x="0" y="0"/>
              <a:ext cx="2192553" cy="2358124"/>
            </a:xfrm>
            <a:custGeom>
              <a:avLst/>
              <a:gdLst/>
              <a:ahLst/>
              <a:cxnLst/>
              <a:rect r="r" b="b" t="t" l="l"/>
              <a:pathLst>
                <a:path h="2358124" w="2192553">
                  <a:moveTo>
                    <a:pt x="88921" y="0"/>
                  </a:moveTo>
                  <a:lnTo>
                    <a:pt x="2103632" y="0"/>
                  </a:lnTo>
                  <a:cubicBezTo>
                    <a:pt x="2152742" y="0"/>
                    <a:pt x="2192553" y="39811"/>
                    <a:pt x="2192553" y="88921"/>
                  </a:cubicBezTo>
                  <a:lnTo>
                    <a:pt x="2192553" y="2269203"/>
                  </a:lnTo>
                  <a:cubicBezTo>
                    <a:pt x="2192553" y="2318312"/>
                    <a:pt x="2152742" y="2358124"/>
                    <a:pt x="2103632" y="2358124"/>
                  </a:cubicBezTo>
                  <a:lnTo>
                    <a:pt x="88921" y="2358124"/>
                  </a:lnTo>
                  <a:cubicBezTo>
                    <a:pt x="39811" y="2358124"/>
                    <a:pt x="0" y="2318312"/>
                    <a:pt x="0" y="2269203"/>
                  </a:cubicBezTo>
                  <a:lnTo>
                    <a:pt x="0" y="88921"/>
                  </a:lnTo>
                  <a:cubicBezTo>
                    <a:pt x="0" y="39811"/>
                    <a:pt x="39811" y="0"/>
                    <a:pt x="88921" y="0"/>
                  </a:cubicBezTo>
                  <a:close/>
                </a:path>
              </a:pathLst>
            </a:custGeom>
            <a:solidFill>
              <a:srgbClr val="FFFFFF"/>
            </a:solidFill>
          </p:spPr>
        </p:sp>
        <p:sp>
          <p:nvSpPr>
            <p:cNvPr name="TextBox 10" id="10"/>
            <p:cNvSpPr txBox="true"/>
            <p:nvPr/>
          </p:nvSpPr>
          <p:spPr>
            <a:xfrm>
              <a:off x="0" y="-57150"/>
              <a:ext cx="2192553" cy="2415273"/>
            </a:xfrm>
            <a:prstGeom prst="rect">
              <a:avLst/>
            </a:prstGeom>
          </p:spPr>
          <p:txBody>
            <a:bodyPr anchor="ctr" rtlCol="false" tIns="50800" lIns="50800" bIns="50800" rIns="50800"/>
            <a:lstStyle/>
            <a:p>
              <a:pPr algn="ctr">
                <a:lnSpc>
                  <a:spcPts val="3359"/>
                </a:lnSpc>
              </a:pPr>
            </a:p>
          </p:txBody>
        </p:sp>
      </p:grpSp>
      <p:grpSp>
        <p:nvGrpSpPr>
          <p:cNvPr name="Group 11" id="11"/>
          <p:cNvGrpSpPr/>
          <p:nvPr/>
        </p:nvGrpSpPr>
        <p:grpSpPr>
          <a:xfrm rot="0">
            <a:off x="13169462" y="2869670"/>
            <a:ext cx="4114978" cy="4547661"/>
            <a:chOff x="0" y="0"/>
            <a:chExt cx="1935901" cy="2139458"/>
          </a:xfrm>
        </p:grpSpPr>
        <p:sp>
          <p:nvSpPr>
            <p:cNvPr name="Freeform 12" id="12"/>
            <p:cNvSpPr/>
            <p:nvPr/>
          </p:nvSpPr>
          <p:spPr>
            <a:xfrm flipH="false" flipV="false" rot="0">
              <a:off x="0" y="0"/>
              <a:ext cx="1935903" cy="2139471"/>
            </a:xfrm>
            <a:custGeom>
              <a:avLst/>
              <a:gdLst/>
              <a:ahLst/>
              <a:cxnLst/>
              <a:rect r="r" b="b" t="t" l="l"/>
              <a:pathLst>
                <a:path h="2139471" w="1935903">
                  <a:moveTo>
                    <a:pt x="1448460" y="0"/>
                  </a:moveTo>
                  <a:lnTo>
                    <a:pt x="177673" y="0"/>
                  </a:lnTo>
                  <a:cubicBezTo>
                    <a:pt x="79547" y="0"/>
                    <a:pt x="0" y="79547"/>
                    <a:pt x="0" y="177673"/>
                  </a:cubicBezTo>
                  <a:lnTo>
                    <a:pt x="0" y="1961798"/>
                  </a:lnTo>
                  <a:cubicBezTo>
                    <a:pt x="0" y="2059924"/>
                    <a:pt x="79547" y="2139471"/>
                    <a:pt x="177673" y="2139471"/>
                  </a:cubicBezTo>
                  <a:lnTo>
                    <a:pt x="1758230" y="2139471"/>
                  </a:lnTo>
                  <a:cubicBezTo>
                    <a:pt x="1856356" y="2139471"/>
                    <a:pt x="1935903" y="2059924"/>
                    <a:pt x="1935903" y="1961798"/>
                  </a:cubicBezTo>
                  <a:lnTo>
                    <a:pt x="1935903" y="523958"/>
                  </a:lnTo>
                  <a:cubicBezTo>
                    <a:pt x="1935903" y="480251"/>
                    <a:pt x="1919793" y="438079"/>
                    <a:pt x="1890654" y="405503"/>
                  </a:cubicBezTo>
                  <a:lnTo>
                    <a:pt x="1580877" y="59214"/>
                  </a:lnTo>
                  <a:cubicBezTo>
                    <a:pt x="1547173" y="21536"/>
                    <a:pt x="1499013" y="0"/>
                    <a:pt x="1448460" y="0"/>
                  </a:cubicBezTo>
                  <a:close/>
                </a:path>
              </a:pathLst>
            </a:custGeom>
            <a:blipFill>
              <a:blip r:embed="rId2"/>
              <a:stretch>
                <a:fillRect l="-353" t="0" r="-353" b="0"/>
              </a:stretch>
            </a:blipFill>
          </p:spPr>
        </p:sp>
      </p:grpSp>
    </p:spTree>
  </p:cSld>
  <p:clrMapOvr>
    <a:masterClrMapping/>
  </p:clrMapOvr>
</p:sld>
</file>

<file path=ppt/slides/slide6.xml><?xml version="1.0" encoding="utf-8"?>
<p:sld xmlns:p="http://schemas.openxmlformats.org/presentationml/2006/main" xmlns:a="http://schemas.openxmlformats.org/drawingml/2006/main" xmlns:r="http://schemas.openxmlformats.org/officeDocument/2006/relationships">
  <p:cSld>
    <p:bg>
      <p:bgPr>
        <a:solidFill>
          <a:srgbClr val="EEE6D9"/>
        </a:solidFill>
      </p:bgPr>
    </p:bg>
    <p:spTree>
      <p:nvGrpSpPr>
        <p:cNvPr id="1" name=""/>
        <p:cNvGrpSpPr/>
        <p:nvPr/>
      </p:nvGrpSpPr>
      <p:grpSpPr>
        <a:xfrm>
          <a:off x="0" y="0"/>
          <a:ext cx="0" cy="0"/>
          <a:chOff x="0" y="0"/>
          <a:chExt cx="0" cy="0"/>
        </a:xfrm>
      </p:grpSpPr>
      <p:grpSp>
        <p:nvGrpSpPr>
          <p:cNvPr name="Group 2" id="2"/>
          <p:cNvGrpSpPr/>
          <p:nvPr/>
        </p:nvGrpSpPr>
        <p:grpSpPr>
          <a:xfrm rot="0">
            <a:off x="666750" y="266497"/>
            <a:ext cx="9994789" cy="9668214"/>
            <a:chOff x="0" y="0"/>
            <a:chExt cx="2722626" cy="2633665"/>
          </a:xfrm>
        </p:grpSpPr>
        <p:sp>
          <p:nvSpPr>
            <p:cNvPr name="Freeform 3" id="3"/>
            <p:cNvSpPr/>
            <p:nvPr/>
          </p:nvSpPr>
          <p:spPr>
            <a:xfrm flipH="false" flipV="false" rot="0">
              <a:off x="0" y="0"/>
              <a:ext cx="2722628" cy="2633665"/>
            </a:xfrm>
            <a:custGeom>
              <a:avLst/>
              <a:gdLst/>
              <a:ahLst/>
              <a:cxnLst/>
              <a:rect r="r" b="b" t="t" l="l"/>
              <a:pathLst>
                <a:path h="2633665" w="2722628">
                  <a:moveTo>
                    <a:pt x="2375669" y="0"/>
                  </a:moveTo>
                  <a:lnTo>
                    <a:pt x="148415" y="0"/>
                  </a:lnTo>
                  <a:cubicBezTo>
                    <a:pt x="66448" y="0"/>
                    <a:pt x="0" y="66448"/>
                    <a:pt x="0" y="148415"/>
                  </a:cubicBezTo>
                  <a:lnTo>
                    <a:pt x="0" y="2354273"/>
                  </a:lnTo>
                  <a:cubicBezTo>
                    <a:pt x="0" y="2390784"/>
                    <a:pt x="13458" y="2426013"/>
                    <a:pt x="37800" y="2453225"/>
                  </a:cubicBezTo>
                  <a:lnTo>
                    <a:pt x="154967" y="2584201"/>
                  </a:lnTo>
                  <a:cubicBezTo>
                    <a:pt x="183122" y="2615677"/>
                    <a:pt x="223353" y="2633666"/>
                    <a:pt x="265584" y="2633665"/>
                  </a:cubicBezTo>
                  <a:lnTo>
                    <a:pt x="2574212" y="2633665"/>
                  </a:lnTo>
                  <a:cubicBezTo>
                    <a:pt x="2613575" y="2633666"/>
                    <a:pt x="2651325" y="2618029"/>
                    <a:pt x="2679158" y="2590196"/>
                  </a:cubicBezTo>
                  <a:cubicBezTo>
                    <a:pt x="2706992" y="2562363"/>
                    <a:pt x="2722628" y="2524613"/>
                    <a:pt x="2722628" y="2485251"/>
                  </a:cubicBezTo>
                  <a:lnTo>
                    <a:pt x="2722628" y="366141"/>
                  </a:lnTo>
                  <a:cubicBezTo>
                    <a:pt x="2722629" y="329143"/>
                    <a:pt x="2708809" y="293478"/>
                    <a:pt x="2683879" y="266140"/>
                  </a:cubicBezTo>
                  <a:lnTo>
                    <a:pt x="2485336" y="48414"/>
                  </a:lnTo>
                  <a:cubicBezTo>
                    <a:pt x="2457214" y="17574"/>
                    <a:pt x="2417406" y="0"/>
                    <a:pt x="2375669" y="0"/>
                  </a:cubicBezTo>
                  <a:close/>
                </a:path>
              </a:pathLst>
            </a:custGeom>
            <a:solidFill>
              <a:srgbClr val="093C25"/>
            </a:solidFill>
          </p:spPr>
        </p:sp>
      </p:grpSp>
      <p:grpSp>
        <p:nvGrpSpPr>
          <p:cNvPr name="Group 4" id="4"/>
          <p:cNvGrpSpPr/>
          <p:nvPr/>
        </p:nvGrpSpPr>
        <p:grpSpPr>
          <a:xfrm rot="0">
            <a:off x="12901989" y="2568395"/>
            <a:ext cx="4788599" cy="5150209"/>
            <a:chOff x="0" y="0"/>
            <a:chExt cx="2192553" cy="2358123"/>
          </a:xfrm>
        </p:grpSpPr>
        <p:sp>
          <p:nvSpPr>
            <p:cNvPr name="Freeform 5" id="5"/>
            <p:cNvSpPr/>
            <p:nvPr/>
          </p:nvSpPr>
          <p:spPr>
            <a:xfrm flipH="false" flipV="false" rot="0">
              <a:off x="0" y="0"/>
              <a:ext cx="2192553" cy="2358124"/>
            </a:xfrm>
            <a:custGeom>
              <a:avLst/>
              <a:gdLst/>
              <a:ahLst/>
              <a:cxnLst/>
              <a:rect r="r" b="b" t="t" l="l"/>
              <a:pathLst>
                <a:path h="2358124" w="2192553">
                  <a:moveTo>
                    <a:pt x="88921" y="0"/>
                  </a:moveTo>
                  <a:lnTo>
                    <a:pt x="2103632" y="0"/>
                  </a:lnTo>
                  <a:cubicBezTo>
                    <a:pt x="2152742" y="0"/>
                    <a:pt x="2192553" y="39811"/>
                    <a:pt x="2192553" y="88921"/>
                  </a:cubicBezTo>
                  <a:lnTo>
                    <a:pt x="2192553" y="2269203"/>
                  </a:lnTo>
                  <a:cubicBezTo>
                    <a:pt x="2192553" y="2318312"/>
                    <a:pt x="2152742" y="2358124"/>
                    <a:pt x="2103632" y="2358124"/>
                  </a:cubicBezTo>
                  <a:lnTo>
                    <a:pt x="88921" y="2358124"/>
                  </a:lnTo>
                  <a:cubicBezTo>
                    <a:pt x="39811" y="2358124"/>
                    <a:pt x="0" y="2318312"/>
                    <a:pt x="0" y="2269203"/>
                  </a:cubicBezTo>
                  <a:lnTo>
                    <a:pt x="0" y="88921"/>
                  </a:lnTo>
                  <a:cubicBezTo>
                    <a:pt x="0" y="39811"/>
                    <a:pt x="39811" y="0"/>
                    <a:pt x="88921" y="0"/>
                  </a:cubicBezTo>
                  <a:close/>
                </a:path>
              </a:pathLst>
            </a:custGeom>
            <a:solidFill>
              <a:srgbClr val="FFFFFF"/>
            </a:solidFill>
          </p:spPr>
        </p:sp>
        <p:sp>
          <p:nvSpPr>
            <p:cNvPr name="TextBox 6" id="6"/>
            <p:cNvSpPr txBox="true"/>
            <p:nvPr/>
          </p:nvSpPr>
          <p:spPr>
            <a:xfrm>
              <a:off x="0" y="-57150"/>
              <a:ext cx="2192553" cy="2415273"/>
            </a:xfrm>
            <a:prstGeom prst="rect">
              <a:avLst/>
            </a:prstGeom>
          </p:spPr>
          <p:txBody>
            <a:bodyPr anchor="ctr" rtlCol="false" tIns="50800" lIns="50800" bIns="50800" rIns="50800"/>
            <a:lstStyle/>
            <a:p>
              <a:pPr algn="ctr">
                <a:lnSpc>
                  <a:spcPts val="3359"/>
                </a:lnSpc>
              </a:pPr>
            </a:p>
          </p:txBody>
        </p:sp>
      </p:grpSp>
      <p:grpSp>
        <p:nvGrpSpPr>
          <p:cNvPr name="Group 7" id="7"/>
          <p:cNvGrpSpPr/>
          <p:nvPr/>
        </p:nvGrpSpPr>
        <p:grpSpPr>
          <a:xfrm rot="0">
            <a:off x="13238800" y="2869670"/>
            <a:ext cx="4114978" cy="4547661"/>
            <a:chOff x="0" y="0"/>
            <a:chExt cx="1935901" cy="2139458"/>
          </a:xfrm>
        </p:grpSpPr>
        <p:sp>
          <p:nvSpPr>
            <p:cNvPr name="Freeform 8" id="8"/>
            <p:cNvSpPr/>
            <p:nvPr/>
          </p:nvSpPr>
          <p:spPr>
            <a:xfrm flipH="false" flipV="false" rot="0">
              <a:off x="0" y="0"/>
              <a:ext cx="1935903" cy="2139471"/>
            </a:xfrm>
            <a:custGeom>
              <a:avLst/>
              <a:gdLst/>
              <a:ahLst/>
              <a:cxnLst/>
              <a:rect r="r" b="b" t="t" l="l"/>
              <a:pathLst>
                <a:path h="2139471" w="1935903">
                  <a:moveTo>
                    <a:pt x="1448460" y="0"/>
                  </a:moveTo>
                  <a:lnTo>
                    <a:pt x="177673" y="0"/>
                  </a:lnTo>
                  <a:cubicBezTo>
                    <a:pt x="79547" y="0"/>
                    <a:pt x="0" y="79547"/>
                    <a:pt x="0" y="177673"/>
                  </a:cubicBezTo>
                  <a:lnTo>
                    <a:pt x="0" y="1961798"/>
                  </a:lnTo>
                  <a:cubicBezTo>
                    <a:pt x="0" y="2059924"/>
                    <a:pt x="79547" y="2139471"/>
                    <a:pt x="177673" y="2139471"/>
                  </a:cubicBezTo>
                  <a:lnTo>
                    <a:pt x="1758230" y="2139471"/>
                  </a:lnTo>
                  <a:cubicBezTo>
                    <a:pt x="1856356" y="2139471"/>
                    <a:pt x="1935903" y="2059924"/>
                    <a:pt x="1935903" y="1961798"/>
                  </a:cubicBezTo>
                  <a:lnTo>
                    <a:pt x="1935903" y="523958"/>
                  </a:lnTo>
                  <a:cubicBezTo>
                    <a:pt x="1935903" y="480251"/>
                    <a:pt x="1919793" y="438079"/>
                    <a:pt x="1890654" y="405503"/>
                  </a:cubicBezTo>
                  <a:lnTo>
                    <a:pt x="1580877" y="59214"/>
                  </a:lnTo>
                  <a:cubicBezTo>
                    <a:pt x="1547173" y="21536"/>
                    <a:pt x="1499013" y="0"/>
                    <a:pt x="1448460" y="0"/>
                  </a:cubicBezTo>
                  <a:close/>
                </a:path>
              </a:pathLst>
            </a:custGeom>
            <a:blipFill>
              <a:blip r:embed="rId2"/>
              <a:stretch>
                <a:fillRect l="-14117" t="0" r="-14117" b="0"/>
              </a:stretch>
            </a:blipFill>
          </p:spPr>
        </p:sp>
      </p:grpSp>
      <p:grpSp>
        <p:nvGrpSpPr>
          <p:cNvPr name="Group 9" id="9"/>
          <p:cNvGrpSpPr/>
          <p:nvPr/>
        </p:nvGrpSpPr>
        <p:grpSpPr>
          <a:xfrm rot="0">
            <a:off x="1466138" y="756012"/>
            <a:ext cx="8843411" cy="6149945"/>
            <a:chOff x="0" y="0"/>
            <a:chExt cx="11791215" cy="8199927"/>
          </a:xfrm>
        </p:grpSpPr>
        <p:sp>
          <p:nvSpPr>
            <p:cNvPr name="TextBox 10" id="10"/>
            <p:cNvSpPr txBox="true"/>
            <p:nvPr/>
          </p:nvSpPr>
          <p:spPr>
            <a:xfrm rot="0">
              <a:off x="0" y="2521060"/>
              <a:ext cx="11791215" cy="5678867"/>
            </a:xfrm>
            <a:prstGeom prst="rect">
              <a:avLst/>
            </a:prstGeom>
          </p:spPr>
          <p:txBody>
            <a:bodyPr anchor="t" rtlCol="false" tIns="0" lIns="0" bIns="0" rIns="0">
              <a:spAutoFit/>
            </a:bodyPr>
            <a:lstStyle/>
            <a:p>
              <a:pPr algn="l" marL="431801" indent="-215900" lvl="1">
                <a:lnSpc>
                  <a:spcPts val="2600"/>
                </a:lnSpc>
                <a:buFont typeface="Arial"/>
                <a:buChar char="•"/>
              </a:pPr>
              <a:r>
                <a:rPr lang="en-US" sz="2000" spc="-110">
                  <a:solidFill>
                    <a:srgbClr val="F8F7EF"/>
                  </a:solidFill>
                  <a:latin typeface="Work Sans"/>
                  <a:ea typeface="Work Sans"/>
                  <a:cs typeface="Work Sans"/>
                  <a:sym typeface="Work Sans"/>
                </a:rPr>
                <a:t>Re</a:t>
              </a:r>
              <a:r>
                <a:rPr lang="en-US" sz="2000" spc="-110">
                  <a:solidFill>
                    <a:srgbClr val="F8F7EF"/>
                  </a:solidFill>
                  <a:latin typeface="Work Sans"/>
                  <a:ea typeface="Work Sans"/>
                  <a:cs typeface="Work Sans"/>
                  <a:sym typeface="Work Sans"/>
                </a:rPr>
                <a:t>venue growth does not depend on fixing checkout.</a:t>
              </a:r>
            </a:p>
            <a:p>
              <a:pPr algn="l">
                <a:lnSpc>
                  <a:spcPts val="2600"/>
                </a:lnSpc>
              </a:pPr>
            </a:p>
            <a:p>
              <a:pPr algn="l" marL="431801" indent="-215900" lvl="1">
                <a:lnSpc>
                  <a:spcPts val="2600"/>
                </a:lnSpc>
                <a:buFont typeface="Arial"/>
                <a:buChar char="•"/>
              </a:pPr>
              <a:r>
                <a:rPr lang="en-US" sz="2000" spc="-110">
                  <a:solidFill>
                    <a:srgbClr val="F8F7EF"/>
                  </a:solidFill>
                  <a:latin typeface="Work Sans"/>
                  <a:ea typeface="Work Sans"/>
                  <a:cs typeface="Work Sans"/>
                  <a:sym typeface="Work Sans"/>
                </a:rPr>
                <a:t>Revenue growth depends on converting more of the 69% who exit at the Product View stage.</a:t>
              </a:r>
            </a:p>
            <a:p>
              <a:pPr algn="l">
                <a:lnSpc>
                  <a:spcPts val="2600"/>
                </a:lnSpc>
              </a:pPr>
            </a:p>
            <a:p>
              <a:pPr algn="l" marL="431801" indent="-215900" lvl="1">
                <a:lnSpc>
                  <a:spcPts val="2600"/>
                </a:lnSpc>
                <a:buFont typeface="Arial"/>
                <a:buChar char="•"/>
              </a:pPr>
              <a:r>
                <a:rPr lang="en-US" sz="2000" spc="-110">
                  <a:solidFill>
                    <a:srgbClr val="F8F7EF"/>
                  </a:solidFill>
                  <a:latin typeface="Work Sans"/>
                  <a:ea typeface="Work Sans"/>
                  <a:cs typeface="Work Sans"/>
                  <a:sym typeface="Work Sans"/>
                </a:rPr>
                <a:t>If we increase the View to Cart conversion rate even slightly, revenue will grow quickly because downstream conv</a:t>
              </a:r>
              <a:r>
                <a:rPr lang="en-US" sz="2000" spc="-110">
                  <a:solidFill>
                    <a:srgbClr val="F8F7EF"/>
                  </a:solidFill>
                  <a:latin typeface="Work Sans"/>
                  <a:ea typeface="Work Sans"/>
                  <a:cs typeface="Work Sans"/>
                  <a:sym typeface="Work Sans"/>
                </a:rPr>
                <a:t>ersion is already strong.</a:t>
              </a:r>
            </a:p>
            <a:p>
              <a:pPr algn="l">
                <a:lnSpc>
                  <a:spcPts val="2600"/>
                </a:lnSpc>
              </a:pPr>
            </a:p>
            <a:p>
              <a:pPr algn="l" marL="431801" indent="-215900" lvl="1">
                <a:lnSpc>
                  <a:spcPts val="2600"/>
                </a:lnSpc>
                <a:buFont typeface="Arial"/>
                <a:buChar char="•"/>
              </a:pPr>
              <a:r>
                <a:rPr lang="en-US" sz="2000" spc="-110">
                  <a:solidFill>
                    <a:srgbClr val="F8F7EF"/>
                  </a:solidFill>
                  <a:latin typeface="Work Sans"/>
                  <a:ea typeface="Work Sans"/>
                  <a:cs typeface="Work Sans"/>
                  <a:sym typeface="Work Sans"/>
                </a:rPr>
                <a:t>I</a:t>
              </a:r>
              <a:r>
                <a:rPr lang="en-US" sz="2000" spc="-110">
                  <a:solidFill>
                    <a:srgbClr val="F8F7EF"/>
                  </a:solidFill>
                  <a:latin typeface="Work Sans"/>
                  <a:ea typeface="Work Sans"/>
                  <a:cs typeface="Work Sans"/>
                  <a:sym typeface="Work Sans"/>
                </a:rPr>
                <a:t>ncreasing View to Cart conversion from 31% to 35% would pus</a:t>
              </a:r>
              <a:r>
                <a:rPr lang="en-US" sz="2000" spc="-110">
                  <a:solidFill>
                    <a:srgbClr val="F8F7EF"/>
                  </a:solidFill>
                  <a:latin typeface="Work Sans"/>
                  <a:ea typeface="Work Sans"/>
                  <a:cs typeface="Work Sans"/>
                  <a:sym typeface="Work Sans"/>
                </a:rPr>
                <a:t>h more customers into a funnel that already converts efficiently.</a:t>
              </a:r>
            </a:p>
            <a:p>
              <a:pPr algn="l">
                <a:lnSpc>
                  <a:spcPts val="2600"/>
                </a:lnSpc>
              </a:pPr>
            </a:p>
            <a:p>
              <a:pPr algn="l" marL="0" indent="0" lvl="0">
                <a:lnSpc>
                  <a:spcPts val="2600"/>
                </a:lnSpc>
              </a:pPr>
              <a:r>
                <a:rPr lang="en-US" sz="2000" spc="-110">
                  <a:solidFill>
                    <a:srgbClr val="F8F7EF"/>
                  </a:solidFill>
                  <a:latin typeface="Work Sans"/>
                  <a:ea typeface="Work Sans"/>
                  <a:cs typeface="Work Sans"/>
                  <a:sym typeface="Work Sans"/>
                </a:rPr>
                <a:t>This would increase revenue without increasing t</a:t>
              </a:r>
              <a:r>
                <a:rPr lang="en-US" sz="2000" spc="-110">
                  <a:solidFill>
                    <a:srgbClr val="F8F7EF"/>
                  </a:solidFill>
                  <a:latin typeface="Work Sans"/>
                  <a:ea typeface="Work Sans"/>
                  <a:cs typeface="Work Sans"/>
                  <a:sym typeface="Work Sans"/>
                </a:rPr>
                <a:t>raffic acquisition costs.</a:t>
              </a:r>
            </a:p>
            <a:p>
              <a:pPr algn="l" marL="0" indent="0" lvl="0">
                <a:lnSpc>
                  <a:spcPts val="2947"/>
                </a:lnSpc>
              </a:pPr>
            </a:p>
          </p:txBody>
        </p:sp>
        <p:sp>
          <p:nvSpPr>
            <p:cNvPr name="TextBox 11" id="11"/>
            <p:cNvSpPr txBox="true"/>
            <p:nvPr/>
          </p:nvSpPr>
          <p:spPr>
            <a:xfrm rot="0">
              <a:off x="0" y="104775"/>
              <a:ext cx="11194685" cy="2270972"/>
            </a:xfrm>
            <a:prstGeom prst="rect">
              <a:avLst/>
            </a:prstGeom>
          </p:spPr>
          <p:txBody>
            <a:bodyPr anchor="t" rtlCol="false" tIns="0" lIns="0" bIns="0" rIns="0">
              <a:spAutoFit/>
            </a:bodyPr>
            <a:lstStyle/>
            <a:p>
              <a:pPr algn="l" marL="0" indent="0" lvl="0">
                <a:lnSpc>
                  <a:spcPts val="6400"/>
                </a:lnSpc>
              </a:pPr>
              <a:r>
                <a:rPr lang="en-US" b="true" sz="6400" spc="-352">
                  <a:solidFill>
                    <a:srgbClr val="F8F7EF"/>
                  </a:solidFill>
                  <a:latin typeface="Work Sans Semi-Bold"/>
                  <a:ea typeface="Work Sans Semi-Bold"/>
                  <a:cs typeface="Work Sans Semi-Bold"/>
                  <a:sym typeface="Work Sans Semi-Bold"/>
                </a:rPr>
                <a:t>Revenue Insight Analysis</a:t>
              </a:r>
            </a:p>
          </p:txBody>
        </p:sp>
        <p:sp>
          <p:nvSpPr>
            <p:cNvPr name="TextBox 12" id="12"/>
            <p:cNvSpPr txBox="true"/>
            <p:nvPr/>
          </p:nvSpPr>
          <p:spPr>
            <a:xfrm rot="0">
              <a:off x="0" y="4367308"/>
              <a:ext cx="10686204" cy="667786"/>
            </a:xfrm>
            <a:prstGeom prst="rect">
              <a:avLst/>
            </a:prstGeom>
          </p:spPr>
          <p:txBody>
            <a:bodyPr anchor="t" rtlCol="false" tIns="0" lIns="0" bIns="0" rIns="0">
              <a:spAutoFit/>
            </a:bodyPr>
            <a:lstStyle/>
            <a:p>
              <a:pPr algn="l" marL="0" indent="0" lvl="0">
                <a:lnSpc>
                  <a:spcPts val="3887"/>
                </a:lnSpc>
                <a:spcBef>
                  <a:spcPct val="0"/>
                </a:spcBef>
              </a:pPr>
            </a:p>
          </p:txBody>
        </p:sp>
      </p:grpSp>
    </p:spTree>
  </p:cSld>
  <p:clrMapOvr>
    <a:masterClrMapping/>
  </p:clrMapOvr>
</p:sld>
</file>

<file path=ppt/slides/slide7.xml><?xml version="1.0" encoding="utf-8"?>
<p:sld xmlns:p="http://schemas.openxmlformats.org/presentationml/2006/main" xmlns:a="http://schemas.openxmlformats.org/drawingml/2006/main" xmlns:r="http://schemas.openxmlformats.org/officeDocument/2006/relationships">
  <p:cSld>
    <p:bg>
      <p:bgPr>
        <a:solidFill>
          <a:srgbClr val="EEE6D9"/>
        </a:solidFill>
      </p:bgPr>
    </p:bg>
    <p:spTree>
      <p:nvGrpSpPr>
        <p:cNvPr id="1" name=""/>
        <p:cNvGrpSpPr/>
        <p:nvPr/>
      </p:nvGrpSpPr>
      <p:grpSpPr>
        <a:xfrm>
          <a:off x="0" y="0"/>
          <a:ext cx="0" cy="0"/>
          <a:chOff x="0" y="0"/>
          <a:chExt cx="0" cy="0"/>
        </a:xfrm>
      </p:grpSpPr>
      <p:grpSp>
        <p:nvGrpSpPr>
          <p:cNvPr name="Group 2" id="2"/>
          <p:cNvGrpSpPr/>
          <p:nvPr/>
        </p:nvGrpSpPr>
        <p:grpSpPr>
          <a:xfrm rot="0">
            <a:off x="666750" y="266497"/>
            <a:ext cx="9994789" cy="9668214"/>
            <a:chOff x="0" y="0"/>
            <a:chExt cx="2722626" cy="2633665"/>
          </a:xfrm>
        </p:grpSpPr>
        <p:sp>
          <p:nvSpPr>
            <p:cNvPr name="Freeform 3" id="3"/>
            <p:cNvSpPr/>
            <p:nvPr/>
          </p:nvSpPr>
          <p:spPr>
            <a:xfrm flipH="false" flipV="false" rot="0">
              <a:off x="0" y="0"/>
              <a:ext cx="2722628" cy="2633665"/>
            </a:xfrm>
            <a:custGeom>
              <a:avLst/>
              <a:gdLst/>
              <a:ahLst/>
              <a:cxnLst/>
              <a:rect r="r" b="b" t="t" l="l"/>
              <a:pathLst>
                <a:path h="2633665" w="2722628">
                  <a:moveTo>
                    <a:pt x="2375669" y="0"/>
                  </a:moveTo>
                  <a:lnTo>
                    <a:pt x="148415" y="0"/>
                  </a:lnTo>
                  <a:cubicBezTo>
                    <a:pt x="66448" y="0"/>
                    <a:pt x="0" y="66448"/>
                    <a:pt x="0" y="148415"/>
                  </a:cubicBezTo>
                  <a:lnTo>
                    <a:pt x="0" y="2354273"/>
                  </a:lnTo>
                  <a:cubicBezTo>
                    <a:pt x="0" y="2390784"/>
                    <a:pt x="13458" y="2426013"/>
                    <a:pt x="37800" y="2453225"/>
                  </a:cubicBezTo>
                  <a:lnTo>
                    <a:pt x="154967" y="2584201"/>
                  </a:lnTo>
                  <a:cubicBezTo>
                    <a:pt x="183122" y="2615677"/>
                    <a:pt x="223353" y="2633666"/>
                    <a:pt x="265584" y="2633665"/>
                  </a:cubicBezTo>
                  <a:lnTo>
                    <a:pt x="2574212" y="2633665"/>
                  </a:lnTo>
                  <a:cubicBezTo>
                    <a:pt x="2613575" y="2633666"/>
                    <a:pt x="2651325" y="2618029"/>
                    <a:pt x="2679158" y="2590196"/>
                  </a:cubicBezTo>
                  <a:cubicBezTo>
                    <a:pt x="2706992" y="2562363"/>
                    <a:pt x="2722628" y="2524613"/>
                    <a:pt x="2722628" y="2485251"/>
                  </a:cubicBezTo>
                  <a:lnTo>
                    <a:pt x="2722628" y="366141"/>
                  </a:lnTo>
                  <a:cubicBezTo>
                    <a:pt x="2722629" y="329143"/>
                    <a:pt x="2708809" y="293478"/>
                    <a:pt x="2683879" y="266140"/>
                  </a:cubicBezTo>
                  <a:lnTo>
                    <a:pt x="2485336" y="48414"/>
                  </a:lnTo>
                  <a:cubicBezTo>
                    <a:pt x="2457214" y="17574"/>
                    <a:pt x="2417406" y="0"/>
                    <a:pt x="2375669" y="0"/>
                  </a:cubicBezTo>
                  <a:close/>
                </a:path>
              </a:pathLst>
            </a:custGeom>
            <a:solidFill>
              <a:srgbClr val="093C25"/>
            </a:solidFill>
          </p:spPr>
        </p:sp>
      </p:grpSp>
      <p:grpSp>
        <p:nvGrpSpPr>
          <p:cNvPr name="Group 4" id="4"/>
          <p:cNvGrpSpPr/>
          <p:nvPr/>
        </p:nvGrpSpPr>
        <p:grpSpPr>
          <a:xfrm rot="0">
            <a:off x="1466138" y="756012"/>
            <a:ext cx="8635396" cy="7283420"/>
            <a:chOff x="0" y="0"/>
            <a:chExt cx="11513861" cy="9711227"/>
          </a:xfrm>
        </p:grpSpPr>
        <p:sp>
          <p:nvSpPr>
            <p:cNvPr name="TextBox 5" id="5"/>
            <p:cNvSpPr txBox="true"/>
            <p:nvPr/>
          </p:nvSpPr>
          <p:spPr>
            <a:xfrm rot="0">
              <a:off x="0" y="1441560"/>
              <a:ext cx="11513861" cy="8269667"/>
            </a:xfrm>
            <a:prstGeom prst="rect">
              <a:avLst/>
            </a:prstGeom>
          </p:spPr>
          <p:txBody>
            <a:bodyPr anchor="t" rtlCol="false" tIns="0" lIns="0" bIns="0" rIns="0">
              <a:spAutoFit/>
            </a:bodyPr>
            <a:lstStyle/>
            <a:p>
              <a:pPr algn="l" marL="431801" indent="-215900" lvl="1">
                <a:lnSpc>
                  <a:spcPts val="2600"/>
                </a:lnSpc>
                <a:buFont typeface="Arial"/>
                <a:buChar char="•"/>
              </a:pPr>
              <a:r>
                <a:rPr lang="en-US" sz="2000" spc="-110">
                  <a:solidFill>
                    <a:srgbClr val="F8F7EF"/>
                  </a:solidFill>
                  <a:latin typeface="Work Sans"/>
                  <a:ea typeface="Work Sans"/>
                  <a:cs typeface="Work Sans"/>
                  <a:sym typeface="Work Sans"/>
                </a:rPr>
                <a:t>Improve a</a:t>
              </a:r>
              <a:r>
                <a:rPr lang="en-US" sz="2000" spc="-110">
                  <a:solidFill>
                    <a:srgbClr val="F8F7EF"/>
                  </a:solidFill>
                  <a:latin typeface="Work Sans"/>
                  <a:ea typeface="Work Sans"/>
                  <a:cs typeface="Work Sans"/>
                  <a:sym typeface="Work Sans"/>
                </a:rPr>
                <a:t>udience targeting</a:t>
              </a:r>
            </a:p>
            <a:p>
              <a:pPr algn="just">
                <a:lnSpc>
                  <a:spcPts val="2600"/>
                </a:lnSpc>
              </a:pPr>
              <a:r>
                <a:rPr lang="en-US" sz="2000" spc="-110">
                  <a:solidFill>
                    <a:srgbClr val="F8F7EF"/>
                  </a:solidFill>
                  <a:latin typeface="Work Sans"/>
                  <a:ea typeface="Work Sans"/>
                  <a:cs typeface="Work Sans"/>
                  <a:sym typeface="Work Sans"/>
                </a:rPr>
                <a:t> </a:t>
              </a:r>
            </a:p>
            <a:p>
              <a:pPr algn="just">
                <a:lnSpc>
                  <a:spcPts val="2600"/>
                </a:lnSpc>
              </a:pPr>
            </a:p>
            <a:p>
              <a:pPr algn="just">
                <a:lnSpc>
                  <a:spcPts val="2600"/>
                </a:lnSpc>
              </a:pPr>
            </a:p>
            <a:p>
              <a:pPr algn="just">
                <a:lnSpc>
                  <a:spcPts val="2600"/>
                </a:lnSpc>
              </a:pPr>
            </a:p>
            <a:p>
              <a:pPr algn="l" marL="431801" indent="-215900" lvl="1">
                <a:lnSpc>
                  <a:spcPts val="2600"/>
                </a:lnSpc>
                <a:buFont typeface="Arial"/>
                <a:buChar char="•"/>
              </a:pPr>
              <a:r>
                <a:rPr lang="en-US" sz="2000" spc="-110">
                  <a:solidFill>
                    <a:srgbClr val="F8F7EF"/>
                  </a:solidFill>
                  <a:latin typeface="Work Sans"/>
                  <a:ea typeface="Work Sans"/>
                  <a:cs typeface="Work Sans"/>
                  <a:sym typeface="Work Sans"/>
                </a:rPr>
                <a:t>Expand and diversify product offerings</a:t>
              </a:r>
            </a:p>
            <a:p>
              <a:pPr algn="l">
                <a:lnSpc>
                  <a:spcPts val="2600"/>
                </a:lnSpc>
              </a:pPr>
            </a:p>
            <a:p>
              <a:pPr algn="l">
                <a:lnSpc>
                  <a:spcPts val="2600"/>
                </a:lnSpc>
              </a:pPr>
            </a:p>
            <a:p>
              <a:pPr algn="l">
                <a:lnSpc>
                  <a:spcPts val="2600"/>
                </a:lnSpc>
              </a:pPr>
            </a:p>
            <a:p>
              <a:pPr algn="l">
                <a:lnSpc>
                  <a:spcPts val="2600"/>
                </a:lnSpc>
              </a:pPr>
            </a:p>
            <a:p>
              <a:pPr algn="l">
                <a:lnSpc>
                  <a:spcPts val="2600"/>
                </a:lnSpc>
              </a:pPr>
            </a:p>
            <a:p>
              <a:pPr algn="l">
                <a:lnSpc>
                  <a:spcPts val="2600"/>
                </a:lnSpc>
              </a:pPr>
            </a:p>
            <a:p>
              <a:pPr algn="l" marL="431801" indent="-215900" lvl="1">
                <a:lnSpc>
                  <a:spcPts val="2600"/>
                </a:lnSpc>
                <a:buFont typeface="Arial"/>
                <a:buChar char="•"/>
              </a:pPr>
              <a:r>
                <a:rPr lang="en-US" sz="2000" spc="-110">
                  <a:solidFill>
                    <a:srgbClr val="F8F7EF"/>
                  </a:solidFill>
                  <a:latin typeface="Work Sans"/>
                  <a:ea typeface="Work Sans"/>
                  <a:cs typeface="Work Sans"/>
                  <a:sym typeface="Work Sans"/>
                </a:rPr>
                <a:t>Optimise product pages</a:t>
              </a:r>
            </a:p>
            <a:p>
              <a:pPr algn="l">
                <a:lnSpc>
                  <a:spcPts val="2600"/>
                </a:lnSpc>
              </a:pPr>
            </a:p>
            <a:p>
              <a:pPr algn="l">
                <a:lnSpc>
                  <a:spcPts val="2600"/>
                </a:lnSpc>
              </a:pPr>
            </a:p>
            <a:p>
              <a:pPr algn="l">
                <a:lnSpc>
                  <a:spcPts val="2600"/>
                </a:lnSpc>
              </a:pPr>
            </a:p>
            <a:p>
              <a:pPr algn="l" marL="431801" indent="-215900" lvl="1">
                <a:lnSpc>
                  <a:spcPts val="2600"/>
                </a:lnSpc>
                <a:buFont typeface="Arial"/>
                <a:buChar char="•"/>
              </a:pPr>
              <a:r>
                <a:rPr lang="en-US" sz="2000" spc="-110">
                  <a:solidFill>
                    <a:srgbClr val="F8F7EF"/>
                  </a:solidFill>
                  <a:latin typeface="Work Sans"/>
                  <a:ea typeface="Work Sans"/>
                  <a:cs typeface="Work Sans"/>
                  <a:sym typeface="Work Sans"/>
                </a:rPr>
                <a:t>Monitor View-to-Cart as a primary growth metric</a:t>
              </a:r>
            </a:p>
            <a:p>
              <a:pPr algn="l">
                <a:lnSpc>
                  <a:spcPts val="2600"/>
                </a:lnSpc>
              </a:pPr>
            </a:p>
            <a:p>
              <a:pPr algn="l" marL="0" indent="0" lvl="0">
                <a:lnSpc>
                  <a:spcPts val="2947"/>
                </a:lnSpc>
              </a:pPr>
            </a:p>
          </p:txBody>
        </p:sp>
        <p:sp>
          <p:nvSpPr>
            <p:cNvPr name="TextBox 6" id="6"/>
            <p:cNvSpPr txBox="true"/>
            <p:nvPr/>
          </p:nvSpPr>
          <p:spPr>
            <a:xfrm rot="0">
              <a:off x="0" y="104775"/>
              <a:ext cx="10931363" cy="1191472"/>
            </a:xfrm>
            <a:prstGeom prst="rect">
              <a:avLst/>
            </a:prstGeom>
          </p:spPr>
          <p:txBody>
            <a:bodyPr anchor="t" rtlCol="false" tIns="0" lIns="0" bIns="0" rIns="0">
              <a:spAutoFit/>
            </a:bodyPr>
            <a:lstStyle/>
            <a:p>
              <a:pPr algn="l" marL="0" indent="0" lvl="0">
                <a:lnSpc>
                  <a:spcPts val="6400"/>
                </a:lnSpc>
              </a:pPr>
              <a:r>
                <a:rPr lang="en-US" b="true" sz="6400" spc="-352">
                  <a:solidFill>
                    <a:srgbClr val="F8F7EF"/>
                  </a:solidFill>
                  <a:latin typeface="Work Sans Semi-Bold"/>
                  <a:ea typeface="Work Sans Semi-Bold"/>
                  <a:cs typeface="Work Sans Semi-Bold"/>
                  <a:sym typeface="Work Sans Semi-Bold"/>
                </a:rPr>
                <a:t>Recommendations</a:t>
              </a:r>
            </a:p>
          </p:txBody>
        </p:sp>
      </p:grpSp>
      <p:grpSp>
        <p:nvGrpSpPr>
          <p:cNvPr name="Group 7" id="7"/>
          <p:cNvGrpSpPr/>
          <p:nvPr/>
        </p:nvGrpSpPr>
        <p:grpSpPr>
          <a:xfrm rot="0">
            <a:off x="12832651" y="2568395"/>
            <a:ext cx="4788599" cy="5150209"/>
            <a:chOff x="0" y="0"/>
            <a:chExt cx="2192553" cy="2358123"/>
          </a:xfrm>
        </p:grpSpPr>
        <p:sp>
          <p:nvSpPr>
            <p:cNvPr name="Freeform 8" id="8"/>
            <p:cNvSpPr/>
            <p:nvPr/>
          </p:nvSpPr>
          <p:spPr>
            <a:xfrm flipH="false" flipV="false" rot="0">
              <a:off x="0" y="0"/>
              <a:ext cx="2192553" cy="2358124"/>
            </a:xfrm>
            <a:custGeom>
              <a:avLst/>
              <a:gdLst/>
              <a:ahLst/>
              <a:cxnLst/>
              <a:rect r="r" b="b" t="t" l="l"/>
              <a:pathLst>
                <a:path h="2358124" w="2192553">
                  <a:moveTo>
                    <a:pt x="88921" y="0"/>
                  </a:moveTo>
                  <a:lnTo>
                    <a:pt x="2103632" y="0"/>
                  </a:lnTo>
                  <a:cubicBezTo>
                    <a:pt x="2152742" y="0"/>
                    <a:pt x="2192553" y="39811"/>
                    <a:pt x="2192553" y="88921"/>
                  </a:cubicBezTo>
                  <a:lnTo>
                    <a:pt x="2192553" y="2269203"/>
                  </a:lnTo>
                  <a:cubicBezTo>
                    <a:pt x="2192553" y="2318312"/>
                    <a:pt x="2152742" y="2358124"/>
                    <a:pt x="2103632" y="2358124"/>
                  </a:cubicBezTo>
                  <a:lnTo>
                    <a:pt x="88921" y="2358124"/>
                  </a:lnTo>
                  <a:cubicBezTo>
                    <a:pt x="39811" y="2358124"/>
                    <a:pt x="0" y="2318312"/>
                    <a:pt x="0" y="2269203"/>
                  </a:cubicBezTo>
                  <a:lnTo>
                    <a:pt x="0" y="88921"/>
                  </a:lnTo>
                  <a:cubicBezTo>
                    <a:pt x="0" y="39811"/>
                    <a:pt x="39811" y="0"/>
                    <a:pt x="88921" y="0"/>
                  </a:cubicBezTo>
                  <a:close/>
                </a:path>
              </a:pathLst>
            </a:custGeom>
            <a:solidFill>
              <a:srgbClr val="FFFFFF"/>
            </a:solidFill>
          </p:spPr>
        </p:sp>
        <p:sp>
          <p:nvSpPr>
            <p:cNvPr name="TextBox 9" id="9"/>
            <p:cNvSpPr txBox="true"/>
            <p:nvPr/>
          </p:nvSpPr>
          <p:spPr>
            <a:xfrm>
              <a:off x="0" y="-57150"/>
              <a:ext cx="2192553" cy="2415273"/>
            </a:xfrm>
            <a:prstGeom prst="rect">
              <a:avLst/>
            </a:prstGeom>
          </p:spPr>
          <p:txBody>
            <a:bodyPr anchor="ctr" rtlCol="false" tIns="50800" lIns="50800" bIns="50800" rIns="50800"/>
            <a:lstStyle/>
            <a:p>
              <a:pPr algn="ctr">
                <a:lnSpc>
                  <a:spcPts val="3359"/>
                </a:lnSpc>
              </a:pPr>
            </a:p>
          </p:txBody>
        </p:sp>
      </p:grpSp>
      <p:grpSp>
        <p:nvGrpSpPr>
          <p:cNvPr name="Group 10" id="10"/>
          <p:cNvGrpSpPr/>
          <p:nvPr/>
        </p:nvGrpSpPr>
        <p:grpSpPr>
          <a:xfrm rot="0">
            <a:off x="13169462" y="2869670"/>
            <a:ext cx="4114978" cy="4547661"/>
            <a:chOff x="0" y="0"/>
            <a:chExt cx="1935901" cy="2139458"/>
          </a:xfrm>
        </p:grpSpPr>
        <p:sp>
          <p:nvSpPr>
            <p:cNvPr name="Freeform 11" id="11"/>
            <p:cNvSpPr/>
            <p:nvPr/>
          </p:nvSpPr>
          <p:spPr>
            <a:xfrm flipH="false" flipV="false" rot="0">
              <a:off x="0" y="0"/>
              <a:ext cx="1935903" cy="2139471"/>
            </a:xfrm>
            <a:custGeom>
              <a:avLst/>
              <a:gdLst/>
              <a:ahLst/>
              <a:cxnLst/>
              <a:rect r="r" b="b" t="t" l="l"/>
              <a:pathLst>
                <a:path h="2139471" w="1935903">
                  <a:moveTo>
                    <a:pt x="1448460" y="0"/>
                  </a:moveTo>
                  <a:lnTo>
                    <a:pt x="177673" y="0"/>
                  </a:lnTo>
                  <a:cubicBezTo>
                    <a:pt x="79547" y="0"/>
                    <a:pt x="0" y="79547"/>
                    <a:pt x="0" y="177673"/>
                  </a:cubicBezTo>
                  <a:lnTo>
                    <a:pt x="0" y="1961798"/>
                  </a:lnTo>
                  <a:cubicBezTo>
                    <a:pt x="0" y="2059924"/>
                    <a:pt x="79547" y="2139471"/>
                    <a:pt x="177673" y="2139471"/>
                  </a:cubicBezTo>
                  <a:lnTo>
                    <a:pt x="1758230" y="2139471"/>
                  </a:lnTo>
                  <a:cubicBezTo>
                    <a:pt x="1856356" y="2139471"/>
                    <a:pt x="1935903" y="2059924"/>
                    <a:pt x="1935903" y="1961798"/>
                  </a:cubicBezTo>
                  <a:lnTo>
                    <a:pt x="1935903" y="523958"/>
                  </a:lnTo>
                  <a:cubicBezTo>
                    <a:pt x="1935903" y="480251"/>
                    <a:pt x="1919793" y="438079"/>
                    <a:pt x="1890654" y="405503"/>
                  </a:cubicBezTo>
                  <a:lnTo>
                    <a:pt x="1580877" y="59214"/>
                  </a:lnTo>
                  <a:cubicBezTo>
                    <a:pt x="1547173" y="21536"/>
                    <a:pt x="1499013" y="0"/>
                    <a:pt x="1448460" y="0"/>
                  </a:cubicBezTo>
                  <a:close/>
                </a:path>
              </a:pathLst>
            </a:custGeom>
            <a:blipFill>
              <a:blip r:embed="rId2"/>
              <a:stretch>
                <a:fillRect l="-9591" t="0" r="-9591" b="0"/>
              </a:stretch>
            </a:blipFill>
          </p:spPr>
        </p:sp>
      </p:grpSp>
      <p:sp>
        <p:nvSpPr>
          <p:cNvPr name="TextBox 12" id="12"/>
          <p:cNvSpPr txBox="true"/>
          <p:nvPr/>
        </p:nvSpPr>
        <p:spPr>
          <a:xfrm rot="0">
            <a:off x="1916837" y="2232373"/>
            <a:ext cx="8358042" cy="984250"/>
          </a:xfrm>
          <a:prstGeom prst="rect">
            <a:avLst/>
          </a:prstGeom>
        </p:spPr>
        <p:txBody>
          <a:bodyPr anchor="t" rtlCol="false" tIns="0" lIns="0" bIns="0" rIns="0">
            <a:spAutoFit/>
          </a:bodyPr>
          <a:lstStyle/>
          <a:p>
            <a:pPr algn="l">
              <a:lnSpc>
                <a:spcPts val="2600"/>
              </a:lnSpc>
            </a:pPr>
            <a:r>
              <a:rPr lang="en-US" sz="2000" spc="-110">
                <a:solidFill>
                  <a:srgbClr val="F8F7EF"/>
                </a:solidFill>
                <a:latin typeface="Work Sans"/>
                <a:ea typeface="Work Sans"/>
                <a:cs typeface="Work Sans"/>
                <a:sym typeface="Work Sans"/>
              </a:rPr>
              <a:t>Shift marketing bu</a:t>
            </a:r>
            <a:r>
              <a:rPr lang="en-US" sz="2000" spc="-110">
                <a:solidFill>
                  <a:srgbClr val="F8F7EF"/>
                </a:solidFill>
                <a:latin typeface="Work Sans"/>
                <a:ea typeface="Work Sans"/>
                <a:cs typeface="Work Sans"/>
                <a:sym typeface="Work Sans"/>
              </a:rPr>
              <a:t>dget toward high-converting channels such as Email and Paid Ads. Reassess targeting strategy for Social traffic, which converts at 7%.</a:t>
            </a:r>
          </a:p>
        </p:txBody>
      </p:sp>
      <p:sp>
        <p:nvSpPr>
          <p:cNvPr name="TextBox 13" id="13"/>
          <p:cNvSpPr txBox="true"/>
          <p:nvPr/>
        </p:nvSpPr>
        <p:spPr>
          <a:xfrm rot="0">
            <a:off x="1916837" y="7480647"/>
            <a:ext cx="8358042" cy="1631950"/>
          </a:xfrm>
          <a:prstGeom prst="rect">
            <a:avLst/>
          </a:prstGeom>
        </p:spPr>
        <p:txBody>
          <a:bodyPr anchor="t" rtlCol="false" tIns="0" lIns="0" bIns="0" rIns="0">
            <a:spAutoFit/>
          </a:bodyPr>
          <a:lstStyle/>
          <a:p>
            <a:pPr algn="l">
              <a:lnSpc>
                <a:spcPts val="2600"/>
              </a:lnSpc>
            </a:pPr>
            <a:r>
              <a:rPr lang="en-US" sz="2000" spc="-110">
                <a:solidFill>
                  <a:srgbClr val="F8F7EF"/>
                </a:solidFill>
                <a:latin typeface="Work Sans"/>
                <a:ea typeface="Work Sans"/>
                <a:cs typeface="Work Sans"/>
                <a:sym typeface="Work Sans"/>
              </a:rPr>
              <a:t>This</a:t>
            </a:r>
            <a:r>
              <a:rPr lang="en-US" sz="2000" spc="-110">
                <a:solidFill>
                  <a:srgbClr val="F8F7EF"/>
                </a:solidFill>
                <a:latin typeface="Work Sans"/>
                <a:ea typeface="Work Sans"/>
                <a:cs typeface="Work Sans"/>
                <a:sym typeface="Work Sans"/>
              </a:rPr>
              <a:t> stage has the greatest revenue impact potential. Since downstream conversion performance is strong, even a small improvement in Add-to-Cart rates could significantly increase overall revenue. The focus should be on improving product relevance and customer targeting to capture more Product View stage customers.</a:t>
            </a:r>
          </a:p>
        </p:txBody>
      </p:sp>
      <p:sp>
        <p:nvSpPr>
          <p:cNvPr name="TextBox 14" id="14"/>
          <p:cNvSpPr txBox="true"/>
          <p:nvPr/>
        </p:nvSpPr>
        <p:spPr>
          <a:xfrm rot="0">
            <a:off x="1916837" y="6163023"/>
            <a:ext cx="8358042" cy="660400"/>
          </a:xfrm>
          <a:prstGeom prst="rect">
            <a:avLst/>
          </a:prstGeom>
        </p:spPr>
        <p:txBody>
          <a:bodyPr anchor="t" rtlCol="false" tIns="0" lIns="0" bIns="0" rIns="0">
            <a:spAutoFit/>
          </a:bodyPr>
          <a:lstStyle/>
          <a:p>
            <a:pPr algn="l">
              <a:lnSpc>
                <a:spcPts val="2600"/>
              </a:lnSpc>
            </a:pPr>
            <a:r>
              <a:rPr lang="en-US" sz="2000" spc="-110">
                <a:solidFill>
                  <a:srgbClr val="F8F7EF"/>
                </a:solidFill>
                <a:latin typeface="Work Sans"/>
                <a:ea typeface="Work Sans"/>
                <a:cs typeface="Work Sans"/>
                <a:sym typeface="Work Sans"/>
              </a:rPr>
              <a:t>Improve pro</a:t>
            </a:r>
            <a:r>
              <a:rPr lang="en-US" sz="2000" spc="-110">
                <a:solidFill>
                  <a:srgbClr val="F8F7EF"/>
                </a:solidFill>
                <a:latin typeface="Work Sans"/>
                <a:ea typeface="Work Sans"/>
                <a:cs typeface="Work Sans"/>
                <a:sym typeface="Work Sans"/>
              </a:rPr>
              <a:t>duct descriptions, visuals, reviews, and pricing clarity to encourage Add to Cart behaviour from customers.</a:t>
            </a:r>
          </a:p>
        </p:txBody>
      </p:sp>
      <p:sp>
        <p:nvSpPr>
          <p:cNvPr name="TextBox 15" id="15"/>
          <p:cNvSpPr txBox="true"/>
          <p:nvPr/>
        </p:nvSpPr>
        <p:spPr>
          <a:xfrm rot="0">
            <a:off x="1916837" y="3873848"/>
            <a:ext cx="8358042" cy="1631950"/>
          </a:xfrm>
          <a:prstGeom prst="rect">
            <a:avLst/>
          </a:prstGeom>
        </p:spPr>
        <p:txBody>
          <a:bodyPr anchor="t" rtlCol="false" tIns="0" lIns="0" bIns="0" rIns="0">
            <a:spAutoFit/>
          </a:bodyPr>
          <a:lstStyle/>
          <a:p>
            <a:pPr algn="l">
              <a:lnSpc>
                <a:spcPts val="2600"/>
              </a:lnSpc>
            </a:pPr>
            <a:r>
              <a:rPr lang="en-US" sz="2000" spc="-110">
                <a:solidFill>
                  <a:srgbClr val="F8F7EF"/>
                </a:solidFill>
                <a:latin typeface="Work Sans"/>
                <a:ea typeface="Work Sans"/>
                <a:cs typeface="Work Sans"/>
                <a:sym typeface="Work Sans"/>
              </a:rPr>
              <a:t>A large number of customers leave at the Product View stage before adding anything to their cart. This suggests that many customers are not finding products that match what they expected when they clicked on our website.</a:t>
            </a:r>
            <a:r>
              <a:rPr lang="en-US" sz="2000" spc="-110">
                <a:solidFill>
                  <a:srgbClr val="F8F7EF"/>
                </a:solidFill>
                <a:latin typeface="Work Sans"/>
                <a:ea typeface="Work Sans"/>
                <a:cs typeface="Work Sans"/>
                <a:sym typeface="Work Sans"/>
              </a:rPr>
              <a:t> Introducing broader product options can capture more initial interest.</a:t>
            </a:r>
          </a:p>
        </p:txBody>
      </p:sp>
    </p:spTree>
  </p:cSld>
  <p:clrMapOvr>
    <a:masterClrMapping/>
  </p:clrMapOvr>
</p:sld>
</file>

<file path=ppt/slides/slide8.xml><?xml version="1.0" encoding="utf-8"?>
<p:sld xmlns:p="http://schemas.openxmlformats.org/presentationml/2006/main" xmlns:a="http://schemas.openxmlformats.org/drawingml/2006/main" xmlns:r="http://schemas.openxmlformats.org/officeDocument/2006/relationships">
  <p:cSld>
    <p:bg>
      <p:bgPr>
        <a:solidFill>
          <a:srgbClr val="EEE6D9"/>
        </a:solidFill>
      </p:bgPr>
    </p:bg>
    <p:spTree>
      <p:nvGrpSpPr>
        <p:cNvPr id="1" name=""/>
        <p:cNvGrpSpPr/>
        <p:nvPr/>
      </p:nvGrpSpPr>
      <p:grpSpPr>
        <a:xfrm>
          <a:off x="0" y="0"/>
          <a:ext cx="0" cy="0"/>
          <a:chOff x="0" y="0"/>
          <a:chExt cx="0" cy="0"/>
        </a:xfrm>
      </p:grpSpPr>
      <p:grpSp>
        <p:nvGrpSpPr>
          <p:cNvPr name="Group 2" id="2"/>
          <p:cNvGrpSpPr/>
          <p:nvPr/>
        </p:nvGrpSpPr>
        <p:grpSpPr>
          <a:xfrm rot="0">
            <a:off x="666750" y="666750"/>
            <a:ext cx="8324850" cy="8953500"/>
            <a:chOff x="0" y="0"/>
            <a:chExt cx="2448748" cy="2633665"/>
          </a:xfrm>
        </p:grpSpPr>
        <p:sp>
          <p:nvSpPr>
            <p:cNvPr name="Freeform 3" id="3"/>
            <p:cNvSpPr/>
            <p:nvPr/>
          </p:nvSpPr>
          <p:spPr>
            <a:xfrm flipH="false" flipV="false" rot="0">
              <a:off x="0" y="0"/>
              <a:ext cx="2448751" cy="2633665"/>
            </a:xfrm>
            <a:custGeom>
              <a:avLst/>
              <a:gdLst/>
              <a:ahLst/>
              <a:cxnLst/>
              <a:rect r="r" b="b" t="t" l="l"/>
              <a:pathLst>
                <a:path h="2633665" w="2448751">
                  <a:moveTo>
                    <a:pt x="2101792" y="0"/>
                  </a:moveTo>
                  <a:lnTo>
                    <a:pt x="148415" y="0"/>
                  </a:lnTo>
                  <a:cubicBezTo>
                    <a:pt x="66448" y="0"/>
                    <a:pt x="0" y="66448"/>
                    <a:pt x="0" y="148415"/>
                  </a:cubicBezTo>
                  <a:lnTo>
                    <a:pt x="0" y="2354273"/>
                  </a:lnTo>
                  <a:cubicBezTo>
                    <a:pt x="0" y="2390784"/>
                    <a:pt x="13458" y="2426013"/>
                    <a:pt x="37800" y="2453225"/>
                  </a:cubicBezTo>
                  <a:lnTo>
                    <a:pt x="154967" y="2584201"/>
                  </a:lnTo>
                  <a:cubicBezTo>
                    <a:pt x="183122" y="2615677"/>
                    <a:pt x="223353" y="2633666"/>
                    <a:pt x="265584" y="2633665"/>
                  </a:cubicBezTo>
                  <a:lnTo>
                    <a:pt x="2300335" y="2633665"/>
                  </a:lnTo>
                  <a:cubicBezTo>
                    <a:pt x="2339697" y="2633666"/>
                    <a:pt x="2377447" y="2618029"/>
                    <a:pt x="2405281" y="2590196"/>
                  </a:cubicBezTo>
                  <a:cubicBezTo>
                    <a:pt x="2433114" y="2562363"/>
                    <a:pt x="2448751" y="2524613"/>
                    <a:pt x="2448751" y="2485251"/>
                  </a:cubicBezTo>
                  <a:lnTo>
                    <a:pt x="2448751" y="366141"/>
                  </a:lnTo>
                  <a:cubicBezTo>
                    <a:pt x="2448751" y="329143"/>
                    <a:pt x="2434932" y="293478"/>
                    <a:pt x="2410002" y="266140"/>
                  </a:cubicBezTo>
                  <a:lnTo>
                    <a:pt x="2211459" y="48414"/>
                  </a:lnTo>
                  <a:cubicBezTo>
                    <a:pt x="2183337" y="17574"/>
                    <a:pt x="2143529" y="0"/>
                    <a:pt x="2101792" y="0"/>
                  </a:cubicBezTo>
                  <a:close/>
                </a:path>
              </a:pathLst>
            </a:custGeom>
            <a:solidFill>
              <a:srgbClr val="093C25"/>
            </a:solidFill>
          </p:spPr>
        </p:sp>
      </p:grpSp>
      <p:grpSp>
        <p:nvGrpSpPr>
          <p:cNvPr name="Group 4" id="4"/>
          <p:cNvGrpSpPr/>
          <p:nvPr/>
        </p:nvGrpSpPr>
        <p:grpSpPr>
          <a:xfrm rot="0">
            <a:off x="9296400" y="666750"/>
            <a:ext cx="8324850" cy="8953500"/>
            <a:chOff x="0" y="0"/>
            <a:chExt cx="2192553" cy="2358123"/>
          </a:xfrm>
        </p:grpSpPr>
        <p:sp>
          <p:nvSpPr>
            <p:cNvPr name="Freeform 5" id="5"/>
            <p:cNvSpPr/>
            <p:nvPr/>
          </p:nvSpPr>
          <p:spPr>
            <a:xfrm flipH="false" flipV="false" rot="0">
              <a:off x="0" y="0"/>
              <a:ext cx="2192553" cy="2358124"/>
            </a:xfrm>
            <a:custGeom>
              <a:avLst/>
              <a:gdLst/>
              <a:ahLst/>
              <a:cxnLst/>
              <a:rect r="r" b="b" t="t" l="l"/>
              <a:pathLst>
                <a:path h="2358124" w="2192553">
                  <a:moveTo>
                    <a:pt x="51149" y="0"/>
                  </a:moveTo>
                  <a:lnTo>
                    <a:pt x="2141404" y="0"/>
                  </a:lnTo>
                  <a:cubicBezTo>
                    <a:pt x="2154970" y="0"/>
                    <a:pt x="2167980" y="5389"/>
                    <a:pt x="2177572" y="14981"/>
                  </a:cubicBezTo>
                  <a:cubicBezTo>
                    <a:pt x="2187164" y="24573"/>
                    <a:pt x="2192553" y="37583"/>
                    <a:pt x="2192553" y="51149"/>
                  </a:cubicBezTo>
                  <a:lnTo>
                    <a:pt x="2192553" y="2306975"/>
                  </a:lnTo>
                  <a:cubicBezTo>
                    <a:pt x="2192553" y="2320540"/>
                    <a:pt x="2187164" y="2333550"/>
                    <a:pt x="2177572" y="2343142"/>
                  </a:cubicBezTo>
                  <a:cubicBezTo>
                    <a:pt x="2167980" y="2352735"/>
                    <a:pt x="2154970" y="2358124"/>
                    <a:pt x="2141404" y="2358124"/>
                  </a:cubicBezTo>
                  <a:lnTo>
                    <a:pt x="51149" y="2358124"/>
                  </a:lnTo>
                  <a:cubicBezTo>
                    <a:pt x="37583" y="2358124"/>
                    <a:pt x="24573" y="2352735"/>
                    <a:pt x="14981" y="2343142"/>
                  </a:cubicBezTo>
                  <a:cubicBezTo>
                    <a:pt x="5389" y="2333550"/>
                    <a:pt x="0" y="2320540"/>
                    <a:pt x="0" y="2306975"/>
                  </a:cubicBezTo>
                  <a:lnTo>
                    <a:pt x="0" y="51149"/>
                  </a:lnTo>
                  <a:cubicBezTo>
                    <a:pt x="0" y="37583"/>
                    <a:pt x="5389" y="24573"/>
                    <a:pt x="14981" y="14981"/>
                  </a:cubicBezTo>
                  <a:cubicBezTo>
                    <a:pt x="24573" y="5389"/>
                    <a:pt x="37583" y="0"/>
                    <a:pt x="51149" y="0"/>
                  </a:cubicBezTo>
                  <a:close/>
                </a:path>
              </a:pathLst>
            </a:custGeom>
            <a:solidFill>
              <a:srgbClr val="FFFFFF"/>
            </a:solidFill>
          </p:spPr>
        </p:sp>
        <p:sp>
          <p:nvSpPr>
            <p:cNvPr name="TextBox 6" id="6"/>
            <p:cNvSpPr txBox="true"/>
            <p:nvPr/>
          </p:nvSpPr>
          <p:spPr>
            <a:xfrm>
              <a:off x="0" y="-57150"/>
              <a:ext cx="2192553" cy="2415273"/>
            </a:xfrm>
            <a:prstGeom prst="rect">
              <a:avLst/>
            </a:prstGeom>
          </p:spPr>
          <p:txBody>
            <a:bodyPr anchor="ctr" rtlCol="false" tIns="50800" lIns="50800" bIns="50800" rIns="50800"/>
            <a:lstStyle/>
            <a:p>
              <a:pPr algn="ctr">
                <a:lnSpc>
                  <a:spcPts val="3359"/>
                </a:lnSpc>
              </a:pPr>
            </a:p>
          </p:txBody>
        </p:sp>
      </p:grpSp>
      <p:grpSp>
        <p:nvGrpSpPr>
          <p:cNvPr name="Group 7" id="7"/>
          <p:cNvGrpSpPr/>
          <p:nvPr/>
        </p:nvGrpSpPr>
        <p:grpSpPr>
          <a:xfrm rot="0">
            <a:off x="9881936" y="1190507"/>
            <a:ext cx="7153778" cy="7905985"/>
            <a:chOff x="0" y="0"/>
            <a:chExt cx="1935901" cy="2139458"/>
          </a:xfrm>
        </p:grpSpPr>
        <p:sp>
          <p:nvSpPr>
            <p:cNvPr name="Freeform 8" id="8"/>
            <p:cNvSpPr/>
            <p:nvPr/>
          </p:nvSpPr>
          <p:spPr>
            <a:xfrm flipH="false" flipV="false" rot="0">
              <a:off x="0" y="0"/>
              <a:ext cx="1935903" cy="2139471"/>
            </a:xfrm>
            <a:custGeom>
              <a:avLst/>
              <a:gdLst/>
              <a:ahLst/>
              <a:cxnLst/>
              <a:rect r="r" b="b" t="t" l="l"/>
              <a:pathLst>
                <a:path h="2139471" w="1935903">
                  <a:moveTo>
                    <a:pt x="1448460" y="0"/>
                  </a:moveTo>
                  <a:lnTo>
                    <a:pt x="177673" y="0"/>
                  </a:lnTo>
                  <a:cubicBezTo>
                    <a:pt x="79547" y="0"/>
                    <a:pt x="0" y="79547"/>
                    <a:pt x="0" y="177673"/>
                  </a:cubicBezTo>
                  <a:lnTo>
                    <a:pt x="0" y="1961798"/>
                  </a:lnTo>
                  <a:cubicBezTo>
                    <a:pt x="0" y="2059924"/>
                    <a:pt x="79547" y="2139471"/>
                    <a:pt x="177673" y="2139471"/>
                  </a:cubicBezTo>
                  <a:lnTo>
                    <a:pt x="1758230" y="2139471"/>
                  </a:lnTo>
                  <a:cubicBezTo>
                    <a:pt x="1856356" y="2139471"/>
                    <a:pt x="1935903" y="2059924"/>
                    <a:pt x="1935903" y="1961798"/>
                  </a:cubicBezTo>
                  <a:lnTo>
                    <a:pt x="1935903" y="523958"/>
                  </a:lnTo>
                  <a:cubicBezTo>
                    <a:pt x="1935903" y="480251"/>
                    <a:pt x="1919793" y="438079"/>
                    <a:pt x="1890654" y="405503"/>
                  </a:cubicBezTo>
                  <a:lnTo>
                    <a:pt x="1580877" y="59214"/>
                  </a:lnTo>
                  <a:cubicBezTo>
                    <a:pt x="1547173" y="21536"/>
                    <a:pt x="1499013" y="0"/>
                    <a:pt x="1448460" y="0"/>
                  </a:cubicBezTo>
                  <a:close/>
                </a:path>
              </a:pathLst>
            </a:custGeom>
            <a:blipFill>
              <a:blip r:embed="rId2"/>
              <a:stretch>
                <a:fillRect l="-353" t="0" r="-353" b="0"/>
              </a:stretch>
            </a:blipFill>
          </p:spPr>
        </p:sp>
      </p:grpSp>
      <p:sp>
        <p:nvSpPr>
          <p:cNvPr name="TextBox 9" id="9"/>
          <p:cNvSpPr txBox="true"/>
          <p:nvPr/>
        </p:nvSpPr>
        <p:spPr>
          <a:xfrm rot="0">
            <a:off x="1749429" y="4025815"/>
            <a:ext cx="6202592" cy="4459605"/>
          </a:xfrm>
          <a:prstGeom prst="rect">
            <a:avLst/>
          </a:prstGeom>
        </p:spPr>
        <p:txBody>
          <a:bodyPr anchor="t" rtlCol="false" tIns="0" lIns="0" bIns="0" rIns="0">
            <a:spAutoFit/>
          </a:bodyPr>
          <a:lstStyle/>
          <a:p>
            <a:pPr algn="l" marL="0" indent="0" lvl="0">
              <a:lnSpc>
                <a:spcPts val="2730"/>
              </a:lnSpc>
            </a:pPr>
            <a:r>
              <a:rPr lang="en-US" sz="2100" spc="-115">
                <a:solidFill>
                  <a:srgbClr val="F8F7EF"/>
                </a:solidFill>
                <a:latin typeface="Work Sans"/>
                <a:ea typeface="Work Sans"/>
                <a:cs typeface="Work Sans"/>
                <a:sym typeface="Work Sans"/>
              </a:rPr>
              <a:t>Reve</a:t>
            </a:r>
            <a:r>
              <a:rPr lang="en-US" sz="2100" spc="-115">
                <a:solidFill>
                  <a:srgbClr val="F8F7EF"/>
                </a:solidFill>
                <a:latin typeface="Work Sans"/>
                <a:ea typeface="Work Sans"/>
                <a:cs typeface="Work Sans"/>
                <a:sym typeface="Work Sans"/>
              </a:rPr>
              <a:t>nue growth does not depend on fixing checkout.</a:t>
            </a:r>
          </a:p>
          <a:p>
            <a:pPr algn="l" marL="0" indent="0" lvl="0">
              <a:lnSpc>
                <a:spcPts val="2730"/>
              </a:lnSpc>
            </a:pPr>
            <a:r>
              <a:rPr lang="en-US" sz="2100" spc="-115">
                <a:solidFill>
                  <a:srgbClr val="F8F7EF"/>
                </a:solidFill>
                <a:latin typeface="Work Sans"/>
                <a:ea typeface="Work Sans"/>
                <a:cs typeface="Work Sans"/>
                <a:sym typeface="Work Sans"/>
              </a:rPr>
              <a:t>Revenue growth depends on converting more of the 69% who exit at the Product View stage.</a:t>
            </a:r>
          </a:p>
          <a:p>
            <a:pPr algn="l" marL="0" indent="0" lvl="0">
              <a:lnSpc>
                <a:spcPts val="2730"/>
              </a:lnSpc>
            </a:pPr>
            <a:r>
              <a:rPr lang="en-US" sz="2100" spc="-115">
                <a:solidFill>
                  <a:srgbClr val="F8F7EF"/>
                </a:solidFill>
                <a:latin typeface="Work Sans"/>
                <a:ea typeface="Work Sans"/>
                <a:cs typeface="Work Sans"/>
                <a:sym typeface="Work Sans"/>
              </a:rPr>
              <a:t>Since downstream conversion is strong, even a small </a:t>
            </a:r>
            <a:r>
              <a:rPr lang="en-US" sz="2100" spc="-115">
                <a:solidFill>
                  <a:srgbClr val="F8F7EF"/>
                </a:solidFill>
                <a:latin typeface="Work Sans"/>
                <a:ea typeface="Work Sans"/>
                <a:cs typeface="Work Sans"/>
                <a:sym typeface="Work Sans"/>
              </a:rPr>
              <a:t>i</a:t>
            </a:r>
            <a:r>
              <a:rPr lang="en-US" sz="2100" spc="-115">
                <a:solidFill>
                  <a:srgbClr val="F8F7EF"/>
                </a:solidFill>
                <a:latin typeface="Work Sans"/>
                <a:ea typeface="Work Sans"/>
                <a:cs typeface="Work Sans"/>
                <a:sym typeface="Work Sans"/>
              </a:rPr>
              <a:t>n</a:t>
            </a:r>
            <a:r>
              <a:rPr lang="en-US" sz="2100" spc="-115">
                <a:solidFill>
                  <a:srgbClr val="F8F7EF"/>
                </a:solidFill>
                <a:latin typeface="Work Sans"/>
                <a:ea typeface="Work Sans"/>
                <a:cs typeface="Work Sans"/>
                <a:sym typeface="Work Sans"/>
              </a:rPr>
              <a:t>c</a:t>
            </a:r>
            <a:r>
              <a:rPr lang="en-US" sz="2100" spc="-115">
                <a:solidFill>
                  <a:srgbClr val="F8F7EF"/>
                </a:solidFill>
                <a:latin typeface="Work Sans"/>
                <a:ea typeface="Work Sans"/>
                <a:cs typeface="Work Sans"/>
                <a:sym typeface="Work Sans"/>
              </a:rPr>
              <a:t>rease </a:t>
            </a:r>
            <a:r>
              <a:rPr lang="en-US" sz="2100" spc="-115">
                <a:solidFill>
                  <a:srgbClr val="F8F7EF"/>
                </a:solidFill>
                <a:latin typeface="Work Sans"/>
                <a:ea typeface="Work Sans"/>
                <a:cs typeface="Work Sans"/>
                <a:sym typeface="Work Sans"/>
              </a:rPr>
              <a:t>in </a:t>
            </a:r>
            <a:r>
              <a:rPr lang="en-US" sz="2100" spc="-115">
                <a:solidFill>
                  <a:srgbClr val="F8F7EF"/>
                </a:solidFill>
                <a:latin typeface="Work Sans"/>
                <a:ea typeface="Work Sans"/>
                <a:cs typeface="Work Sans"/>
                <a:sym typeface="Work Sans"/>
              </a:rPr>
              <a:t>Ad</a:t>
            </a:r>
            <a:r>
              <a:rPr lang="en-US" sz="2100" spc="-115">
                <a:solidFill>
                  <a:srgbClr val="F8F7EF"/>
                </a:solidFill>
                <a:latin typeface="Work Sans"/>
                <a:ea typeface="Work Sans"/>
                <a:cs typeface="Work Sans"/>
                <a:sym typeface="Work Sans"/>
              </a:rPr>
              <a:t>d t</a:t>
            </a:r>
            <a:r>
              <a:rPr lang="en-US" sz="2100" spc="-115">
                <a:solidFill>
                  <a:srgbClr val="F8F7EF"/>
                </a:solidFill>
                <a:latin typeface="Work Sans"/>
                <a:ea typeface="Work Sans"/>
                <a:cs typeface="Work Sans"/>
                <a:sym typeface="Work Sans"/>
              </a:rPr>
              <a:t>o Ca</a:t>
            </a:r>
            <a:r>
              <a:rPr lang="en-US" sz="2100" spc="-115">
                <a:solidFill>
                  <a:srgbClr val="F8F7EF"/>
                </a:solidFill>
                <a:latin typeface="Work Sans"/>
                <a:ea typeface="Work Sans"/>
                <a:cs typeface="Work Sans"/>
                <a:sym typeface="Work Sans"/>
              </a:rPr>
              <a:t>r</a:t>
            </a:r>
            <a:r>
              <a:rPr lang="en-US" sz="2100" spc="-115">
                <a:solidFill>
                  <a:srgbClr val="F8F7EF"/>
                </a:solidFill>
                <a:latin typeface="Work Sans"/>
                <a:ea typeface="Work Sans"/>
                <a:cs typeface="Work Sans"/>
                <a:sym typeface="Work Sans"/>
              </a:rPr>
              <a:t>t rate wo</a:t>
            </a:r>
            <a:r>
              <a:rPr lang="en-US" sz="2100" spc="-115">
                <a:solidFill>
                  <a:srgbClr val="F8F7EF"/>
                </a:solidFill>
                <a:latin typeface="Work Sans"/>
                <a:ea typeface="Work Sans"/>
                <a:cs typeface="Work Sans"/>
                <a:sym typeface="Work Sans"/>
              </a:rPr>
              <a:t>u</a:t>
            </a:r>
            <a:r>
              <a:rPr lang="en-US" sz="2100" spc="-115">
                <a:solidFill>
                  <a:srgbClr val="F8F7EF"/>
                </a:solidFill>
                <a:latin typeface="Work Sans"/>
                <a:ea typeface="Work Sans"/>
                <a:cs typeface="Work Sans"/>
                <a:sym typeface="Work Sans"/>
              </a:rPr>
              <a:t>ld have a</a:t>
            </a:r>
            <a:r>
              <a:rPr lang="en-US" sz="2100" spc="-115">
                <a:solidFill>
                  <a:srgbClr val="F8F7EF"/>
                </a:solidFill>
                <a:latin typeface="Work Sans"/>
                <a:ea typeface="Work Sans"/>
                <a:cs typeface="Work Sans"/>
                <a:sym typeface="Work Sans"/>
              </a:rPr>
              <a:t> sign</a:t>
            </a:r>
            <a:r>
              <a:rPr lang="en-US" sz="2100" spc="-115">
                <a:solidFill>
                  <a:srgbClr val="F8F7EF"/>
                </a:solidFill>
                <a:latin typeface="Work Sans"/>
                <a:ea typeface="Work Sans"/>
                <a:cs typeface="Work Sans"/>
                <a:sym typeface="Work Sans"/>
              </a:rPr>
              <a:t>ific</a:t>
            </a:r>
            <a:r>
              <a:rPr lang="en-US" sz="2100" spc="-115">
                <a:solidFill>
                  <a:srgbClr val="F8F7EF"/>
                </a:solidFill>
                <a:latin typeface="Work Sans"/>
                <a:ea typeface="Work Sans"/>
                <a:cs typeface="Work Sans"/>
                <a:sym typeface="Work Sans"/>
              </a:rPr>
              <a:t>a</a:t>
            </a:r>
            <a:r>
              <a:rPr lang="en-US" sz="2100" spc="-115">
                <a:solidFill>
                  <a:srgbClr val="F8F7EF"/>
                </a:solidFill>
                <a:latin typeface="Work Sans"/>
                <a:ea typeface="Work Sans"/>
                <a:cs typeface="Work Sans"/>
                <a:sym typeface="Work Sans"/>
              </a:rPr>
              <a:t>nt revenue impact.</a:t>
            </a:r>
          </a:p>
          <a:p>
            <a:pPr algn="l" marL="0" indent="0" lvl="0">
              <a:lnSpc>
                <a:spcPts val="2730"/>
              </a:lnSpc>
            </a:pPr>
            <a:r>
              <a:rPr lang="en-US" sz="2100" spc="-115">
                <a:solidFill>
                  <a:srgbClr val="F8F7EF"/>
                </a:solidFill>
                <a:latin typeface="Work Sans"/>
                <a:ea typeface="Work Sans"/>
                <a:cs typeface="Work Sans"/>
                <a:sym typeface="Work Sans"/>
              </a:rPr>
              <a:t>For example, increasing View to Cart conversion from 31% to 35% would push more users into a funnel that already converts efficiently.</a:t>
            </a:r>
          </a:p>
          <a:p>
            <a:pPr algn="l" marL="0" indent="0" lvl="0">
              <a:lnSpc>
                <a:spcPts val="2730"/>
              </a:lnSpc>
            </a:pPr>
            <a:r>
              <a:rPr lang="en-US" sz="2100" spc="-115">
                <a:solidFill>
                  <a:srgbClr val="F8F7EF"/>
                </a:solidFill>
                <a:latin typeface="Work Sans"/>
                <a:ea typeface="Work Sans"/>
                <a:cs typeface="Work Sans"/>
                <a:sym typeface="Work Sans"/>
              </a:rPr>
              <a:t>This would increase revenue without increasing traffic acquisition costs.</a:t>
            </a:r>
          </a:p>
          <a:p>
            <a:pPr algn="l" marL="0" indent="0" lvl="0">
              <a:lnSpc>
                <a:spcPts val="2730"/>
              </a:lnSpc>
            </a:pPr>
          </a:p>
        </p:txBody>
      </p:sp>
      <p:sp>
        <p:nvSpPr>
          <p:cNvPr name="TextBox 10" id="10"/>
          <p:cNvSpPr txBox="true"/>
          <p:nvPr/>
        </p:nvSpPr>
        <p:spPr>
          <a:xfrm rot="0">
            <a:off x="1706329" y="1934930"/>
            <a:ext cx="6245691" cy="1816100"/>
          </a:xfrm>
          <a:prstGeom prst="rect">
            <a:avLst/>
          </a:prstGeom>
        </p:spPr>
        <p:txBody>
          <a:bodyPr anchor="t" rtlCol="false" tIns="0" lIns="0" bIns="0" rIns="0">
            <a:spAutoFit/>
          </a:bodyPr>
          <a:lstStyle/>
          <a:p>
            <a:pPr algn="l" marL="0" indent="0" lvl="0">
              <a:lnSpc>
                <a:spcPts val="6999"/>
              </a:lnSpc>
            </a:pPr>
            <a:r>
              <a:rPr lang="en-US" b="true" sz="6999" spc="-384">
                <a:solidFill>
                  <a:srgbClr val="F8F7EF"/>
                </a:solidFill>
                <a:latin typeface="Work Sans Semi-Bold"/>
                <a:ea typeface="Work Sans Semi-Bold"/>
                <a:cs typeface="Work Sans Semi-Bold"/>
                <a:sym typeface="Work Sans Semi-Bold"/>
              </a:rPr>
              <a:t>Revenue Insight Analysis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description>Presentation - Review of Purchase Stages</dc:description>
  <dc:identifier>DAHB7lY-Ksg</dc:identifier>
  <dcterms:modified xsi:type="dcterms:W3CDTF">2011-08-01T06:04:30Z</dcterms:modified>
  <cp:revision>1</cp:revision>
  <dc:title>Presentation - Review of Purchase Stages</dc:title>
</cp:coreProperties>
</file>