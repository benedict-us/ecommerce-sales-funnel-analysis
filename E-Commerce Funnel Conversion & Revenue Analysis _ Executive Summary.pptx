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2" r:id="rId9"/>
  </p:sldIdLst>
  <p:sldSz cx="18288000" cy="10287000"/>
  <p:notesSz cx="6858000" cy="9144000"/>
  <p:embeddedFontLst>
    <p:embeddedFont>
      <p:font typeface="Work Sans" pitchFamily="2" charset="0"/>
      <p:regular r:id="rId10"/>
    </p:embeddedFont>
    <p:embeddedFont>
      <p:font typeface="Work Sans Bold" charset="0"/>
      <p:regular r:id="rId11"/>
    </p:embeddedFont>
    <p:embeddedFont>
      <p:font typeface="Work Sans Semi-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pano Mofokeng" userId="1ca9e917-17e2-47cd-a8c4-dd96cff06eeb" providerId="ADAL" clId="{863EF9E2-CB1F-48CC-BDCD-1414537DEEAF}"/>
    <pc:docChg chg="modSld sldOrd">
      <pc:chgData name="Kopano Mofokeng" userId="1ca9e917-17e2-47cd-a8c4-dd96cff06eeb" providerId="ADAL" clId="{863EF9E2-CB1F-48CC-BDCD-1414537DEEAF}" dt="2026-03-10T05:08:39.342" v="31"/>
      <pc:docMkLst>
        <pc:docMk/>
      </pc:docMkLst>
      <pc:sldChg chg="modSp mod">
        <pc:chgData name="Kopano Mofokeng" userId="1ca9e917-17e2-47cd-a8c4-dd96cff06eeb" providerId="ADAL" clId="{863EF9E2-CB1F-48CC-BDCD-1414537DEEAF}" dt="2026-03-10T05:02:21.179" v="14" actId="20577"/>
        <pc:sldMkLst>
          <pc:docMk/>
          <pc:sldMk cId="0" sldId="257"/>
        </pc:sldMkLst>
        <pc:spChg chg="mod">
          <ac:chgData name="Kopano Mofokeng" userId="1ca9e917-17e2-47cd-a8c4-dd96cff06eeb" providerId="ADAL" clId="{863EF9E2-CB1F-48CC-BDCD-1414537DEEAF}" dt="2026-03-10T05:02:21.179" v="14" actId="20577"/>
          <ac:spMkLst>
            <pc:docMk/>
            <pc:sldMk cId="0" sldId="257"/>
            <ac:spMk id="6" creationId="{00000000-0000-0000-0000-000000000000}"/>
          </ac:spMkLst>
        </pc:spChg>
      </pc:sldChg>
      <pc:sldChg chg="modSp mod">
        <pc:chgData name="Kopano Mofokeng" userId="1ca9e917-17e2-47cd-a8c4-dd96cff06eeb" providerId="ADAL" clId="{863EF9E2-CB1F-48CC-BDCD-1414537DEEAF}" dt="2026-03-10T05:03:50.312" v="15" actId="20577"/>
        <pc:sldMkLst>
          <pc:docMk/>
          <pc:sldMk cId="0" sldId="258"/>
        </pc:sldMkLst>
        <pc:spChg chg="mod">
          <ac:chgData name="Kopano Mofokeng" userId="1ca9e917-17e2-47cd-a8c4-dd96cff06eeb" providerId="ADAL" clId="{863EF9E2-CB1F-48CC-BDCD-1414537DEEAF}" dt="2026-03-10T05:03:50.312" v="15" actId="20577"/>
          <ac:spMkLst>
            <pc:docMk/>
            <pc:sldMk cId="0" sldId="258"/>
            <ac:spMk id="11" creationId="{00000000-0000-0000-0000-000000000000}"/>
          </ac:spMkLst>
        </pc:spChg>
      </pc:sldChg>
      <pc:sldChg chg="ord">
        <pc:chgData name="Kopano Mofokeng" userId="1ca9e917-17e2-47cd-a8c4-dd96cff06eeb" providerId="ADAL" clId="{863EF9E2-CB1F-48CC-BDCD-1414537DEEAF}" dt="2026-03-10T05:08:39.342" v="31"/>
        <pc:sldMkLst>
          <pc:docMk/>
          <pc:sldMk cId="0" sldId="262"/>
        </pc:sldMkLst>
      </pc:sldChg>
      <pc:sldChg chg="modSp mod">
        <pc:chgData name="Kopano Mofokeng" userId="1ca9e917-17e2-47cd-a8c4-dd96cff06eeb" providerId="ADAL" clId="{863EF9E2-CB1F-48CC-BDCD-1414537DEEAF}" dt="2026-03-10T05:08:03.598" v="29" actId="20577"/>
        <pc:sldMkLst>
          <pc:docMk/>
          <pc:sldMk cId="0" sldId="263"/>
        </pc:sldMkLst>
        <pc:spChg chg="mod">
          <ac:chgData name="Kopano Mofokeng" userId="1ca9e917-17e2-47cd-a8c4-dd96cff06eeb" providerId="ADAL" clId="{863EF9E2-CB1F-48CC-BDCD-1414537DEEAF}" dt="2026-03-10T05:08:03.598" v="29" actId="20577"/>
          <ac:spMkLst>
            <pc:docMk/>
            <pc:sldMk cId="0" sldId="263"/>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0.sv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www.linkedin.com/in/kopanomofokeng/" TargetMode="External"/><Relationship Id="rId11" Type="http://schemas.openxmlformats.org/officeDocument/2006/relationships/image" Target="../media/image8.svg"/><Relationship Id="rId5" Type="http://schemas.openxmlformats.org/officeDocument/2006/relationships/image" Target="../media/image4.svg"/><Relationship Id="rId15" Type="http://schemas.openxmlformats.org/officeDocument/2006/relationships/image" Target="../media/image12.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hyperlink" Target="https://github.com/benedict-us/ecommerce-sales-funnel-analysis" TargetMode="External"/><Relationship Id="rId1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6954500" cy="2686050"/>
            <a:chOff x="0" y="0"/>
            <a:chExt cx="4987154" cy="790100"/>
          </a:xfrm>
        </p:grpSpPr>
        <p:sp>
          <p:nvSpPr>
            <p:cNvPr id="3" name="Freeform 3"/>
            <p:cNvSpPr/>
            <p:nvPr/>
          </p:nvSpPr>
          <p:spPr>
            <a:xfrm>
              <a:off x="0" y="0"/>
              <a:ext cx="4987156" cy="790100"/>
            </a:xfrm>
            <a:custGeom>
              <a:avLst/>
              <a:gdLst/>
              <a:ahLst/>
              <a:cxnLst/>
              <a:rect l="l" t="t" r="r" b="b"/>
              <a:pathLst>
                <a:path w="4987156" h="790100">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093C25"/>
            </a:solidFill>
          </p:spPr>
          <p:txBody>
            <a:bodyPr/>
            <a:lstStyle/>
            <a:p>
              <a:endParaRPr lang="en-ZA"/>
            </a:p>
          </p:txBody>
        </p:sp>
      </p:grpSp>
      <p:grpSp>
        <p:nvGrpSpPr>
          <p:cNvPr id="4" name="Group 4"/>
          <p:cNvGrpSpPr/>
          <p:nvPr/>
        </p:nvGrpSpPr>
        <p:grpSpPr>
          <a:xfrm>
            <a:off x="10734675" y="6779029"/>
            <a:ext cx="6886575" cy="1400933"/>
            <a:chOff x="0" y="0"/>
            <a:chExt cx="1813748" cy="368970"/>
          </a:xfrm>
        </p:grpSpPr>
        <p:sp>
          <p:nvSpPr>
            <p:cNvPr id="5" name="Freeform 5"/>
            <p:cNvSpPr/>
            <p:nvPr/>
          </p:nvSpPr>
          <p:spPr>
            <a:xfrm>
              <a:off x="0" y="0"/>
              <a:ext cx="1813748" cy="368970"/>
            </a:xfrm>
            <a:custGeom>
              <a:avLst/>
              <a:gdLst/>
              <a:ahLst/>
              <a:cxnLst/>
              <a:rect l="l" t="t" r="r" b="b"/>
              <a:pathLst>
                <a:path w="1813748" h="368970">
                  <a:moveTo>
                    <a:pt x="44968" y="0"/>
                  </a:moveTo>
                  <a:lnTo>
                    <a:pt x="1768780" y="0"/>
                  </a:lnTo>
                  <a:cubicBezTo>
                    <a:pt x="1780706" y="0"/>
                    <a:pt x="1792144" y="4738"/>
                    <a:pt x="1800577" y="13171"/>
                  </a:cubicBezTo>
                  <a:cubicBezTo>
                    <a:pt x="1809011" y="21604"/>
                    <a:pt x="1813748" y="33042"/>
                    <a:pt x="1813748" y="44968"/>
                  </a:cubicBezTo>
                  <a:lnTo>
                    <a:pt x="1813748" y="324002"/>
                  </a:lnTo>
                  <a:cubicBezTo>
                    <a:pt x="1813748" y="335928"/>
                    <a:pt x="1809011" y="347366"/>
                    <a:pt x="1800577" y="355799"/>
                  </a:cubicBezTo>
                  <a:cubicBezTo>
                    <a:pt x="1792144" y="364232"/>
                    <a:pt x="1780706" y="368970"/>
                    <a:pt x="1768780" y="368970"/>
                  </a:cubicBezTo>
                  <a:lnTo>
                    <a:pt x="44968" y="368970"/>
                  </a:lnTo>
                  <a:cubicBezTo>
                    <a:pt x="33042" y="368970"/>
                    <a:pt x="21604" y="364232"/>
                    <a:pt x="13171" y="355799"/>
                  </a:cubicBezTo>
                  <a:cubicBezTo>
                    <a:pt x="4738" y="347366"/>
                    <a:pt x="0" y="335928"/>
                    <a:pt x="0" y="324002"/>
                  </a:cubicBezTo>
                  <a:lnTo>
                    <a:pt x="0" y="44968"/>
                  </a:lnTo>
                  <a:cubicBezTo>
                    <a:pt x="0" y="33042"/>
                    <a:pt x="4738" y="21604"/>
                    <a:pt x="13171" y="13171"/>
                  </a:cubicBezTo>
                  <a:cubicBezTo>
                    <a:pt x="21604" y="4738"/>
                    <a:pt x="33042" y="0"/>
                    <a:pt x="44968" y="0"/>
                  </a:cubicBezTo>
                  <a:close/>
                </a:path>
              </a:pathLst>
            </a:custGeom>
            <a:solidFill>
              <a:srgbClr val="FFFFFF"/>
            </a:solidFill>
          </p:spPr>
          <p:txBody>
            <a:bodyPr/>
            <a:lstStyle/>
            <a:p>
              <a:endParaRPr lang="en-ZA"/>
            </a:p>
          </p:txBody>
        </p:sp>
        <p:sp>
          <p:nvSpPr>
            <p:cNvPr id="6" name="TextBox 6"/>
            <p:cNvSpPr txBox="1"/>
            <p:nvPr/>
          </p:nvSpPr>
          <p:spPr>
            <a:xfrm>
              <a:off x="0" y="-57150"/>
              <a:ext cx="1813748" cy="426120"/>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0734675" y="3657600"/>
            <a:ext cx="6886575" cy="2645179"/>
            <a:chOff x="0" y="0"/>
            <a:chExt cx="1066911" cy="409807"/>
          </a:xfrm>
        </p:grpSpPr>
        <p:sp>
          <p:nvSpPr>
            <p:cNvPr id="8" name="Freeform 8"/>
            <p:cNvSpPr/>
            <p:nvPr/>
          </p:nvSpPr>
          <p:spPr>
            <a:xfrm>
              <a:off x="0" y="0"/>
              <a:ext cx="1066911" cy="409807"/>
            </a:xfrm>
            <a:custGeom>
              <a:avLst/>
              <a:gdLst/>
              <a:ahLst/>
              <a:cxnLst/>
              <a:rect l="l" t="t" r="r" b="b"/>
              <a:pathLst>
                <a:path w="1066911" h="409807">
                  <a:moveTo>
                    <a:pt x="44968" y="0"/>
                  </a:moveTo>
                  <a:lnTo>
                    <a:pt x="1021942" y="0"/>
                  </a:lnTo>
                  <a:cubicBezTo>
                    <a:pt x="1033869" y="0"/>
                    <a:pt x="1045307" y="4738"/>
                    <a:pt x="1053740" y="13171"/>
                  </a:cubicBezTo>
                  <a:cubicBezTo>
                    <a:pt x="1062173" y="21604"/>
                    <a:pt x="1066911" y="33042"/>
                    <a:pt x="1066911" y="44968"/>
                  </a:cubicBezTo>
                  <a:lnTo>
                    <a:pt x="1066911" y="364839"/>
                  </a:lnTo>
                  <a:cubicBezTo>
                    <a:pt x="1066911" y="389675"/>
                    <a:pt x="1046778" y="409807"/>
                    <a:pt x="1021942" y="409807"/>
                  </a:cubicBezTo>
                  <a:lnTo>
                    <a:pt x="44968" y="409807"/>
                  </a:lnTo>
                  <a:cubicBezTo>
                    <a:pt x="33042" y="409807"/>
                    <a:pt x="21604" y="405070"/>
                    <a:pt x="13171" y="396637"/>
                  </a:cubicBezTo>
                  <a:cubicBezTo>
                    <a:pt x="4738" y="388203"/>
                    <a:pt x="0" y="376766"/>
                    <a:pt x="0" y="364839"/>
                  </a:cubicBezTo>
                  <a:lnTo>
                    <a:pt x="0" y="44968"/>
                  </a:lnTo>
                  <a:cubicBezTo>
                    <a:pt x="0" y="33042"/>
                    <a:pt x="4738" y="21604"/>
                    <a:pt x="13171" y="13171"/>
                  </a:cubicBezTo>
                  <a:cubicBezTo>
                    <a:pt x="21604" y="4738"/>
                    <a:pt x="33042" y="0"/>
                    <a:pt x="44968" y="0"/>
                  </a:cubicBezTo>
                  <a:close/>
                </a:path>
              </a:pathLst>
            </a:custGeom>
            <a:blipFill>
              <a:blip r:embed="rId2"/>
              <a:stretch>
                <a:fillRect t="-22896" b="-22896"/>
              </a:stretch>
            </a:blipFill>
          </p:spPr>
          <p:txBody>
            <a:bodyPr/>
            <a:lstStyle/>
            <a:p>
              <a:endParaRPr lang="en-ZA"/>
            </a:p>
          </p:txBody>
        </p:sp>
      </p:grpSp>
      <p:grpSp>
        <p:nvGrpSpPr>
          <p:cNvPr id="9" name="Group 9"/>
          <p:cNvGrpSpPr/>
          <p:nvPr/>
        </p:nvGrpSpPr>
        <p:grpSpPr>
          <a:xfrm>
            <a:off x="666750" y="3657600"/>
            <a:ext cx="9763125" cy="5962650"/>
            <a:chOff x="0" y="0"/>
            <a:chExt cx="4083676" cy="2494030"/>
          </a:xfrm>
        </p:grpSpPr>
        <p:sp>
          <p:nvSpPr>
            <p:cNvPr id="10" name="Freeform 10"/>
            <p:cNvSpPr/>
            <p:nvPr/>
          </p:nvSpPr>
          <p:spPr>
            <a:xfrm>
              <a:off x="54483" y="50038"/>
              <a:ext cx="3974583" cy="2394589"/>
            </a:xfrm>
            <a:custGeom>
              <a:avLst/>
              <a:gdLst/>
              <a:ahLst/>
              <a:cxnLst/>
              <a:rect l="l" t="t" r="r" b="b"/>
              <a:pathLst>
                <a:path w="3974583" h="2394589">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t="-209" b="-209"/>
              </a:stretch>
            </a:blipFill>
          </p:spPr>
          <p:txBody>
            <a:bodyPr/>
            <a:lstStyle/>
            <a:p>
              <a:endParaRPr lang="en-ZA"/>
            </a:p>
          </p:txBody>
        </p:sp>
        <p:sp>
          <p:nvSpPr>
            <p:cNvPr id="11" name="Freeform 11"/>
            <p:cNvSpPr/>
            <p:nvPr/>
          </p:nvSpPr>
          <p:spPr>
            <a:xfrm>
              <a:off x="0" y="0"/>
              <a:ext cx="4083549" cy="2493903"/>
            </a:xfrm>
            <a:custGeom>
              <a:avLst/>
              <a:gdLst/>
              <a:ahLst/>
              <a:cxnLst/>
              <a:rect l="l" t="t" r="r" b="b"/>
              <a:pathLst>
                <a:path w="4083549" h="2493903">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E8FF54"/>
            </a:solidFill>
          </p:spPr>
          <p:txBody>
            <a:bodyPr/>
            <a:lstStyle/>
            <a:p>
              <a:endParaRPr lang="en-ZA"/>
            </a:p>
          </p:txBody>
        </p:sp>
      </p:grpSp>
      <p:sp>
        <p:nvSpPr>
          <p:cNvPr id="12" name="Freeform 12"/>
          <p:cNvSpPr/>
          <p:nvPr/>
        </p:nvSpPr>
        <p:spPr>
          <a:xfrm>
            <a:off x="15220953" y="1376364"/>
            <a:ext cx="1266822" cy="1266822"/>
          </a:xfrm>
          <a:custGeom>
            <a:avLst/>
            <a:gdLst/>
            <a:ahLst/>
            <a:cxnLst/>
            <a:rect l="l" t="t" r="r" b="b"/>
            <a:pathLst>
              <a:path w="1266822" h="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ZA"/>
          </a:p>
        </p:txBody>
      </p:sp>
      <p:sp>
        <p:nvSpPr>
          <p:cNvPr id="13" name="Freeform 13">
            <a:hlinkClick r:id="rId6" tooltip="http://www.linkedin.com/in/kopanomofokeng/"/>
          </p:cNvPr>
          <p:cNvSpPr/>
          <p:nvPr/>
        </p:nvSpPr>
        <p:spPr>
          <a:xfrm>
            <a:off x="16637651" y="8354675"/>
            <a:ext cx="983599" cy="983599"/>
          </a:xfrm>
          <a:custGeom>
            <a:avLst/>
            <a:gdLst/>
            <a:ahLst/>
            <a:cxnLst/>
            <a:rect l="l" t="t" r="r" b="b"/>
            <a:pathLst>
              <a:path w="983599" h="983599">
                <a:moveTo>
                  <a:pt x="0" y="0"/>
                </a:moveTo>
                <a:lnTo>
                  <a:pt x="983599" y="0"/>
                </a:lnTo>
                <a:lnTo>
                  <a:pt x="983599" y="983599"/>
                </a:lnTo>
                <a:lnTo>
                  <a:pt x="0" y="98359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ZA"/>
          </a:p>
        </p:txBody>
      </p:sp>
      <p:sp>
        <p:nvSpPr>
          <p:cNvPr id="14" name="Freeform 14">
            <a:hlinkClick r:id="rId9" tooltip="https://github.com/benedict-us/ecommerce-sales-funnel-analysis"/>
          </p:cNvPr>
          <p:cNvSpPr/>
          <p:nvPr/>
        </p:nvSpPr>
        <p:spPr>
          <a:xfrm>
            <a:off x="14666596" y="8339982"/>
            <a:ext cx="998292" cy="998292"/>
          </a:xfrm>
          <a:custGeom>
            <a:avLst/>
            <a:gdLst/>
            <a:ahLst/>
            <a:cxnLst/>
            <a:rect l="l" t="t" r="r" b="b"/>
            <a:pathLst>
              <a:path w="998292" h="998292">
                <a:moveTo>
                  <a:pt x="0" y="0"/>
                </a:moveTo>
                <a:lnTo>
                  <a:pt x="998292" y="0"/>
                </a:lnTo>
                <a:lnTo>
                  <a:pt x="998292" y="998292"/>
                </a:lnTo>
                <a:lnTo>
                  <a:pt x="0" y="99829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ZA"/>
          </a:p>
        </p:txBody>
      </p:sp>
      <p:sp>
        <p:nvSpPr>
          <p:cNvPr id="15" name="Freeform 15"/>
          <p:cNvSpPr/>
          <p:nvPr/>
        </p:nvSpPr>
        <p:spPr>
          <a:xfrm>
            <a:off x="12996032" y="8646110"/>
            <a:ext cx="1374606" cy="386035"/>
          </a:xfrm>
          <a:custGeom>
            <a:avLst/>
            <a:gdLst/>
            <a:ahLst/>
            <a:cxnLst/>
            <a:rect l="l" t="t" r="r" b="b"/>
            <a:pathLst>
              <a:path w="1374606" h="386035">
                <a:moveTo>
                  <a:pt x="0" y="0"/>
                </a:moveTo>
                <a:lnTo>
                  <a:pt x="1374606" y="0"/>
                </a:lnTo>
                <a:lnTo>
                  <a:pt x="1374606" y="386035"/>
                </a:lnTo>
                <a:lnTo>
                  <a:pt x="0" y="386035"/>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ZA"/>
          </a:p>
        </p:txBody>
      </p:sp>
      <p:sp>
        <p:nvSpPr>
          <p:cNvPr id="16" name="Freeform 16"/>
          <p:cNvSpPr/>
          <p:nvPr/>
        </p:nvSpPr>
        <p:spPr>
          <a:xfrm>
            <a:off x="11001528" y="9338274"/>
            <a:ext cx="6352869" cy="714698"/>
          </a:xfrm>
          <a:custGeom>
            <a:avLst/>
            <a:gdLst/>
            <a:ahLst/>
            <a:cxnLst/>
            <a:rect l="l" t="t" r="r" b="b"/>
            <a:pathLst>
              <a:path w="6352869" h="714698">
                <a:moveTo>
                  <a:pt x="0" y="0"/>
                </a:moveTo>
                <a:lnTo>
                  <a:pt x="6352869" y="0"/>
                </a:lnTo>
                <a:lnTo>
                  <a:pt x="6352869" y="714698"/>
                </a:lnTo>
                <a:lnTo>
                  <a:pt x="0" y="714698"/>
                </a:lnTo>
                <a:lnTo>
                  <a:pt x="0" y="0"/>
                </a:lnTo>
                <a:close/>
              </a:path>
            </a:pathLst>
          </a:custGeom>
          <a:blipFill>
            <a:blip r:embed="rId14">
              <a:extLst>
                <a:ext uri="{96DAC541-7B7A-43D3-8B79-37D633B846F1}">
                  <asvg:svgBlip xmlns:asvg="http://schemas.microsoft.com/office/drawing/2016/SVG/main" r:embed="rId15"/>
                </a:ext>
              </a:extLst>
            </a:blip>
            <a:stretch>
              <a:fillRect/>
            </a:stretch>
          </a:blipFill>
          <a:ln cap="sq">
            <a:noFill/>
            <a:prstDash val="solid"/>
            <a:miter/>
          </a:ln>
        </p:spPr>
        <p:txBody>
          <a:bodyPr/>
          <a:lstStyle/>
          <a:p>
            <a:endParaRPr lang="en-ZA"/>
          </a:p>
        </p:txBody>
      </p:sp>
      <p:sp>
        <p:nvSpPr>
          <p:cNvPr id="17" name="TextBox 17"/>
          <p:cNvSpPr txBox="1"/>
          <p:nvPr/>
        </p:nvSpPr>
        <p:spPr>
          <a:xfrm>
            <a:off x="1320434" y="1168582"/>
            <a:ext cx="13424266" cy="1809755"/>
          </a:xfrm>
          <a:prstGeom prst="rect">
            <a:avLst/>
          </a:prstGeom>
        </p:spPr>
        <p:txBody>
          <a:bodyPr lIns="0" tIns="0" rIns="0" bIns="0" rtlCol="0" anchor="t">
            <a:spAutoFit/>
          </a:bodyPr>
          <a:lstStyle/>
          <a:p>
            <a:pPr marL="0" lvl="0" indent="0" algn="l">
              <a:lnSpc>
                <a:spcPts val="6840"/>
              </a:lnSpc>
            </a:pPr>
            <a:r>
              <a:rPr lang="en-US" sz="7200" b="1" spc="-396">
                <a:solidFill>
                  <a:srgbClr val="F8F7EF"/>
                </a:solidFill>
                <a:latin typeface="Work Sans Semi-Bold"/>
                <a:ea typeface="Work Sans Semi-Bold"/>
                <a:cs typeface="Work Sans Semi-Bold"/>
                <a:sym typeface="Work Sans Semi-Bold"/>
              </a:rPr>
              <a:t>E-Commerce Funnel Conversion &amp; Revenue Analysis</a:t>
            </a:r>
          </a:p>
        </p:txBody>
      </p:sp>
      <p:grpSp>
        <p:nvGrpSpPr>
          <p:cNvPr id="18" name="Group 18"/>
          <p:cNvGrpSpPr/>
          <p:nvPr/>
        </p:nvGrpSpPr>
        <p:grpSpPr>
          <a:xfrm>
            <a:off x="11376357" y="6979550"/>
            <a:ext cx="5603210" cy="999890"/>
            <a:chOff x="0" y="0"/>
            <a:chExt cx="7470947" cy="1333187"/>
          </a:xfrm>
        </p:grpSpPr>
        <p:sp>
          <p:nvSpPr>
            <p:cNvPr id="19" name="TextBox 19"/>
            <p:cNvSpPr txBox="1"/>
            <p:nvPr/>
          </p:nvSpPr>
          <p:spPr>
            <a:xfrm>
              <a:off x="0" y="-47625"/>
              <a:ext cx="7470947" cy="657225"/>
            </a:xfrm>
            <a:prstGeom prst="rect">
              <a:avLst/>
            </a:prstGeom>
          </p:spPr>
          <p:txBody>
            <a:bodyPr lIns="0" tIns="0" rIns="0" bIns="0" rtlCol="0" anchor="t">
              <a:spAutoFit/>
            </a:bodyPr>
            <a:lstStyle/>
            <a:p>
              <a:pPr marL="0" lvl="0" indent="0" algn="l">
                <a:lnSpc>
                  <a:spcPts val="3900"/>
                </a:lnSpc>
              </a:pPr>
              <a:r>
                <a:rPr lang="en-US" sz="3000" b="1" spc="-165">
                  <a:solidFill>
                    <a:srgbClr val="093C25"/>
                  </a:solidFill>
                  <a:latin typeface="Work Sans Semi-Bold"/>
                  <a:ea typeface="Work Sans Semi-Bold"/>
                  <a:cs typeface="Work Sans Semi-Bold"/>
                  <a:sym typeface="Work Sans Semi-Bold"/>
                </a:rPr>
                <a:t>Analysis by</a:t>
              </a:r>
            </a:p>
          </p:txBody>
        </p:sp>
        <p:sp>
          <p:nvSpPr>
            <p:cNvPr id="20" name="TextBox 20"/>
            <p:cNvSpPr txBox="1"/>
            <p:nvPr/>
          </p:nvSpPr>
          <p:spPr>
            <a:xfrm>
              <a:off x="0" y="675962"/>
              <a:ext cx="7470947" cy="657225"/>
            </a:xfrm>
            <a:prstGeom prst="rect">
              <a:avLst/>
            </a:prstGeom>
          </p:spPr>
          <p:txBody>
            <a:bodyPr lIns="0" tIns="0" rIns="0" bIns="0" rtlCol="0" anchor="t">
              <a:spAutoFit/>
            </a:bodyPr>
            <a:lstStyle/>
            <a:p>
              <a:pPr marL="0" lvl="0" indent="0" algn="l">
                <a:lnSpc>
                  <a:spcPts val="3900"/>
                </a:lnSpc>
              </a:pPr>
              <a:r>
                <a:rPr lang="en-US" sz="3000" spc="-165">
                  <a:solidFill>
                    <a:srgbClr val="093C25"/>
                  </a:solidFill>
                  <a:latin typeface="Work Sans"/>
                  <a:ea typeface="Work Sans"/>
                  <a:cs typeface="Work Sans"/>
                  <a:sym typeface="Work Sans"/>
                </a:rPr>
                <a:t>Kopano Mofokeng</a:t>
              </a:r>
            </a:p>
          </p:txBody>
        </p:sp>
      </p:grpSp>
      <p:sp>
        <p:nvSpPr>
          <p:cNvPr id="21" name="TextBox 21"/>
          <p:cNvSpPr txBox="1"/>
          <p:nvPr/>
        </p:nvSpPr>
        <p:spPr>
          <a:xfrm>
            <a:off x="16080606" y="8570487"/>
            <a:ext cx="141327" cy="544830"/>
          </a:xfrm>
          <a:prstGeom prst="rect">
            <a:avLst/>
          </a:prstGeom>
        </p:spPr>
        <p:txBody>
          <a:bodyPr lIns="0" tIns="0" rIns="0" bIns="0" rtlCol="0" anchor="t">
            <a:spAutoFit/>
          </a:bodyPr>
          <a:lstStyle/>
          <a:p>
            <a:pPr algn="ctr">
              <a:lnSpc>
                <a:spcPts val="4199"/>
              </a:lnSpc>
              <a:spcBef>
                <a:spcPct val="0"/>
              </a:spcBef>
            </a:pPr>
            <a:r>
              <a:rPr lang="en-US" sz="4199" b="1" spc="-230">
                <a:solidFill>
                  <a:srgbClr val="000000"/>
                </a:solidFill>
                <a:latin typeface="Work Sans Bold"/>
                <a:ea typeface="Work Sans Bold"/>
                <a:cs typeface="Work Sans Bold"/>
                <a:sym typeface="Work Sans Bold"/>
              </a:rPr>
              <a:t>|</a:t>
            </a:r>
          </a:p>
        </p:txBody>
      </p:sp>
      <p:sp>
        <p:nvSpPr>
          <p:cNvPr id="22" name="TextBox 22"/>
          <p:cNvSpPr txBox="1"/>
          <p:nvPr/>
        </p:nvSpPr>
        <p:spPr>
          <a:xfrm>
            <a:off x="11001528" y="8635892"/>
            <a:ext cx="1698546" cy="375920"/>
          </a:xfrm>
          <a:prstGeom prst="rect">
            <a:avLst/>
          </a:prstGeom>
        </p:spPr>
        <p:txBody>
          <a:bodyPr lIns="0" tIns="0" rIns="0" bIns="0" rtlCol="0" anchor="t">
            <a:spAutoFit/>
          </a:bodyPr>
          <a:lstStyle/>
          <a:p>
            <a:pPr algn="ctr">
              <a:lnSpc>
                <a:spcPts val="2799"/>
              </a:lnSpc>
              <a:spcBef>
                <a:spcPct val="0"/>
              </a:spcBef>
            </a:pPr>
            <a:r>
              <a:rPr lang="en-US" sz="2799" b="1" spc="-153">
                <a:solidFill>
                  <a:srgbClr val="000000"/>
                </a:solidFill>
                <a:latin typeface="Work Sans Bold"/>
                <a:ea typeface="Work Sans Bold"/>
                <a:cs typeface="Work Sans Bold"/>
                <a:sym typeface="Work Sans Bold"/>
              </a:rPr>
              <a:t>Click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13244896" cy="8953500"/>
            <a:chOff x="0" y="0"/>
            <a:chExt cx="2577814" cy="1742593"/>
          </a:xfrm>
        </p:grpSpPr>
        <p:sp>
          <p:nvSpPr>
            <p:cNvPr id="3" name="Freeform 3"/>
            <p:cNvSpPr/>
            <p:nvPr/>
          </p:nvSpPr>
          <p:spPr>
            <a:xfrm>
              <a:off x="0" y="0"/>
              <a:ext cx="2577814" cy="1742587"/>
            </a:xfrm>
            <a:custGeom>
              <a:avLst/>
              <a:gdLst/>
              <a:ahLst/>
              <a:cxnLst/>
              <a:rect l="l" t="t" r="r" b="b"/>
              <a:pathLst>
                <a:path w="2577814" h="1742587">
                  <a:moveTo>
                    <a:pt x="965120" y="1606277"/>
                  </a:moveTo>
                  <a:cubicBezTo>
                    <a:pt x="983327" y="1585924"/>
                    <a:pt x="1009342" y="1574291"/>
                    <a:pt x="1036650" y="1574291"/>
                  </a:cubicBezTo>
                  <a:lnTo>
                    <a:pt x="2491549" y="1574626"/>
                  </a:lnTo>
                  <a:cubicBezTo>
                    <a:pt x="2514424" y="1574639"/>
                    <a:pt x="2536366" y="1565561"/>
                    <a:pt x="2552545" y="1549390"/>
                  </a:cubicBezTo>
                  <a:cubicBezTo>
                    <a:pt x="2568724" y="1533220"/>
                    <a:pt x="2577814" y="1511283"/>
                    <a:pt x="2577814" y="1488408"/>
                  </a:cubicBezTo>
                  <a:lnTo>
                    <a:pt x="2577814" y="86219"/>
                  </a:lnTo>
                  <a:cubicBezTo>
                    <a:pt x="2577814" y="63352"/>
                    <a:pt x="2568730" y="41422"/>
                    <a:pt x="2552561" y="25253"/>
                  </a:cubicBezTo>
                  <a:cubicBezTo>
                    <a:pt x="2536392" y="9084"/>
                    <a:pt x="2514462" y="0"/>
                    <a:pt x="2491595"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close/>
                </a:path>
              </a:pathLst>
            </a:custGeom>
            <a:solidFill>
              <a:srgbClr val="FFFFFF"/>
            </a:solidFill>
          </p:spPr>
          <p:txBody>
            <a:bodyPr/>
            <a:lstStyle/>
            <a:p>
              <a:endParaRPr lang="en-ZA"/>
            </a:p>
          </p:txBody>
        </p:sp>
      </p:grpSp>
      <p:grpSp>
        <p:nvGrpSpPr>
          <p:cNvPr id="4" name="Group 4"/>
          <p:cNvGrpSpPr/>
          <p:nvPr/>
        </p:nvGrpSpPr>
        <p:grpSpPr>
          <a:xfrm>
            <a:off x="2105025" y="1562100"/>
            <a:ext cx="12639675" cy="6346788"/>
            <a:chOff x="0" y="0"/>
            <a:chExt cx="16852900" cy="8462384"/>
          </a:xfrm>
        </p:grpSpPr>
        <p:sp>
          <p:nvSpPr>
            <p:cNvPr id="5" name="TextBox 5"/>
            <p:cNvSpPr txBox="1"/>
            <p:nvPr/>
          </p:nvSpPr>
          <p:spPr>
            <a:xfrm>
              <a:off x="0" y="133350"/>
              <a:ext cx="16852900" cy="1284817"/>
            </a:xfrm>
            <a:prstGeom prst="rect">
              <a:avLst/>
            </a:prstGeom>
          </p:spPr>
          <p:txBody>
            <a:bodyPr lIns="0" tIns="0" rIns="0" bIns="0" rtlCol="0" anchor="t">
              <a:spAutoFit/>
            </a:bodyPr>
            <a:lstStyle/>
            <a:p>
              <a:pPr marL="0" lvl="0" indent="0" algn="l">
                <a:lnSpc>
                  <a:spcPts val="6999"/>
                </a:lnSpc>
              </a:pPr>
              <a:r>
                <a:rPr lang="en-US" sz="6999" b="1" u="none" strike="noStrike" spc="-384">
                  <a:solidFill>
                    <a:srgbClr val="093C25"/>
                  </a:solidFill>
                  <a:latin typeface="Work Sans Semi-Bold"/>
                  <a:ea typeface="Work Sans Semi-Bold"/>
                  <a:cs typeface="Work Sans Semi-Bold"/>
                  <a:sym typeface="Work Sans Semi-Bold"/>
                </a:rPr>
                <a:t>Business Context</a:t>
              </a:r>
            </a:p>
          </p:txBody>
        </p:sp>
        <p:sp>
          <p:nvSpPr>
            <p:cNvPr id="6" name="TextBox 6"/>
            <p:cNvSpPr txBox="1"/>
            <p:nvPr/>
          </p:nvSpPr>
          <p:spPr>
            <a:xfrm>
              <a:off x="0" y="1611369"/>
              <a:ext cx="14580202" cy="6851015"/>
            </a:xfrm>
            <a:prstGeom prst="rect">
              <a:avLst/>
            </a:prstGeom>
          </p:spPr>
          <p:txBody>
            <a:bodyPr lIns="0" tIns="0" rIns="0" bIns="0" rtlCol="0" anchor="t">
              <a:spAutoFit/>
            </a:bodyPr>
            <a:lstStyle/>
            <a:p>
              <a:pPr algn="l">
                <a:lnSpc>
                  <a:spcPts val="2730"/>
                </a:lnSpc>
              </a:pPr>
              <a:r>
                <a:rPr lang="en-US" sz="2100" spc="-115" dirty="0">
                  <a:solidFill>
                    <a:srgbClr val="093C25"/>
                  </a:solidFill>
                  <a:latin typeface="Work Sans"/>
                  <a:ea typeface="Work Sans"/>
                  <a:cs typeface="Work Sans"/>
                  <a:sym typeface="Work Sans"/>
                </a:rPr>
                <a:t>The objective of this analysis was to evaluate customer </a:t>
              </a:r>
              <a:r>
                <a:rPr lang="en-US" sz="2100" spc="-115" dirty="0" err="1">
                  <a:solidFill>
                    <a:srgbClr val="093C25"/>
                  </a:solidFill>
                  <a:latin typeface="Work Sans"/>
                  <a:ea typeface="Work Sans"/>
                  <a:cs typeface="Work Sans"/>
                  <a:sym typeface="Work Sans"/>
                </a:rPr>
                <a:t>behaviour</a:t>
              </a:r>
              <a:r>
                <a:rPr lang="en-US" sz="2100" spc="-115" dirty="0">
                  <a:solidFill>
                    <a:srgbClr val="093C25"/>
                  </a:solidFill>
                  <a:latin typeface="Work Sans"/>
                  <a:ea typeface="Work Sans"/>
                  <a:cs typeface="Work Sans"/>
                  <a:sym typeface="Work Sans"/>
                </a:rPr>
                <a:t> across the five-stage purchase journey: Product View, Add to Cart, Checkout, Payment, and Purchase.</a:t>
              </a:r>
            </a:p>
            <a:p>
              <a:pPr algn="l">
                <a:lnSpc>
                  <a:spcPts val="2730"/>
                </a:lnSpc>
              </a:pPr>
              <a:endParaRPr lang="en-US" sz="2100" spc="-115" dirty="0">
                <a:solidFill>
                  <a:srgbClr val="093C25"/>
                </a:solidFill>
                <a:latin typeface="Work Sans"/>
                <a:ea typeface="Work Sans"/>
                <a:cs typeface="Work Sans"/>
                <a:sym typeface="Work Sans"/>
              </a:endParaRPr>
            </a:p>
            <a:p>
              <a:pPr marL="0" lvl="0" indent="0" algn="l">
                <a:lnSpc>
                  <a:spcPts val="2730"/>
                </a:lnSpc>
              </a:pPr>
              <a:r>
                <a:rPr lang="en-US" sz="2100" spc="-115" dirty="0">
                  <a:solidFill>
                    <a:srgbClr val="093C25"/>
                  </a:solidFill>
                  <a:latin typeface="Work Sans"/>
                  <a:ea typeface="Work Sans"/>
                  <a:cs typeface="Work Sans"/>
                  <a:sym typeface="Work Sans"/>
                </a:rPr>
                <a:t>The purpose was to identify conversion bottlenecks, assess traffic quality, and determine where </a:t>
              </a:r>
              <a:r>
                <a:rPr lang="en-US" sz="2100" spc="-115" dirty="0" err="1">
                  <a:solidFill>
                    <a:srgbClr val="093C25"/>
                  </a:solidFill>
                  <a:latin typeface="Work Sans"/>
                  <a:ea typeface="Work Sans"/>
                  <a:cs typeface="Work Sans"/>
                  <a:sym typeface="Work Sans"/>
                </a:rPr>
                <a:t>optimisation</a:t>
              </a:r>
              <a:r>
                <a:rPr lang="en-US" sz="2100" spc="-115" dirty="0">
                  <a:solidFill>
                    <a:srgbClr val="093C25"/>
                  </a:solidFill>
                  <a:latin typeface="Work Sans"/>
                  <a:ea typeface="Work Sans"/>
                  <a:cs typeface="Work Sans"/>
                  <a:sym typeface="Work Sans"/>
                </a:rPr>
                <a:t> efforts should be focused to increase revenue efficiently.</a:t>
              </a:r>
            </a:p>
            <a:p>
              <a:pPr marL="0" lvl="0" indent="0" algn="l">
                <a:lnSpc>
                  <a:spcPts val="2730"/>
                </a:lnSpc>
              </a:pPr>
              <a:endParaRPr lang="en-US" sz="2100" spc="-115" dirty="0">
                <a:solidFill>
                  <a:srgbClr val="093C25"/>
                </a:solidFill>
                <a:latin typeface="Work Sans"/>
                <a:ea typeface="Work Sans"/>
                <a:cs typeface="Work Sans"/>
                <a:sym typeface="Work Sans"/>
              </a:endParaRPr>
            </a:p>
            <a:p>
              <a:pPr marL="0" lvl="0" indent="0" algn="l">
                <a:lnSpc>
                  <a:spcPts val="2730"/>
                </a:lnSpc>
              </a:pPr>
              <a:r>
                <a:rPr lang="en-US" sz="2100" spc="-115" dirty="0">
                  <a:solidFill>
                    <a:srgbClr val="093C25"/>
                  </a:solidFill>
                  <a:latin typeface="Work Sans"/>
                  <a:ea typeface="Work Sans"/>
                  <a:cs typeface="Work Sans"/>
                  <a:sym typeface="Work Sans"/>
                </a:rPr>
                <a:t>Specifically, the analysis sought to answer:</a:t>
              </a:r>
            </a:p>
            <a:p>
              <a:pPr marL="453390" lvl="1" indent="-226695" algn="l">
                <a:lnSpc>
                  <a:spcPts val="2730"/>
                </a:lnSpc>
                <a:buFont typeface="Arial"/>
                <a:buChar char="•"/>
              </a:pPr>
              <a:r>
                <a:rPr lang="en-US" sz="2100" spc="-115" dirty="0">
                  <a:solidFill>
                    <a:srgbClr val="093C25"/>
                  </a:solidFill>
                  <a:latin typeface="Work Sans"/>
                  <a:ea typeface="Work Sans"/>
                  <a:cs typeface="Work Sans"/>
                  <a:sym typeface="Work Sans"/>
                </a:rPr>
                <a:t>Where are customers dropping off in the funnel?</a:t>
              </a:r>
            </a:p>
            <a:p>
              <a:pPr marL="453390" lvl="1" indent="-226695" algn="l">
                <a:lnSpc>
                  <a:spcPts val="2730"/>
                </a:lnSpc>
                <a:buFont typeface="Arial"/>
                <a:buChar char="•"/>
              </a:pPr>
              <a:r>
                <a:rPr lang="en-US" sz="2100" spc="-115" dirty="0">
                  <a:solidFill>
                    <a:srgbClr val="093C25"/>
                  </a:solidFill>
                  <a:latin typeface="Work Sans"/>
                  <a:ea typeface="Work Sans"/>
                  <a:cs typeface="Work Sans"/>
                  <a:sym typeface="Work Sans"/>
                </a:rPr>
                <a:t>Which traffic sources bring high-quality users?</a:t>
              </a:r>
            </a:p>
            <a:p>
              <a:pPr marL="453390" lvl="1" indent="-226695" algn="l">
                <a:lnSpc>
                  <a:spcPts val="2730"/>
                </a:lnSpc>
                <a:buFont typeface="Arial"/>
                <a:buChar char="•"/>
              </a:pPr>
              <a:r>
                <a:rPr lang="en-US" sz="2100" spc="-115" dirty="0">
                  <a:solidFill>
                    <a:srgbClr val="093C25"/>
                  </a:solidFill>
                  <a:latin typeface="Work Sans"/>
                  <a:ea typeface="Work Sans"/>
                  <a:cs typeface="Work Sans"/>
                  <a:sym typeface="Work Sans"/>
                </a:rPr>
                <a:t>Where should </a:t>
              </a:r>
              <a:r>
                <a:rPr lang="en-US" sz="2100" spc="-115" dirty="0" err="1">
                  <a:solidFill>
                    <a:srgbClr val="093C25"/>
                  </a:solidFill>
                  <a:latin typeface="Work Sans"/>
                  <a:ea typeface="Work Sans"/>
                  <a:cs typeface="Work Sans"/>
                  <a:sym typeface="Work Sans"/>
                </a:rPr>
                <a:t>optimisation</a:t>
              </a:r>
              <a:r>
                <a:rPr lang="en-US" sz="2100" spc="-115" dirty="0">
                  <a:solidFill>
                    <a:srgbClr val="093C25"/>
                  </a:solidFill>
                  <a:latin typeface="Work Sans"/>
                  <a:ea typeface="Work Sans"/>
                  <a:cs typeface="Work Sans"/>
                  <a:sym typeface="Work Sans"/>
                </a:rPr>
                <a:t> efforts be </a:t>
              </a:r>
              <a:r>
                <a:rPr lang="en-US" sz="2100" spc="-115" dirty="0" err="1">
                  <a:solidFill>
                    <a:srgbClr val="093C25"/>
                  </a:solidFill>
                  <a:latin typeface="Work Sans"/>
                  <a:ea typeface="Work Sans"/>
                  <a:cs typeface="Work Sans"/>
                  <a:sym typeface="Work Sans"/>
                </a:rPr>
                <a:t>prioritised</a:t>
              </a:r>
              <a:r>
                <a:rPr lang="en-US" sz="2100" spc="-115" dirty="0">
                  <a:solidFill>
                    <a:srgbClr val="093C25"/>
                  </a:solidFill>
                  <a:latin typeface="Work Sans"/>
                  <a:ea typeface="Work Sans"/>
                  <a:cs typeface="Work Sans"/>
                  <a:sym typeface="Work Sans"/>
                </a:rPr>
                <a:t> to drive revenue growth?</a:t>
              </a:r>
            </a:p>
            <a:p>
              <a:pPr algn="l">
                <a:lnSpc>
                  <a:spcPts val="2730"/>
                </a:lnSpc>
              </a:pPr>
              <a:endParaRPr lang="en-US" sz="2100" spc="-115" dirty="0">
                <a:solidFill>
                  <a:srgbClr val="093C25"/>
                </a:solidFill>
                <a:latin typeface="Work Sans"/>
                <a:ea typeface="Work Sans"/>
                <a:cs typeface="Work Sans"/>
                <a:sym typeface="Work Sans"/>
              </a:endParaRPr>
            </a:p>
            <a:p>
              <a:pPr marL="0" lvl="0" indent="0" algn="l">
                <a:lnSpc>
                  <a:spcPts val="2730"/>
                </a:lnSpc>
              </a:pPr>
              <a:r>
                <a:rPr lang="en-US" sz="2100" spc="-115" dirty="0">
                  <a:solidFill>
                    <a:srgbClr val="093C25"/>
                  </a:solidFill>
                  <a:latin typeface="Work Sans"/>
                  <a:ea typeface="Work Sans"/>
                  <a:cs typeface="Work Sans"/>
                  <a:sym typeface="Work Sans"/>
                </a:rPr>
                <a:t>The analysis covers the period 04 January 2026 to 02 February 2026 and compares performance against historical benchmarks.</a:t>
              </a:r>
            </a:p>
            <a:p>
              <a:pPr marL="0" lvl="0" indent="0" algn="l">
                <a:lnSpc>
                  <a:spcPts val="2730"/>
                </a:lnSpc>
              </a:pPr>
              <a:endParaRPr lang="en-US" sz="2100" spc="-115" dirty="0">
                <a:solidFill>
                  <a:srgbClr val="093C25"/>
                </a:solidFill>
                <a:latin typeface="Work Sans"/>
                <a:ea typeface="Work Sans"/>
                <a:cs typeface="Work Sans"/>
                <a:sym typeface="Work Sans"/>
              </a:endParaRPr>
            </a:p>
            <a:p>
              <a:pPr marL="0" lvl="0" indent="0" algn="l">
                <a:lnSpc>
                  <a:spcPts val="2730"/>
                </a:lnSpc>
              </a:pPr>
              <a:endParaRPr lang="en-US" sz="2100" spc="-115" dirty="0">
                <a:solidFill>
                  <a:srgbClr val="093C25"/>
                </a:solidFill>
                <a:latin typeface="Work Sans"/>
                <a:ea typeface="Work Sans"/>
                <a:cs typeface="Work Sans"/>
                <a:sym typeface="Work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266497"/>
            <a:ext cx="9994789" cy="9668214"/>
            <a:chOff x="0" y="0"/>
            <a:chExt cx="2722626" cy="2633665"/>
          </a:xfrm>
        </p:grpSpPr>
        <p:sp>
          <p:nvSpPr>
            <p:cNvPr id="3" name="Freeform 3"/>
            <p:cNvSpPr/>
            <p:nvPr/>
          </p:nvSpPr>
          <p:spPr>
            <a:xfrm>
              <a:off x="0" y="0"/>
              <a:ext cx="2722628" cy="2633665"/>
            </a:xfrm>
            <a:custGeom>
              <a:avLst/>
              <a:gdLst/>
              <a:ahLst/>
              <a:cxnLst/>
              <a:rect l="l" t="t" r="r" b="b"/>
              <a:pathLst>
                <a:path w="2722628" h="2633665">
                  <a:moveTo>
                    <a:pt x="2375669"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574212" y="2633665"/>
                  </a:lnTo>
                  <a:cubicBezTo>
                    <a:pt x="2613575" y="2633666"/>
                    <a:pt x="2651325" y="2618029"/>
                    <a:pt x="2679158" y="2590196"/>
                  </a:cubicBezTo>
                  <a:cubicBezTo>
                    <a:pt x="2706992" y="2562363"/>
                    <a:pt x="2722628" y="2524613"/>
                    <a:pt x="2722628" y="2485251"/>
                  </a:cubicBezTo>
                  <a:lnTo>
                    <a:pt x="2722628" y="366141"/>
                  </a:lnTo>
                  <a:cubicBezTo>
                    <a:pt x="2722629" y="329143"/>
                    <a:pt x="2708809" y="293478"/>
                    <a:pt x="2683879" y="266140"/>
                  </a:cubicBezTo>
                  <a:lnTo>
                    <a:pt x="2485336" y="48414"/>
                  </a:lnTo>
                  <a:cubicBezTo>
                    <a:pt x="2457214" y="17574"/>
                    <a:pt x="2417406" y="0"/>
                    <a:pt x="2375669" y="0"/>
                  </a:cubicBezTo>
                  <a:close/>
                </a:path>
              </a:pathLst>
            </a:custGeom>
            <a:solidFill>
              <a:srgbClr val="093C25"/>
            </a:solidFill>
          </p:spPr>
          <p:txBody>
            <a:bodyPr/>
            <a:lstStyle/>
            <a:p>
              <a:endParaRPr lang="en-ZA"/>
            </a:p>
          </p:txBody>
        </p:sp>
      </p:grpSp>
      <p:grpSp>
        <p:nvGrpSpPr>
          <p:cNvPr id="4" name="Group 4"/>
          <p:cNvGrpSpPr/>
          <p:nvPr/>
        </p:nvGrpSpPr>
        <p:grpSpPr>
          <a:xfrm>
            <a:off x="11654716" y="1934952"/>
            <a:ext cx="5966534" cy="6417096"/>
            <a:chOff x="0" y="0"/>
            <a:chExt cx="2192553" cy="2358123"/>
          </a:xfrm>
        </p:grpSpPr>
        <p:sp>
          <p:nvSpPr>
            <p:cNvPr id="5" name="Freeform 5"/>
            <p:cNvSpPr/>
            <p:nvPr/>
          </p:nvSpPr>
          <p:spPr>
            <a:xfrm>
              <a:off x="0" y="0"/>
              <a:ext cx="2192553" cy="2358124"/>
            </a:xfrm>
            <a:custGeom>
              <a:avLst/>
              <a:gdLst/>
              <a:ahLst/>
              <a:cxnLst/>
              <a:rect l="l" t="t" r="r" b="b"/>
              <a:pathLst>
                <a:path w="2192553" h="2358124">
                  <a:moveTo>
                    <a:pt x="71366" y="0"/>
                  </a:moveTo>
                  <a:lnTo>
                    <a:pt x="2121188" y="0"/>
                  </a:lnTo>
                  <a:cubicBezTo>
                    <a:pt x="2160602" y="0"/>
                    <a:pt x="2192553" y="31951"/>
                    <a:pt x="2192553" y="71366"/>
                  </a:cubicBezTo>
                  <a:lnTo>
                    <a:pt x="2192553" y="2286758"/>
                  </a:lnTo>
                  <a:cubicBezTo>
                    <a:pt x="2192553" y="2326172"/>
                    <a:pt x="2160602" y="2358124"/>
                    <a:pt x="2121188" y="2358124"/>
                  </a:cubicBezTo>
                  <a:lnTo>
                    <a:pt x="71366" y="2358124"/>
                  </a:lnTo>
                  <a:cubicBezTo>
                    <a:pt x="52438" y="2358124"/>
                    <a:pt x="34286" y="2350605"/>
                    <a:pt x="20903" y="2337221"/>
                  </a:cubicBezTo>
                  <a:cubicBezTo>
                    <a:pt x="7519" y="2323837"/>
                    <a:pt x="0" y="2305685"/>
                    <a:pt x="0" y="2286758"/>
                  </a:cubicBezTo>
                  <a:lnTo>
                    <a:pt x="0" y="71366"/>
                  </a:lnTo>
                  <a:cubicBezTo>
                    <a:pt x="0" y="52438"/>
                    <a:pt x="7519" y="34286"/>
                    <a:pt x="20903" y="20903"/>
                  </a:cubicBezTo>
                  <a:cubicBezTo>
                    <a:pt x="34286" y="7519"/>
                    <a:pt x="52438" y="0"/>
                    <a:pt x="71366" y="0"/>
                  </a:cubicBezTo>
                  <a:close/>
                </a:path>
              </a:pathLst>
            </a:custGeom>
            <a:solidFill>
              <a:srgbClr val="FFFFFF"/>
            </a:solidFill>
          </p:spPr>
          <p:txBody>
            <a:bodyPr/>
            <a:lstStyle/>
            <a:p>
              <a:endParaRPr lang="en-ZA"/>
            </a:p>
          </p:txBody>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2074378" y="2310336"/>
            <a:ext cx="5127211" cy="5666328"/>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txBody>
            <a:bodyPr/>
            <a:lstStyle/>
            <a:p>
              <a:endParaRPr lang="en-ZA"/>
            </a:p>
          </p:txBody>
        </p:sp>
      </p:grpSp>
      <p:sp>
        <p:nvSpPr>
          <p:cNvPr id="9" name="Freeform 9"/>
          <p:cNvSpPr/>
          <p:nvPr/>
        </p:nvSpPr>
        <p:spPr>
          <a:xfrm>
            <a:off x="12575427" y="3216001"/>
            <a:ext cx="4125113" cy="4114800"/>
          </a:xfrm>
          <a:custGeom>
            <a:avLst/>
            <a:gdLst/>
            <a:ahLst/>
            <a:cxnLst/>
            <a:rect l="l" t="t" r="r" b="b"/>
            <a:pathLst>
              <a:path w="4125113" h="4114800">
                <a:moveTo>
                  <a:pt x="0" y="0"/>
                </a:moveTo>
                <a:lnTo>
                  <a:pt x="4125112" y="0"/>
                </a:lnTo>
                <a:lnTo>
                  <a:pt x="412511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ZA"/>
          </a:p>
        </p:txBody>
      </p:sp>
      <p:grpSp>
        <p:nvGrpSpPr>
          <p:cNvPr id="10" name="Group 10"/>
          <p:cNvGrpSpPr/>
          <p:nvPr/>
        </p:nvGrpSpPr>
        <p:grpSpPr>
          <a:xfrm>
            <a:off x="1268071" y="538697"/>
            <a:ext cx="8792146" cy="9691101"/>
            <a:chOff x="0" y="104775"/>
            <a:chExt cx="11722862" cy="12921469"/>
          </a:xfrm>
        </p:grpSpPr>
        <p:sp>
          <p:nvSpPr>
            <p:cNvPr id="11" name="TextBox 11"/>
            <p:cNvSpPr txBox="1"/>
            <p:nvPr/>
          </p:nvSpPr>
          <p:spPr>
            <a:xfrm>
              <a:off x="0" y="2521060"/>
              <a:ext cx="11722862" cy="10505184"/>
            </a:xfrm>
            <a:prstGeom prst="rect">
              <a:avLst/>
            </a:prstGeom>
          </p:spPr>
          <p:txBody>
            <a:bodyPr lIns="0" tIns="0" rIns="0" bIns="0" rtlCol="0" anchor="t">
              <a:spAutoFit/>
            </a:bodyPr>
            <a:lstStyle/>
            <a:p>
              <a:pPr marL="0" lvl="0" indent="0" algn="l">
                <a:lnSpc>
                  <a:spcPts val="2600"/>
                </a:lnSpc>
              </a:pPr>
              <a:r>
                <a:rPr lang="en-US" sz="2000" spc="-110" dirty="0">
                  <a:solidFill>
                    <a:srgbClr val="F8F7EF"/>
                  </a:solidFill>
                  <a:latin typeface="Work Sans"/>
                  <a:ea typeface="Work Sans"/>
                  <a:cs typeface="Work Sans"/>
                  <a:sym typeface="Work Sans"/>
                </a:rPr>
                <a:t>All-Time Data</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5,000 Product Viewers</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826 Purchases</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All-time conversion rate: 16.52%</a:t>
              </a:r>
            </a:p>
            <a:p>
              <a:pPr algn="l">
                <a:lnSpc>
                  <a:spcPts val="2600"/>
                </a:lnSpc>
              </a:pPr>
              <a:endParaRPr lang="en-US" sz="2000" spc="-110" dirty="0">
                <a:solidFill>
                  <a:srgbClr val="F8F7EF"/>
                </a:solidFill>
                <a:latin typeface="Work Sans"/>
                <a:ea typeface="Work Sans"/>
                <a:cs typeface="Work Sans"/>
                <a:sym typeface="Work Sans"/>
              </a:endParaRPr>
            </a:p>
            <a:p>
              <a:pPr marL="0" lvl="0" indent="0" algn="l">
                <a:lnSpc>
                  <a:spcPts val="2600"/>
                </a:lnSpc>
              </a:pPr>
              <a:r>
                <a:rPr lang="en-US" sz="2000" spc="-110" dirty="0">
                  <a:solidFill>
                    <a:srgbClr val="F8F7EF"/>
                  </a:solidFill>
                  <a:latin typeface="Work Sans"/>
                  <a:ea typeface="Work Sans"/>
                  <a:cs typeface="Work Sans"/>
                  <a:sym typeface="Work Sans"/>
                </a:rPr>
                <a:t>Analysis Period Funnel Data</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4,272 Product Views</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1,334 Add to Cart</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951 Checkout</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767 Payment Page</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706 Purchases</a:t>
              </a:r>
            </a:p>
            <a:p>
              <a:pPr marL="0" lvl="0" indent="0" algn="l">
                <a:lnSpc>
                  <a:spcPts val="2600"/>
                </a:lnSpc>
              </a:pPr>
              <a:r>
                <a:rPr lang="en-US" sz="2000" spc="-110" dirty="0">
                  <a:solidFill>
                    <a:srgbClr val="F8F7EF"/>
                  </a:solidFill>
                  <a:latin typeface="Work Sans"/>
                  <a:ea typeface="Work Sans"/>
                  <a:cs typeface="Work Sans"/>
                  <a:sym typeface="Work Sans"/>
                </a:rPr>
                <a:t>30-day conversion rate: 16.53%</a:t>
              </a:r>
            </a:p>
            <a:p>
              <a:pPr marL="0" lvl="0" indent="0" algn="l">
                <a:lnSpc>
                  <a:spcPts val="2600"/>
                </a:lnSpc>
              </a:pPr>
              <a:endParaRPr lang="en-US" sz="2000" spc="-110" dirty="0">
                <a:solidFill>
                  <a:srgbClr val="F8F7EF"/>
                </a:solidFill>
                <a:latin typeface="Work Sans"/>
                <a:ea typeface="Work Sans"/>
                <a:cs typeface="Work Sans"/>
                <a:sym typeface="Work Sans"/>
              </a:endParaRPr>
            </a:p>
            <a:p>
              <a:pPr marL="0" lvl="0" indent="0" algn="l">
                <a:lnSpc>
                  <a:spcPts val="2600"/>
                </a:lnSpc>
              </a:pPr>
              <a:r>
                <a:rPr lang="en-US" sz="2000" spc="-110" dirty="0">
                  <a:solidFill>
                    <a:srgbClr val="F8F7EF"/>
                  </a:solidFill>
                  <a:latin typeface="Work Sans"/>
                  <a:ea typeface="Work Sans"/>
                  <a:cs typeface="Work Sans"/>
                  <a:sym typeface="Work Sans"/>
                </a:rPr>
                <a:t>The largest drop-off occurs at the Product View stage. But once customers add items to their cart, conversion performance strengthens significantly:</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More than half proceed to checkout</a:t>
              </a:r>
            </a:p>
            <a:p>
              <a:pPr marL="431801" lvl="1" indent="-215900" algn="l">
                <a:lnSpc>
                  <a:spcPts val="2600"/>
                </a:lnSpc>
                <a:buFont typeface="Arial"/>
                <a:buChar char="•"/>
              </a:pPr>
              <a:r>
                <a:rPr lang="en-US" sz="2000" spc="-110" dirty="0">
                  <a:solidFill>
                    <a:srgbClr val="F8F7EF"/>
                  </a:solidFill>
                  <a:latin typeface="Work Sans"/>
                  <a:ea typeface="Work Sans"/>
                  <a:cs typeface="Work Sans"/>
                  <a:sym typeface="Work Sans"/>
                </a:rPr>
                <a:t>92% successfully complete payment</a:t>
              </a:r>
            </a:p>
            <a:p>
              <a:pPr marL="0" lvl="0" indent="0" algn="l">
                <a:lnSpc>
                  <a:spcPts val="2947"/>
                </a:lnSpc>
              </a:pPr>
              <a:endParaRPr lang="en-US" sz="2000" spc="-110" dirty="0">
                <a:solidFill>
                  <a:srgbClr val="F8F7EF"/>
                </a:solidFill>
                <a:latin typeface="Work Sans"/>
                <a:ea typeface="Work Sans"/>
                <a:cs typeface="Work Sans"/>
                <a:sym typeface="Work Sans"/>
              </a:endParaRPr>
            </a:p>
            <a:p>
              <a:pPr marL="0" lvl="0" indent="0" algn="l">
                <a:lnSpc>
                  <a:spcPts val="2947"/>
                </a:lnSpc>
              </a:pPr>
              <a:r>
                <a:rPr lang="en-US" sz="2267" spc="-124" dirty="0">
                  <a:solidFill>
                    <a:srgbClr val="F8F7EF"/>
                  </a:solidFill>
                  <a:latin typeface="Work Sans"/>
                  <a:ea typeface="Work Sans"/>
                  <a:cs typeface="Work Sans"/>
                  <a:sym typeface="Work Sans"/>
                </a:rPr>
                <a:t>The similarity between the all-time conversion rate (16.52%) and the last 30-day rate (16.53%) indicates consistent funnel performance over time. The primary issue is not transaction failure, It is early-stage disengagement</a:t>
              </a:r>
            </a:p>
            <a:p>
              <a:pPr marL="0" lvl="0" indent="0" algn="l">
                <a:lnSpc>
                  <a:spcPts val="2947"/>
                </a:lnSpc>
              </a:pPr>
              <a:endParaRPr lang="en-US" sz="2267" spc="-124" dirty="0">
                <a:solidFill>
                  <a:srgbClr val="F8F7EF"/>
                </a:solidFill>
                <a:latin typeface="Work Sans"/>
                <a:ea typeface="Work Sans"/>
                <a:cs typeface="Work Sans"/>
                <a:sym typeface="Work Sans"/>
              </a:endParaRPr>
            </a:p>
          </p:txBody>
        </p:sp>
        <p:sp>
          <p:nvSpPr>
            <p:cNvPr id="12" name="TextBox 12"/>
            <p:cNvSpPr txBox="1"/>
            <p:nvPr/>
          </p:nvSpPr>
          <p:spPr>
            <a:xfrm>
              <a:off x="0" y="104775"/>
              <a:ext cx="11129790" cy="2270972"/>
            </a:xfrm>
            <a:prstGeom prst="rect">
              <a:avLst/>
            </a:prstGeom>
          </p:spPr>
          <p:txBody>
            <a:bodyPr lIns="0" tIns="0" rIns="0" bIns="0" rtlCol="0" anchor="t">
              <a:spAutoFit/>
            </a:bodyPr>
            <a:lstStyle/>
            <a:p>
              <a:pPr marL="0" lvl="0" indent="0" algn="l">
                <a:lnSpc>
                  <a:spcPts val="6400"/>
                </a:lnSpc>
              </a:pPr>
              <a:r>
                <a:rPr lang="en-US" sz="6400" b="1" spc="-352">
                  <a:solidFill>
                    <a:srgbClr val="F8F7EF"/>
                  </a:solidFill>
                  <a:latin typeface="Work Sans Semi-Bold"/>
                  <a:ea typeface="Work Sans Semi-Bold"/>
                  <a:cs typeface="Work Sans Semi-Bold"/>
                  <a:sym typeface="Work Sans Semi-Bold"/>
                </a:rPr>
                <a:t>Funnel Performance Analysis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266497"/>
            <a:ext cx="9994789" cy="9668214"/>
            <a:chOff x="0" y="0"/>
            <a:chExt cx="2722626" cy="2633665"/>
          </a:xfrm>
        </p:grpSpPr>
        <p:sp>
          <p:nvSpPr>
            <p:cNvPr id="3" name="Freeform 3"/>
            <p:cNvSpPr/>
            <p:nvPr/>
          </p:nvSpPr>
          <p:spPr>
            <a:xfrm>
              <a:off x="0" y="0"/>
              <a:ext cx="2722628" cy="2633665"/>
            </a:xfrm>
            <a:custGeom>
              <a:avLst/>
              <a:gdLst/>
              <a:ahLst/>
              <a:cxnLst/>
              <a:rect l="l" t="t" r="r" b="b"/>
              <a:pathLst>
                <a:path w="2722628" h="2633665">
                  <a:moveTo>
                    <a:pt x="2375669"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574212" y="2633665"/>
                  </a:lnTo>
                  <a:cubicBezTo>
                    <a:pt x="2613575" y="2633666"/>
                    <a:pt x="2651325" y="2618029"/>
                    <a:pt x="2679158" y="2590196"/>
                  </a:cubicBezTo>
                  <a:cubicBezTo>
                    <a:pt x="2706992" y="2562363"/>
                    <a:pt x="2722628" y="2524613"/>
                    <a:pt x="2722628" y="2485251"/>
                  </a:cubicBezTo>
                  <a:lnTo>
                    <a:pt x="2722628" y="366141"/>
                  </a:lnTo>
                  <a:cubicBezTo>
                    <a:pt x="2722629" y="329143"/>
                    <a:pt x="2708809" y="293478"/>
                    <a:pt x="2683879" y="266140"/>
                  </a:cubicBezTo>
                  <a:lnTo>
                    <a:pt x="2485336" y="48414"/>
                  </a:lnTo>
                  <a:cubicBezTo>
                    <a:pt x="2457214" y="17574"/>
                    <a:pt x="2417406" y="0"/>
                    <a:pt x="2375669" y="0"/>
                  </a:cubicBezTo>
                  <a:close/>
                </a:path>
              </a:pathLst>
            </a:custGeom>
            <a:solidFill>
              <a:srgbClr val="093C25"/>
            </a:solidFill>
          </p:spPr>
          <p:txBody>
            <a:bodyPr/>
            <a:lstStyle/>
            <a:p>
              <a:endParaRPr lang="en-ZA"/>
            </a:p>
          </p:txBody>
        </p:sp>
      </p:grpSp>
      <p:grpSp>
        <p:nvGrpSpPr>
          <p:cNvPr id="4" name="Group 4"/>
          <p:cNvGrpSpPr/>
          <p:nvPr/>
        </p:nvGrpSpPr>
        <p:grpSpPr>
          <a:xfrm>
            <a:off x="1466138" y="756012"/>
            <a:ext cx="8843411" cy="6959570"/>
            <a:chOff x="0" y="0"/>
            <a:chExt cx="11791215" cy="9279427"/>
          </a:xfrm>
        </p:grpSpPr>
        <p:sp>
          <p:nvSpPr>
            <p:cNvPr id="5" name="TextBox 5"/>
            <p:cNvSpPr txBox="1"/>
            <p:nvPr/>
          </p:nvSpPr>
          <p:spPr>
            <a:xfrm>
              <a:off x="0" y="1441560"/>
              <a:ext cx="11791215" cy="7837867"/>
            </a:xfrm>
            <a:prstGeom prst="rect">
              <a:avLst/>
            </a:prstGeom>
          </p:spPr>
          <p:txBody>
            <a:bodyPr lIns="0" tIns="0" rIns="0" bIns="0" rtlCol="0" anchor="t">
              <a:spAutoFit/>
            </a:bodyPr>
            <a:lstStyle/>
            <a:p>
              <a:pPr algn="l">
                <a:lnSpc>
                  <a:spcPts val="2600"/>
                </a:lnSpc>
              </a:pPr>
              <a:r>
                <a:rPr lang="en-US" sz="2000" spc="-110">
                  <a:solidFill>
                    <a:srgbClr val="F8F7EF"/>
                  </a:solidFill>
                  <a:latin typeface="Work Sans"/>
                  <a:ea typeface="Work Sans"/>
                  <a:cs typeface="Work Sans"/>
                  <a:sym typeface="Work Sans"/>
                </a:rPr>
                <a:t>Conversion performance varies significantly by channel:</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Email: 448 customers, 151 purchases = 34% conversion</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Paid Ads: 821 customers, 173 purchases = 21% conversion</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Organic: 1,750 customers, 298 purchases = 17% conversion</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Social: 1,253 customers, 84 purchases = 7% conversion</a:t>
              </a:r>
            </a:p>
            <a:p>
              <a:pPr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This indicates that not all traffic is equally aligned with the product offering.</a:t>
              </a: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Social traffic, despite generating customers or visits, converts at less than one fifth of Email performance.</a:t>
              </a: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While Social drives traffic volume, it underperforms in conversion efficiency compared to Email and Paid Ads, indicating lower purchase intent</a:t>
              </a: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Traffic quality plays a major role in funnel progression.</a:t>
              </a: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947"/>
                </a:lnSpc>
              </a:pPr>
              <a:endParaRPr lang="en-US" sz="2000" spc="-110">
                <a:solidFill>
                  <a:srgbClr val="F8F7EF"/>
                </a:solidFill>
                <a:latin typeface="Work Sans"/>
                <a:ea typeface="Work Sans"/>
                <a:cs typeface="Work Sans"/>
                <a:sym typeface="Work Sans"/>
              </a:endParaRPr>
            </a:p>
          </p:txBody>
        </p:sp>
        <p:sp>
          <p:nvSpPr>
            <p:cNvPr id="6" name="TextBox 6"/>
            <p:cNvSpPr txBox="1"/>
            <p:nvPr/>
          </p:nvSpPr>
          <p:spPr>
            <a:xfrm>
              <a:off x="0" y="104775"/>
              <a:ext cx="11194685" cy="1191472"/>
            </a:xfrm>
            <a:prstGeom prst="rect">
              <a:avLst/>
            </a:prstGeom>
          </p:spPr>
          <p:txBody>
            <a:bodyPr lIns="0" tIns="0" rIns="0" bIns="0" rtlCol="0" anchor="t">
              <a:spAutoFit/>
            </a:bodyPr>
            <a:lstStyle/>
            <a:p>
              <a:pPr marL="0" lvl="0" indent="0" algn="l">
                <a:lnSpc>
                  <a:spcPts val="6400"/>
                </a:lnSpc>
              </a:pPr>
              <a:r>
                <a:rPr lang="en-US" sz="6400" b="1" spc="-352">
                  <a:solidFill>
                    <a:srgbClr val="F8F7EF"/>
                  </a:solidFill>
                  <a:latin typeface="Work Sans Semi-Bold"/>
                  <a:ea typeface="Work Sans Semi-Bold"/>
                  <a:cs typeface="Work Sans Semi-Bold"/>
                  <a:sym typeface="Work Sans Semi-Bold"/>
                </a:rPr>
                <a:t>Traffic Source Analysis</a:t>
              </a:r>
            </a:p>
          </p:txBody>
        </p:sp>
        <p:sp>
          <p:nvSpPr>
            <p:cNvPr id="7" name="TextBox 7"/>
            <p:cNvSpPr txBox="1"/>
            <p:nvPr/>
          </p:nvSpPr>
          <p:spPr>
            <a:xfrm>
              <a:off x="0" y="3287808"/>
              <a:ext cx="10686204" cy="667786"/>
            </a:xfrm>
            <a:prstGeom prst="rect">
              <a:avLst/>
            </a:prstGeom>
          </p:spPr>
          <p:txBody>
            <a:bodyPr lIns="0" tIns="0" rIns="0" bIns="0" rtlCol="0" anchor="t">
              <a:spAutoFit/>
            </a:bodyPr>
            <a:lstStyle/>
            <a:p>
              <a:pPr marL="0" lvl="0" indent="0" algn="l">
                <a:lnSpc>
                  <a:spcPts val="3887"/>
                </a:lnSpc>
                <a:spcBef>
                  <a:spcPct val="0"/>
                </a:spcBef>
              </a:pPr>
              <a:endParaRPr/>
            </a:p>
          </p:txBody>
        </p:sp>
      </p:grpSp>
      <p:grpSp>
        <p:nvGrpSpPr>
          <p:cNvPr id="8" name="Group 8"/>
          <p:cNvGrpSpPr/>
          <p:nvPr/>
        </p:nvGrpSpPr>
        <p:grpSpPr>
          <a:xfrm>
            <a:off x="12901989" y="2568395"/>
            <a:ext cx="4788599" cy="5150209"/>
            <a:chOff x="0" y="0"/>
            <a:chExt cx="2192553" cy="2358123"/>
          </a:xfrm>
        </p:grpSpPr>
        <p:sp>
          <p:nvSpPr>
            <p:cNvPr id="9" name="Freeform 9"/>
            <p:cNvSpPr/>
            <p:nvPr/>
          </p:nvSpPr>
          <p:spPr>
            <a:xfrm>
              <a:off x="0" y="0"/>
              <a:ext cx="2192553" cy="2358124"/>
            </a:xfrm>
            <a:custGeom>
              <a:avLst/>
              <a:gdLst/>
              <a:ahLst/>
              <a:cxnLst/>
              <a:rect l="l" t="t" r="r" b="b"/>
              <a:pathLst>
                <a:path w="2192553" h="2358124">
                  <a:moveTo>
                    <a:pt x="88921" y="0"/>
                  </a:moveTo>
                  <a:lnTo>
                    <a:pt x="2103632" y="0"/>
                  </a:lnTo>
                  <a:cubicBezTo>
                    <a:pt x="2152742" y="0"/>
                    <a:pt x="2192553" y="39811"/>
                    <a:pt x="2192553" y="88921"/>
                  </a:cubicBezTo>
                  <a:lnTo>
                    <a:pt x="2192553" y="2269203"/>
                  </a:lnTo>
                  <a:cubicBezTo>
                    <a:pt x="2192553" y="2318312"/>
                    <a:pt x="2152742" y="2358124"/>
                    <a:pt x="2103632" y="2358124"/>
                  </a:cubicBezTo>
                  <a:lnTo>
                    <a:pt x="88921" y="2358124"/>
                  </a:lnTo>
                  <a:cubicBezTo>
                    <a:pt x="39811" y="2358124"/>
                    <a:pt x="0" y="2318312"/>
                    <a:pt x="0" y="2269203"/>
                  </a:cubicBezTo>
                  <a:lnTo>
                    <a:pt x="0" y="88921"/>
                  </a:lnTo>
                  <a:cubicBezTo>
                    <a:pt x="0" y="39811"/>
                    <a:pt x="39811" y="0"/>
                    <a:pt x="88921" y="0"/>
                  </a:cubicBezTo>
                  <a:close/>
                </a:path>
              </a:pathLst>
            </a:custGeom>
            <a:solidFill>
              <a:srgbClr val="FFFFFF"/>
            </a:solidFill>
          </p:spPr>
          <p:txBody>
            <a:bodyPr/>
            <a:lstStyle/>
            <a:p>
              <a:endParaRPr lang="en-ZA"/>
            </a:p>
          </p:txBody>
        </p:sp>
        <p:sp>
          <p:nvSpPr>
            <p:cNvPr id="10" name="TextBox 10"/>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3238800" y="2869670"/>
            <a:ext cx="4114978" cy="4547661"/>
            <a:chOff x="0" y="0"/>
            <a:chExt cx="1935901" cy="2139458"/>
          </a:xfrm>
        </p:grpSpPr>
        <p:sp>
          <p:nvSpPr>
            <p:cNvPr id="12" name="Freeform 12"/>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txBody>
            <a:bodyPr/>
            <a:lstStyle/>
            <a:p>
              <a:endParaRPr lang="en-ZA"/>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266497"/>
            <a:ext cx="9994789" cy="9668214"/>
            <a:chOff x="0" y="0"/>
            <a:chExt cx="2722626" cy="2633665"/>
          </a:xfrm>
        </p:grpSpPr>
        <p:sp>
          <p:nvSpPr>
            <p:cNvPr id="3" name="Freeform 3"/>
            <p:cNvSpPr/>
            <p:nvPr/>
          </p:nvSpPr>
          <p:spPr>
            <a:xfrm>
              <a:off x="0" y="0"/>
              <a:ext cx="2722628" cy="2633665"/>
            </a:xfrm>
            <a:custGeom>
              <a:avLst/>
              <a:gdLst/>
              <a:ahLst/>
              <a:cxnLst/>
              <a:rect l="l" t="t" r="r" b="b"/>
              <a:pathLst>
                <a:path w="2722628" h="2633665">
                  <a:moveTo>
                    <a:pt x="2375669"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574212" y="2633665"/>
                  </a:lnTo>
                  <a:cubicBezTo>
                    <a:pt x="2613575" y="2633666"/>
                    <a:pt x="2651325" y="2618029"/>
                    <a:pt x="2679158" y="2590196"/>
                  </a:cubicBezTo>
                  <a:cubicBezTo>
                    <a:pt x="2706992" y="2562363"/>
                    <a:pt x="2722628" y="2524613"/>
                    <a:pt x="2722628" y="2485251"/>
                  </a:cubicBezTo>
                  <a:lnTo>
                    <a:pt x="2722628" y="366141"/>
                  </a:lnTo>
                  <a:cubicBezTo>
                    <a:pt x="2722629" y="329143"/>
                    <a:pt x="2708809" y="293478"/>
                    <a:pt x="2683879" y="266140"/>
                  </a:cubicBezTo>
                  <a:lnTo>
                    <a:pt x="2485336" y="48414"/>
                  </a:lnTo>
                  <a:cubicBezTo>
                    <a:pt x="2457214" y="17574"/>
                    <a:pt x="2417406" y="0"/>
                    <a:pt x="2375669" y="0"/>
                  </a:cubicBezTo>
                  <a:close/>
                </a:path>
              </a:pathLst>
            </a:custGeom>
            <a:solidFill>
              <a:srgbClr val="093C25"/>
            </a:solidFill>
          </p:spPr>
          <p:txBody>
            <a:bodyPr/>
            <a:lstStyle/>
            <a:p>
              <a:endParaRPr lang="en-ZA"/>
            </a:p>
          </p:txBody>
        </p:sp>
      </p:grpSp>
      <p:grpSp>
        <p:nvGrpSpPr>
          <p:cNvPr id="4" name="Group 4"/>
          <p:cNvGrpSpPr/>
          <p:nvPr/>
        </p:nvGrpSpPr>
        <p:grpSpPr>
          <a:xfrm>
            <a:off x="1466138" y="756012"/>
            <a:ext cx="8635396" cy="6473795"/>
            <a:chOff x="0" y="0"/>
            <a:chExt cx="11513861" cy="8631727"/>
          </a:xfrm>
        </p:grpSpPr>
        <p:sp>
          <p:nvSpPr>
            <p:cNvPr id="5" name="TextBox 5"/>
            <p:cNvSpPr txBox="1"/>
            <p:nvPr/>
          </p:nvSpPr>
          <p:spPr>
            <a:xfrm>
              <a:off x="0" y="2521060"/>
              <a:ext cx="11513861" cy="6110667"/>
            </a:xfrm>
            <a:prstGeom prst="rect">
              <a:avLst/>
            </a:prstGeom>
          </p:spPr>
          <p:txBody>
            <a:bodyPr lIns="0" tIns="0" rIns="0" bIns="0" rtlCol="0" anchor="t">
              <a:spAutoFit/>
            </a:bodyPr>
            <a:lstStyle/>
            <a:p>
              <a:pPr marL="0" lvl="0" indent="0" algn="l">
                <a:lnSpc>
                  <a:spcPts val="2600"/>
                </a:lnSpc>
              </a:pPr>
              <a:r>
                <a:rPr lang="en-US" sz="2000" spc="-110">
                  <a:solidFill>
                    <a:srgbClr val="F8F7EF"/>
                  </a:solidFill>
                  <a:latin typeface="Work Sans"/>
                  <a:ea typeface="Work Sans"/>
                  <a:cs typeface="Work Sans"/>
                  <a:sym typeface="Work Sans"/>
                </a:rPr>
                <a:t>Time analysis shows that customers who progress past the Product View stage move efficiently through Checkout and Payment stage.</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Customers spend an average of 11 minutes in the View stage, and</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an average of 13 minutes between the four stages of Add to Cart and Purchase stage.</a:t>
              </a:r>
            </a:p>
            <a:p>
              <a:pPr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Most exits occur early, suggesting that customers may not be finding products that match their expectations when they land on the website.</a:t>
              </a:r>
            </a:p>
            <a:p>
              <a:pPr marL="0" lvl="0" indent="0"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This points to a potential misalignment between:</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Audience targeting</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Product assortment</a:t>
              </a: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Landing page experience</a:t>
              </a:r>
            </a:p>
            <a:p>
              <a:pPr marL="0" lvl="0" indent="0" algn="l">
                <a:lnSpc>
                  <a:spcPts val="2947"/>
                </a:lnSpc>
              </a:pPr>
              <a:endParaRPr lang="en-US" sz="2000" spc="-110">
                <a:solidFill>
                  <a:srgbClr val="F8F7EF"/>
                </a:solidFill>
                <a:latin typeface="Work Sans"/>
                <a:ea typeface="Work Sans"/>
                <a:cs typeface="Work Sans"/>
                <a:sym typeface="Work Sans"/>
              </a:endParaRPr>
            </a:p>
          </p:txBody>
        </p:sp>
        <p:sp>
          <p:nvSpPr>
            <p:cNvPr id="6" name="TextBox 6"/>
            <p:cNvSpPr txBox="1"/>
            <p:nvPr/>
          </p:nvSpPr>
          <p:spPr>
            <a:xfrm>
              <a:off x="0" y="104775"/>
              <a:ext cx="10931363" cy="2270972"/>
            </a:xfrm>
            <a:prstGeom prst="rect">
              <a:avLst/>
            </a:prstGeom>
          </p:spPr>
          <p:txBody>
            <a:bodyPr lIns="0" tIns="0" rIns="0" bIns="0" rtlCol="0" anchor="t">
              <a:spAutoFit/>
            </a:bodyPr>
            <a:lstStyle/>
            <a:p>
              <a:pPr marL="0" lvl="0" indent="0" algn="l">
                <a:lnSpc>
                  <a:spcPts val="6400"/>
                </a:lnSpc>
              </a:pPr>
              <a:r>
                <a:rPr lang="en-US" sz="6400" b="1" spc="-352">
                  <a:solidFill>
                    <a:srgbClr val="F8F7EF"/>
                  </a:solidFill>
                  <a:latin typeface="Work Sans Semi-Bold"/>
                  <a:ea typeface="Work Sans Semi-Bold"/>
                  <a:cs typeface="Work Sans Semi-Bold"/>
                  <a:sym typeface="Work Sans Semi-Bold"/>
                </a:rPr>
                <a:t>Behavioural Insight Analysis</a:t>
              </a:r>
            </a:p>
          </p:txBody>
        </p:sp>
        <p:sp>
          <p:nvSpPr>
            <p:cNvPr id="7" name="TextBox 7"/>
            <p:cNvSpPr txBox="1"/>
            <p:nvPr/>
          </p:nvSpPr>
          <p:spPr>
            <a:xfrm>
              <a:off x="0" y="4367308"/>
              <a:ext cx="10434842" cy="667786"/>
            </a:xfrm>
            <a:prstGeom prst="rect">
              <a:avLst/>
            </a:prstGeom>
          </p:spPr>
          <p:txBody>
            <a:bodyPr lIns="0" tIns="0" rIns="0" bIns="0" rtlCol="0" anchor="t">
              <a:spAutoFit/>
            </a:bodyPr>
            <a:lstStyle/>
            <a:p>
              <a:pPr marL="0" lvl="0" indent="0" algn="l">
                <a:lnSpc>
                  <a:spcPts val="3887"/>
                </a:lnSpc>
                <a:spcBef>
                  <a:spcPct val="0"/>
                </a:spcBef>
              </a:pPr>
              <a:endParaRPr/>
            </a:p>
          </p:txBody>
        </p:sp>
      </p:grpSp>
      <p:grpSp>
        <p:nvGrpSpPr>
          <p:cNvPr id="8" name="Group 8"/>
          <p:cNvGrpSpPr/>
          <p:nvPr/>
        </p:nvGrpSpPr>
        <p:grpSpPr>
          <a:xfrm>
            <a:off x="12832651" y="2568395"/>
            <a:ext cx="4788599" cy="5150209"/>
            <a:chOff x="0" y="0"/>
            <a:chExt cx="2192553" cy="2358123"/>
          </a:xfrm>
        </p:grpSpPr>
        <p:sp>
          <p:nvSpPr>
            <p:cNvPr id="9" name="Freeform 9"/>
            <p:cNvSpPr/>
            <p:nvPr/>
          </p:nvSpPr>
          <p:spPr>
            <a:xfrm>
              <a:off x="0" y="0"/>
              <a:ext cx="2192553" cy="2358124"/>
            </a:xfrm>
            <a:custGeom>
              <a:avLst/>
              <a:gdLst/>
              <a:ahLst/>
              <a:cxnLst/>
              <a:rect l="l" t="t" r="r" b="b"/>
              <a:pathLst>
                <a:path w="2192553" h="2358124">
                  <a:moveTo>
                    <a:pt x="88921" y="0"/>
                  </a:moveTo>
                  <a:lnTo>
                    <a:pt x="2103632" y="0"/>
                  </a:lnTo>
                  <a:cubicBezTo>
                    <a:pt x="2152742" y="0"/>
                    <a:pt x="2192553" y="39811"/>
                    <a:pt x="2192553" y="88921"/>
                  </a:cubicBezTo>
                  <a:lnTo>
                    <a:pt x="2192553" y="2269203"/>
                  </a:lnTo>
                  <a:cubicBezTo>
                    <a:pt x="2192553" y="2318312"/>
                    <a:pt x="2152742" y="2358124"/>
                    <a:pt x="2103632" y="2358124"/>
                  </a:cubicBezTo>
                  <a:lnTo>
                    <a:pt x="88921" y="2358124"/>
                  </a:lnTo>
                  <a:cubicBezTo>
                    <a:pt x="39811" y="2358124"/>
                    <a:pt x="0" y="2318312"/>
                    <a:pt x="0" y="2269203"/>
                  </a:cubicBezTo>
                  <a:lnTo>
                    <a:pt x="0" y="88921"/>
                  </a:lnTo>
                  <a:cubicBezTo>
                    <a:pt x="0" y="39811"/>
                    <a:pt x="39811" y="0"/>
                    <a:pt x="88921" y="0"/>
                  </a:cubicBezTo>
                  <a:close/>
                </a:path>
              </a:pathLst>
            </a:custGeom>
            <a:solidFill>
              <a:srgbClr val="FFFFFF"/>
            </a:solidFill>
          </p:spPr>
          <p:txBody>
            <a:bodyPr/>
            <a:lstStyle/>
            <a:p>
              <a:endParaRPr lang="en-ZA"/>
            </a:p>
          </p:txBody>
        </p:sp>
        <p:sp>
          <p:nvSpPr>
            <p:cNvPr id="10" name="TextBox 10"/>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a:off x="13169462" y="2869670"/>
            <a:ext cx="4114978" cy="4547661"/>
            <a:chOff x="0" y="0"/>
            <a:chExt cx="1935901" cy="2139458"/>
          </a:xfrm>
        </p:grpSpPr>
        <p:sp>
          <p:nvSpPr>
            <p:cNvPr id="12" name="Freeform 12"/>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txBody>
            <a:bodyPr/>
            <a:lstStyle/>
            <a:p>
              <a:endParaRPr lang="en-ZA"/>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266497"/>
            <a:ext cx="9994789" cy="9668214"/>
            <a:chOff x="0" y="0"/>
            <a:chExt cx="2722626" cy="2633665"/>
          </a:xfrm>
        </p:grpSpPr>
        <p:sp>
          <p:nvSpPr>
            <p:cNvPr id="3" name="Freeform 3"/>
            <p:cNvSpPr/>
            <p:nvPr/>
          </p:nvSpPr>
          <p:spPr>
            <a:xfrm>
              <a:off x="0" y="0"/>
              <a:ext cx="2722628" cy="2633665"/>
            </a:xfrm>
            <a:custGeom>
              <a:avLst/>
              <a:gdLst/>
              <a:ahLst/>
              <a:cxnLst/>
              <a:rect l="l" t="t" r="r" b="b"/>
              <a:pathLst>
                <a:path w="2722628" h="2633665">
                  <a:moveTo>
                    <a:pt x="2375669"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574212" y="2633665"/>
                  </a:lnTo>
                  <a:cubicBezTo>
                    <a:pt x="2613575" y="2633666"/>
                    <a:pt x="2651325" y="2618029"/>
                    <a:pt x="2679158" y="2590196"/>
                  </a:cubicBezTo>
                  <a:cubicBezTo>
                    <a:pt x="2706992" y="2562363"/>
                    <a:pt x="2722628" y="2524613"/>
                    <a:pt x="2722628" y="2485251"/>
                  </a:cubicBezTo>
                  <a:lnTo>
                    <a:pt x="2722628" y="366141"/>
                  </a:lnTo>
                  <a:cubicBezTo>
                    <a:pt x="2722629" y="329143"/>
                    <a:pt x="2708809" y="293478"/>
                    <a:pt x="2683879" y="266140"/>
                  </a:cubicBezTo>
                  <a:lnTo>
                    <a:pt x="2485336" y="48414"/>
                  </a:lnTo>
                  <a:cubicBezTo>
                    <a:pt x="2457214" y="17574"/>
                    <a:pt x="2417406" y="0"/>
                    <a:pt x="2375669" y="0"/>
                  </a:cubicBezTo>
                  <a:close/>
                </a:path>
              </a:pathLst>
            </a:custGeom>
            <a:solidFill>
              <a:srgbClr val="093C25"/>
            </a:solidFill>
          </p:spPr>
          <p:txBody>
            <a:bodyPr/>
            <a:lstStyle/>
            <a:p>
              <a:endParaRPr lang="en-ZA"/>
            </a:p>
          </p:txBody>
        </p:sp>
      </p:grpSp>
      <p:grpSp>
        <p:nvGrpSpPr>
          <p:cNvPr id="4" name="Group 4"/>
          <p:cNvGrpSpPr/>
          <p:nvPr/>
        </p:nvGrpSpPr>
        <p:grpSpPr>
          <a:xfrm>
            <a:off x="12901989" y="2568395"/>
            <a:ext cx="4788599" cy="5150209"/>
            <a:chOff x="0" y="0"/>
            <a:chExt cx="2192553" cy="2358123"/>
          </a:xfrm>
        </p:grpSpPr>
        <p:sp>
          <p:nvSpPr>
            <p:cNvPr id="5" name="Freeform 5"/>
            <p:cNvSpPr/>
            <p:nvPr/>
          </p:nvSpPr>
          <p:spPr>
            <a:xfrm>
              <a:off x="0" y="0"/>
              <a:ext cx="2192553" cy="2358124"/>
            </a:xfrm>
            <a:custGeom>
              <a:avLst/>
              <a:gdLst/>
              <a:ahLst/>
              <a:cxnLst/>
              <a:rect l="l" t="t" r="r" b="b"/>
              <a:pathLst>
                <a:path w="2192553" h="2358124">
                  <a:moveTo>
                    <a:pt x="88921" y="0"/>
                  </a:moveTo>
                  <a:lnTo>
                    <a:pt x="2103632" y="0"/>
                  </a:lnTo>
                  <a:cubicBezTo>
                    <a:pt x="2152742" y="0"/>
                    <a:pt x="2192553" y="39811"/>
                    <a:pt x="2192553" y="88921"/>
                  </a:cubicBezTo>
                  <a:lnTo>
                    <a:pt x="2192553" y="2269203"/>
                  </a:lnTo>
                  <a:cubicBezTo>
                    <a:pt x="2192553" y="2318312"/>
                    <a:pt x="2152742" y="2358124"/>
                    <a:pt x="2103632" y="2358124"/>
                  </a:cubicBezTo>
                  <a:lnTo>
                    <a:pt x="88921" y="2358124"/>
                  </a:lnTo>
                  <a:cubicBezTo>
                    <a:pt x="39811" y="2358124"/>
                    <a:pt x="0" y="2318312"/>
                    <a:pt x="0" y="2269203"/>
                  </a:cubicBezTo>
                  <a:lnTo>
                    <a:pt x="0" y="88921"/>
                  </a:lnTo>
                  <a:cubicBezTo>
                    <a:pt x="0" y="39811"/>
                    <a:pt x="39811" y="0"/>
                    <a:pt x="88921" y="0"/>
                  </a:cubicBezTo>
                  <a:close/>
                </a:path>
              </a:pathLst>
            </a:custGeom>
            <a:solidFill>
              <a:srgbClr val="FFFFFF"/>
            </a:solidFill>
          </p:spPr>
          <p:txBody>
            <a:bodyPr/>
            <a:lstStyle/>
            <a:p>
              <a:endParaRPr lang="en-ZA"/>
            </a:p>
          </p:txBody>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3238800" y="2869670"/>
            <a:ext cx="4114978" cy="4547661"/>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14117" r="-14117"/>
              </a:stretch>
            </a:blipFill>
          </p:spPr>
          <p:txBody>
            <a:bodyPr/>
            <a:lstStyle/>
            <a:p>
              <a:endParaRPr lang="en-ZA"/>
            </a:p>
          </p:txBody>
        </p:sp>
      </p:grpSp>
      <p:grpSp>
        <p:nvGrpSpPr>
          <p:cNvPr id="9" name="Group 9"/>
          <p:cNvGrpSpPr/>
          <p:nvPr/>
        </p:nvGrpSpPr>
        <p:grpSpPr>
          <a:xfrm>
            <a:off x="1466138" y="756012"/>
            <a:ext cx="8843411" cy="6149945"/>
            <a:chOff x="0" y="0"/>
            <a:chExt cx="11791215" cy="8199927"/>
          </a:xfrm>
        </p:grpSpPr>
        <p:sp>
          <p:nvSpPr>
            <p:cNvPr id="10" name="TextBox 10"/>
            <p:cNvSpPr txBox="1"/>
            <p:nvPr/>
          </p:nvSpPr>
          <p:spPr>
            <a:xfrm>
              <a:off x="0" y="2521060"/>
              <a:ext cx="11791215" cy="5678867"/>
            </a:xfrm>
            <a:prstGeom prst="rect">
              <a:avLst/>
            </a:prstGeom>
          </p:spPr>
          <p:txBody>
            <a:bodyPr lIns="0" tIns="0" rIns="0" bIns="0" rtlCol="0" anchor="t">
              <a:spAutoFit/>
            </a:bodyPr>
            <a:lstStyle/>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Revenue growth does not depend on fixing checkout.</a:t>
              </a:r>
            </a:p>
            <a:p>
              <a:pPr algn="l">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Revenue growth depends on converting more of the 69% who exit at the Product View stage.</a:t>
              </a:r>
            </a:p>
            <a:p>
              <a:pPr algn="l">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If we increase the View to Cart conversion rate even slightly, revenue will grow quickly because downstream conversion is already strong.</a:t>
              </a:r>
            </a:p>
            <a:p>
              <a:pPr algn="l">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Increasing View to Cart conversion from 31% to 35% would push more customers into a funnel that already converts efficiently.</a:t>
              </a:r>
            </a:p>
            <a:p>
              <a:pPr algn="l">
                <a:lnSpc>
                  <a:spcPts val="2600"/>
                </a:lnSpc>
              </a:pPr>
              <a:endParaRPr lang="en-US" sz="2000" spc="-110">
                <a:solidFill>
                  <a:srgbClr val="F8F7EF"/>
                </a:solidFill>
                <a:latin typeface="Work Sans"/>
                <a:ea typeface="Work Sans"/>
                <a:cs typeface="Work Sans"/>
                <a:sym typeface="Work Sans"/>
              </a:endParaRPr>
            </a:p>
            <a:p>
              <a:pPr marL="0" lvl="0" indent="0" algn="l">
                <a:lnSpc>
                  <a:spcPts val="2600"/>
                </a:lnSpc>
              </a:pPr>
              <a:r>
                <a:rPr lang="en-US" sz="2000" spc="-110">
                  <a:solidFill>
                    <a:srgbClr val="F8F7EF"/>
                  </a:solidFill>
                  <a:latin typeface="Work Sans"/>
                  <a:ea typeface="Work Sans"/>
                  <a:cs typeface="Work Sans"/>
                  <a:sym typeface="Work Sans"/>
                </a:rPr>
                <a:t>This would increase revenue without increasing traffic acquisition costs.</a:t>
              </a:r>
            </a:p>
            <a:p>
              <a:pPr marL="0" lvl="0" indent="0" algn="l">
                <a:lnSpc>
                  <a:spcPts val="2947"/>
                </a:lnSpc>
              </a:pPr>
              <a:endParaRPr lang="en-US" sz="2000" spc="-110">
                <a:solidFill>
                  <a:srgbClr val="F8F7EF"/>
                </a:solidFill>
                <a:latin typeface="Work Sans"/>
                <a:ea typeface="Work Sans"/>
                <a:cs typeface="Work Sans"/>
                <a:sym typeface="Work Sans"/>
              </a:endParaRPr>
            </a:p>
          </p:txBody>
        </p:sp>
        <p:sp>
          <p:nvSpPr>
            <p:cNvPr id="11" name="TextBox 11"/>
            <p:cNvSpPr txBox="1"/>
            <p:nvPr/>
          </p:nvSpPr>
          <p:spPr>
            <a:xfrm>
              <a:off x="0" y="104775"/>
              <a:ext cx="11194685" cy="2270972"/>
            </a:xfrm>
            <a:prstGeom prst="rect">
              <a:avLst/>
            </a:prstGeom>
          </p:spPr>
          <p:txBody>
            <a:bodyPr lIns="0" tIns="0" rIns="0" bIns="0" rtlCol="0" anchor="t">
              <a:spAutoFit/>
            </a:bodyPr>
            <a:lstStyle/>
            <a:p>
              <a:pPr marL="0" lvl="0" indent="0" algn="l">
                <a:lnSpc>
                  <a:spcPts val="6400"/>
                </a:lnSpc>
              </a:pPr>
              <a:r>
                <a:rPr lang="en-US" sz="6400" b="1" spc="-352">
                  <a:solidFill>
                    <a:srgbClr val="F8F7EF"/>
                  </a:solidFill>
                  <a:latin typeface="Work Sans Semi-Bold"/>
                  <a:ea typeface="Work Sans Semi-Bold"/>
                  <a:cs typeface="Work Sans Semi-Bold"/>
                  <a:sym typeface="Work Sans Semi-Bold"/>
                </a:rPr>
                <a:t>Revenue Insight Analysis</a:t>
              </a:r>
            </a:p>
          </p:txBody>
        </p:sp>
        <p:sp>
          <p:nvSpPr>
            <p:cNvPr id="12" name="TextBox 12"/>
            <p:cNvSpPr txBox="1"/>
            <p:nvPr/>
          </p:nvSpPr>
          <p:spPr>
            <a:xfrm>
              <a:off x="0" y="4367308"/>
              <a:ext cx="10686204" cy="667786"/>
            </a:xfrm>
            <a:prstGeom prst="rect">
              <a:avLst/>
            </a:prstGeom>
          </p:spPr>
          <p:txBody>
            <a:bodyPr lIns="0" tIns="0" rIns="0" bIns="0" rtlCol="0" anchor="t">
              <a:spAutoFit/>
            </a:bodyPr>
            <a:lstStyle/>
            <a:p>
              <a:pPr marL="0" lvl="0" indent="0" algn="l">
                <a:lnSpc>
                  <a:spcPts val="3887"/>
                </a:lnSpc>
                <a:spcBef>
                  <a:spcPct val="0"/>
                </a:spcBef>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666750"/>
            <a:ext cx="8324850" cy="8953500"/>
            <a:chOff x="0" y="0"/>
            <a:chExt cx="2448748" cy="2633665"/>
          </a:xfrm>
        </p:grpSpPr>
        <p:sp>
          <p:nvSpPr>
            <p:cNvPr id="3" name="Freeform 3"/>
            <p:cNvSpPr/>
            <p:nvPr/>
          </p:nvSpPr>
          <p:spPr>
            <a:xfrm>
              <a:off x="0" y="0"/>
              <a:ext cx="2448751" cy="2633665"/>
            </a:xfrm>
            <a:custGeom>
              <a:avLst/>
              <a:gdLst/>
              <a:ahLst/>
              <a:cxnLst/>
              <a:rect l="l" t="t" r="r" b="b"/>
              <a:pathLst>
                <a:path w="2448751" h="2633665">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093C25"/>
            </a:solidFill>
          </p:spPr>
          <p:txBody>
            <a:bodyPr/>
            <a:lstStyle/>
            <a:p>
              <a:endParaRPr lang="en-ZA"/>
            </a:p>
          </p:txBody>
        </p:sp>
      </p:grpSp>
      <p:grpSp>
        <p:nvGrpSpPr>
          <p:cNvPr id="4" name="Group 4"/>
          <p:cNvGrpSpPr/>
          <p:nvPr/>
        </p:nvGrpSpPr>
        <p:grpSpPr>
          <a:xfrm>
            <a:off x="9296400" y="666750"/>
            <a:ext cx="8324850" cy="8953500"/>
            <a:chOff x="0" y="0"/>
            <a:chExt cx="2192553" cy="2358123"/>
          </a:xfrm>
        </p:grpSpPr>
        <p:sp>
          <p:nvSpPr>
            <p:cNvPr id="5" name="Freeform 5"/>
            <p:cNvSpPr/>
            <p:nvPr/>
          </p:nvSpPr>
          <p:spPr>
            <a:xfrm>
              <a:off x="0" y="0"/>
              <a:ext cx="2192553" cy="2358124"/>
            </a:xfrm>
            <a:custGeom>
              <a:avLst/>
              <a:gdLst/>
              <a:ahLst/>
              <a:cxnLst/>
              <a:rect l="l" t="t" r="r" b="b"/>
              <a:pathLst>
                <a:path w="2192553" h="2358124">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FFFFFF"/>
            </a:solidFill>
          </p:spPr>
          <p:txBody>
            <a:bodyPr/>
            <a:lstStyle/>
            <a:p>
              <a:endParaRPr lang="en-ZA"/>
            </a:p>
          </p:txBody>
        </p:sp>
        <p:sp>
          <p:nvSpPr>
            <p:cNvPr id="6" name="TextBox 6"/>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881936" y="1190507"/>
            <a:ext cx="7153778" cy="7905985"/>
            <a:chOff x="0" y="0"/>
            <a:chExt cx="1935901" cy="2139458"/>
          </a:xfrm>
        </p:grpSpPr>
        <p:sp>
          <p:nvSpPr>
            <p:cNvPr id="8" name="Freeform 8"/>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353" r="-353"/>
              </a:stretch>
            </a:blipFill>
          </p:spPr>
          <p:txBody>
            <a:bodyPr/>
            <a:lstStyle/>
            <a:p>
              <a:endParaRPr lang="en-ZA"/>
            </a:p>
          </p:txBody>
        </p:sp>
      </p:grpSp>
      <p:sp>
        <p:nvSpPr>
          <p:cNvPr id="9" name="TextBox 9"/>
          <p:cNvSpPr txBox="1"/>
          <p:nvPr/>
        </p:nvSpPr>
        <p:spPr>
          <a:xfrm>
            <a:off x="1749429" y="4025815"/>
            <a:ext cx="6202592" cy="4459605"/>
          </a:xfrm>
          <a:prstGeom prst="rect">
            <a:avLst/>
          </a:prstGeom>
        </p:spPr>
        <p:txBody>
          <a:bodyPr lIns="0" tIns="0" rIns="0" bIns="0" rtlCol="0" anchor="t">
            <a:spAutoFit/>
          </a:bodyPr>
          <a:lstStyle/>
          <a:p>
            <a:pPr marL="0" lvl="0" indent="0" algn="l">
              <a:lnSpc>
                <a:spcPts val="2730"/>
              </a:lnSpc>
            </a:pPr>
            <a:r>
              <a:rPr lang="en-US" sz="2100" spc="-115" dirty="0">
                <a:solidFill>
                  <a:srgbClr val="F8F7EF"/>
                </a:solidFill>
                <a:latin typeface="Work Sans"/>
                <a:ea typeface="Work Sans"/>
                <a:cs typeface="Work Sans"/>
                <a:sym typeface="Work Sans"/>
              </a:rPr>
              <a:t>Revenue growth does not depend on fixing checkout.</a:t>
            </a:r>
          </a:p>
          <a:p>
            <a:pPr marL="0" lvl="0" indent="0" algn="l">
              <a:lnSpc>
                <a:spcPts val="2730"/>
              </a:lnSpc>
            </a:pPr>
            <a:r>
              <a:rPr lang="en-US" sz="2100" spc="-115" dirty="0">
                <a:solidFill>
                  <a:srgbClr val="F8F7EF"/>
                </a:solidFill>
                <a:latin typeface="Work Sans"/>
                <a:ea typeface="Work Sans"/>
                <a:cs typeface="Work Sans"/>
                <a:sym typeface="Work Sans"/>
              </a:rPr>
              <a:t>Revenue growth depends on converting more of the 69% who exit at the Product View stage.</a:t>
            </a:r>
          </a:p>
          <a:p>
            <a:pPr marL="0" lvl="0" indent="0" algn="l">
              <a:lnSpc>
                <a:spcPts val="2730"/>
              </a:lnSpc>
            </a:pPr>
            <a:r>
              <a:rPr lang="en-US" sz="2100" spc="-115" dirty="0">
                <a:solidFill>
                  <a:srgbClr val="F8F7EF"/>
                </a:solidFill>
                <a:latin typeface="Work Sans"/>
                <a:ea typeface="Work Sans"/>
                <a:cs typeface="Work Sans"/>
                <a:sym typeface="Work Sans"/>
              </a:rPr>
              <a:t>Since downstream conversion is strong, even a small increase in Add to Cart rate would have a significant revenue impact.</a:t>
            </a:r>
          </a:p>
          <a:p>
            <a:pPr marL="0" lvl="0" indent="0" algn="l">
              <a:lnSpc>
                <a:spcPts val="2730"/>
              </a:lnSpc>
            </a:pPr>
            <a:r>
              <a:rPr lang="en-US" sz="2100" spc="-115" dirty="0">
                <a:solidFill>
                  <a:srgbClr val="F8F7EF"/>
                </a:solidFill>
                <a:latin typeface="Work Sans"/>
                <a:ea typeface="Work Sans"/>
                <a:cs typeface="Work Sans"/>
                <a:sym typeface="Work Sans"/>
              </a:rPr>
              <a:t>For example, increasing View to Cart conversion from 31% to 35% would push more customers into a funnel that already converts efficiently.</a:t>
            </a:r>
          </a:p>
          <a:p>
            <a:pPr marL="0" lvl="0" indent="0" algn="l">
              <a:lnSpc>
                <a:spcPts val="2730"/>
              </a:lnSpc>
            </a:pPr>
            <a:r>
              <a:rPr lang="en-US" sz="2100" spc="-115" dirty="0">
                <a:solidFill>
                  <a:srgbClr val="F8F7EF"/>
                </a:solidFill>
                <a:latin typeface="Work Sans"/>
                <a:ea typeface="Work Sans"/>
                <a:cs typeface="Work Sans"/>
                <a:sym typeface="Work Sans"/>
              </a:rPr>
              <a:t>This would increase revenue without increasing traffic acquisition costs.</a:t>
            </a:r>
          </a:p>
          <a:p>
            <a:pPr marL="0" lvl="0" indent="0" algn="l">
              <a:lnSpc>
                <a:spcPts val="2730"/>
              </a:lnSpc>
            </a:pPr>
            <a:endParaRPr lang="en-US" sz="2100" spc="-115" dirty="0">
              <a:solidFill>
                <a:srgbClr val="F8F7EF"/>
              </a:solidFill>
              <a:latin typeface="Work Sans"/>
              <a:ea typeface="Work Sans"/>
              <a:cs typeface="Work Sans"/>
              <a:sym typeface="Work Sans"/>
            </a:endParaRPr>
          </a:p>
        </p:txBody>
      </p:sp>
      <p:sp>
        <p:nvSpPr>
          <p:cNvPr id="10" name="TextBox 10"/>
          <p:cNvSpPr txBox="1"/>
          <p:nvPr/>
        </p:nvSpPr>
        <p:spPr>
          <a:xfrm>
            <a:off x="1706329" y="1934930"/>
            <a:ext cx="6245691" cy="1816100"/>
          </a:xfrm>
          <a:prstGeom prst="rect">
            <a:avLst/>
          </a:prstGeom>
        </p:spPr>
        <p:txBody>
          <a:bodyPr lIns="0" tIns="0" rIns="0" bIns="0" rtlCol="0" anchor="t">
            <a:spAutoFit/>
          </a:bodyPr>
          <a:lstStyle/>
          <a:p>
            <a:pPr marL="0" lvl="0" indent="0" algn="l">
              <a:lnSpc>
                <a:spcPts val="6999"/>
              </a:lnSpc>
            </a:pPr>
            <a:r>
              <a:rPr lang="en-US" sz="6999" b="1" spc="-384">
                <a:solidFill>
                  <a:srgbClr val="F8F7EF"/>
                </a:solidFill>
                <a:latin typeface="Work Sans Semi-Bold"/>
                <a:ea typeface="Work Sans Semi-Bold"/>
                <a:cs typeface="Work Sans Semi-Bold"/>
                <a:sym typeface="Work Sans Semi-Bold"/>
              </a:rPr>
              <a:t>Revenue Insight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EE6D9"/>
        </a:solidFill>
        <a:effectLst/>
      </p:bgPr>
    </p:bg>
    <p:spTree>
      <p:nvGrpSpPr>
        <p:cNvPr id="1" name=""/>
        <p:cNvGrpSpPr/>
        <p:nvPr/>
      </p:nvGrpSpPr>
      <p:grpSpPr>
        <a:xfrm>
          <a:off x="0" y="0"/>
          <a:ext cx="0" cy="0"/>
          <a:chOff x="0" y="0"/>
          <a:chExt cx="0" cy="0"/>
        </a:xfrm>
      </p:grpSpPr>
      <p:grpSp>
        <p:nvGrpSpPr>
          <p:cNvPr id="2" name="Group 2"/>
          <p:cNvGrpSpPr/>
          <p:nvPr/>
        </p:nvGrpSpPr>
        <p:grpSpPr>
          <a:xfrm>
            <a:off x="666750" y="266497"/>
            <a:ext cx="9994789" cy="9668214"/>
            <a:chOff x="0" y="0"/>
            <a:chExt cx="2722626" cy="2633665"/>
          </a:xfrm>
        </p:grpSpPr>
        <p:sp>
          <p:nvSpPr>
            <p:cNvPr id="3" name="Freeform 3"/>
            <p:cNvSpPr/>
            <p:nvPr/>
          </p:nvSpPr>
          <p:spPr>
            <a:xfrm>
              <a:off x="0" y="0"/>
              <a:ext cx="2722628" cy="2633665"/>
            </a:xfrm>
            <a:custGeom>
              <a:avLst/>
              <a:gdLst/>
              <a:ahLst/>
              <a:cxnLst/>
              <a:rect l="l" t="t" r="r" b="b"/>
              <a:pathLst>
                <a:path w="2722628" h="2633665">
                  <a:moveTo>
                    <a:pt x="2375669"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574212" y="2633665"/>
                  </a:lnTo>
                  <a:cubicBezTo>
                    <a:pt x="2613575" y="2633666"/>
                    <a:pt x="2651325" y="2618029"/>
                    <a:pt x="2679158" y="2590196"/>
                  </a:cubicBezTo>
                  <a:cubicBezTo>
                    <a:pt x="2706992" y="2562363"/>
                    <a:pt x="2722628" y="2524613"/>
                    <a:pt x="2722628" y="2485251"/>
                  </a:cubicBezTo>
                  <a:lnTo>
                    <a:pt x="2722628" y="366141"/>
                  </a:lnTo>
                  <a:cubicBezTo>
                    <a:pt x="2722629" y="329143"/>
                    <a:pt x="2708809" y="293478"/>
                    <a:pt x="2683879" y="266140"/>
                  </a:cubicBezTo>
                  <a:lnTo>
                    <a:pt x="2485336" y="48414"/>
                  </a:lnTo>
                  <a:cubicBezTo>
                    <a:pt x="2457214" y="17574"/>
                    <a:pt x="2417406" y="0"/>
                    <a:pt x="2375669" y="0"/>
                  </a:cubicBezTo>
                  <a:close/>
                </a:path>
              </a:pathLst>
            </a:custGeom>
            <a:solidFill>
              <a:srgbClr val="093C25"/>
            </a:solidFill>
          </p:spPr>
          <p:txBody>
            <a:bodyPr/>
            <a:lstStyle/>
            <a:p>
              <a:endParaRPr lang="en-ZA"/>
            </a:p>
          </p:txBody>
        </p:sp>
      </p:grpSp>
      <p:grpSp>
        <p:nvGrpSpPr>
          <p:cNvPr id="4" name="Group 4"/>
          <p:cNvGrpSpPr/>
          <p:nvPr/>
        </p:nvGrpSpPr>
        <p:grpSpPr>
          <a:xfrm>
            <a:off x="1466138" y="756012"/>
            <a:ext cx="8635396" cy="7283420"/>
            <a:chOff x="0" y="0"/>
            <a:chExt cx="11513861" cy="9711227"/>
          </a:xfrm>
        </p:grpSpPr>
        <p:sp>
          <p:nvSpPr>
            <p:cNvPr id="5" name="TextBox 5"/>
            <p:cNvSpPr txBox="1"/>
            <p:nvPr/>
          </p:nvSpPr>
          <p:spPr>
            <a:xfrm>
              <a:off x="0" y="1441560"/>
              <a:ext cx="11513861" cy="8269667"/>
            </a:xfrm>
            <a:prstGeom prst="rect">
              <a:avLst/>
            </a:prstGeom>
          </p:spPr>
          <p:txBody>
            <a:bodyPr lIns="0" tIns="0" rIns="0" bIns="0" rtlCol="0" anchor="t">
              <a:spAutoFit/>
            </a:bodyPr>
            <a:lstStyle/>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Improve audience targeting</a:t>
              </a:r>
            </a:p>
            <a:p>
              <a:pPr algn="just">
                <a:lnSpc>
                  <a:spcPts val="2600"/>
                </a:lnSpc>
              </a:pPr>
              <a:r>
                <a:rPr lang="en-US" sz="2000" spc="-110">
                  <a:solidFill>
                    <a:srgbClr val="F8F7EF"/>
                  </a:solidFill>
                  <a:latin typeface="Work Sans"/>
                  <a:ea typeface="Work Sans"/>
                  <a:cs typeface="Work Sans"/>
                  <a:sym typeface="Work Sans"/>
                </a:rPr>
                <a:t> </a:t>
              </a:r>
            </a:p>
            <a:p>
              <a:pPr algn="just">
                <a:lnSpc>
                  <a:spcPts val="2600"/>
                </a:lnSpc>
              </a:pPr>
              <a:endParaRPr lang="en-US" sz="2000" spc="-110">
                <a:solidFill>
                  <a:srgbClr val="F8F7EF"/>
                </a:solidFill>
                <a:latin typeface="Work Sans"/>
                <a:ea typeface="Work Sans"/>
                <a:cs typeface="Work Sans"/>
                <a:sym typeface="Work Sans"/>
              </a:endParaRPr>
            </a:p>
            <a:p>
              <a:pPr algn="just">
                <a:lnSpc>
                  <a:spcPts val="2600"/>
                </a:lnSpc>
              </a:pPr>
              <a:endParaRPr lang="en-US" sz="2000" spc="-110">
                <a:solidFill>
                  <a:srgbClr val="F8F7EF"/>
                </a:solidFill>
                <a:latin typeface="Work Sans"/>
                <a:ea typeface="Work Sans"/>
                <a:cs typeface="Work Sans"/>
                <a:sym typeface="Work Sans"/>
              </a:endParaRPr>
            </a:p>
            <a:p>
              <a:pPr algn="just">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Expand and diversify product offerings</a:t>
              </a: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Optimise product pages</a:t>
              </a: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algn="l">
                <a:lnSpc>
                  <a:spcPts val="2600"/>
                </a:lnSpc>
              </a:pPr>
              <a:endParaRPr lang="en-US" sz="2000" spc="-110">
                <a:solidFill>
                  <a:srgbClr val="F8F7EF"/>
                </a:solidFill>
                <a:latin typeface="Work Sans"/>
                <a:ea typeface="Work Sans"/>
                <a:cs typeface="Work Sans"/>
                <a:sym typeface="Work Sans"/>
              </a:endParaRPr>
            </a:p>
            <a:p>
              <a:pPr marL="431801" lvl="1" indent="-215900" algn="l">
                <a:lnSpc>
                  <a:spcPts val="2600"/>
                </a:lnSpc>
                <a:buFont typeface="Arial"/>
                <a:buChar char="•"/>
              </a:pPr>
              <a:r>
                <a:rPr lang="en-US" sz="2000" spc="-110">
                  <a:solidFill>
                    <a:srgbClr val="F8F7EF"/>
                  </a:solidFill>
                  <a:latin typeface="Work Sans"/>
                  <a:ea typeface="Work Sans"/>
                  <a:cs typeface="Work Sans"/>
                  <a:sym typeface="Work Sans"/>
                </a:rPr>
                <a:t>Monitor View-to-Cart as a primary growth metric</a:t>
              </a:r>
            </a:p>
            <a:p>
              <a:pPr algn="l">
                <a:lnSpc>
                  <a:spcPts val="2600"/>
                </a:lnSpc>
              </a:pPr>
              <a:endParaRPr lang="en-US" sz="2000" spc="-110">
                <a:solidFill>
                  <a:srgbClr val="F8F7EF"/>
                </a:solidFill>
                <a:latin typeface="Work Sans"/>
                <a:ea typeface="Work Sans"/>
                <a:cs typeface="Work Sans"/>
                <a:sym typeface="Work Sans"/>
              </a:endParaRPr>
            </a:p>
            <a:p>
              <a:pPr marL="0" lvl="0" indent="0" algn="l">
                <a:lnSpc>
                  <a:spcPts val="2947"/>
                </a:lnSpc>
              </a:pPr>
              <a:endParaRPr lang="en-US" sz="2000" spc="-110">
                <a:solidFill>
                  <a:srgbClr val="F8F7EF"/>
                </a:solidFill>
                <a:latin typeface="Work Sans"/>
                <a:ea typeface="Work Sans"/>
                <a:cs typeface="Work Sans"/>
                <a:sym typeface="Work Sans"/>
              </a:endParaRPr>
            </a:p>
          </p:txBody>
        </p:sp>
        <p:sp>
          <p:nvSpPr>
            <p:cNvPr id="6" name="TextBox 6"/>
            <p:cNvSpPr txBox="1"/>
            <p:nvPr/>
          </p:nvSpPr>
          <p:spPr>
            <a:xfrm>
              <a:off x="0" y="104775"/>
              <a:ext cx="10931363" cy="1191472"/>
            </a:xfrm>
            <a:prstGeom prst="rect">
              <a:avLst/>
            </a:prstGeom>
          </p:spPr>
          <p:txBody>
            <a:bodyPr lIns="0" tIns="0" rIns="0" bIns="0" rtlCol="0" anchor="t">
              <a:spAutoFit/>
            </a:bodyPr>
            <a:lstStyle/>
            <a:p>
              <a:pPr marL="0" lvl="0" indent="0" algn="l">
                <a:lnSpc>
                  <a:spcPts val="6400"/>
                </a:lnSpc>
              </a:pPr>
              <a:r>
                <a:rPr lang="en-US" sz="6400" b="1" spc="-352">
                  <a:solidFill>
                    <a:srgbClr val="F8F7EF"/>
                  </a:solidFill>
                  <a:latin typeface="Work Sans Semi-Bold"/>
                  <a:ea typeface="Work Sans Semi-Bold"/>
                  <a:cs typeface="Work Sans Semi-Bold"/>
                  <a:sym typeface="Work Sans Semi-Bold"/>
                </a:rPr>
                <a:t>Recommendations</a:t>
              </a:r>
            </a:p>
          </p:txBody>
        </p:sp>
      </p:grpSp>
      <p:grpSp>
        <p:nvGrpSpPr>
          <p:cNvPr id="7" name="Group 7"/>
          <p:cNvGrpSpPr/>
          <p:nvPr/>
        </p:nvGrpSpPr>
        <p:grpSpPr>
          <a:xfrm>
            <a:off x="12832651" y="2568395"/>
            <a:ext cx="4788599" cy="5150209"/>
            <a:chOff x="0" y="0"/>
            <a:chExt cx="2192553" cy="2358123"/>
          </a:xfrm>
        </p:grpSpPr>
        <p:sp>
          <p:nvSpPr>
            <p:cNvPr id="8" name="Freeform 8"/>
            <p:cNvSpPr/>
            <p:nvPr/>
          </p:nvSpPr>
          <p:spPr>
            <a:xfrm>
              <a:off x="0" y="0"/>
              <a:ext cx="2192553" cy="2358124"/>
            </a:xfrm>
            <a:custGeom>
              <a:avLst/>
              <a:gdLst/>
              <a:ahLst/>
              <a:cxnLst/>
              <a:rect l="l" t="t" r="r" b="b"/>
              <a:pathLst>
                <a:path w="2192553" h="2358124">
                  <a:moveTo>
                    <a:pt x="88921" y="0"/>
                  </a:moveTo>
                  <a:lnTo>
                    <a:pt x="2103632" y="0"/>
                  </a:lnTo>
                  <a:cubicBezTo>
                    <a:pt x="2152742" y="0"/>
                    <a:pt x="2192553" y="39811"/>
                    <a:pt x="2192553" y="88921"/>
                  </a:cubicBezTo>
                  <a:lnTo>
                    <a:pt x="2192553" y="2269203"/>
                  </a:lnTo>
                  <a:cubicBezTo>
                    <a:pt x="2192553" y="2318312"/>
                    <a:pt x="2152742" y="2358124"/>
                    <a:pt x="2103632" y="2358124"/>
                  </a:cubicBezTo>
                  <a:lnTo>
                    <a:pt x="88921" y="2358124"/>
                  </a:lnTo>
                  <a:cubicBezTo>
                    <a:pt x="39811" y="2358124"/>
                    <a:pt x="0" y="2318312"/>
                    <a:pt x="0" y="2269203"/>
                  </a:cubicBezTo>
                  <a:lnTo>
                    <a:pt x="0" y="88921"/>
                  </a:lnTo>
                  <a:cubicBezTo>
                    <a:pt x="0" y="39811"/>
                    <a:pt x="39811" y="0"/>
                    <a:pt x="88921" y="0"/>
                  </a:cubicBezTo>
                  <a:close/>
                </a:path>
              </a:pathLst>
            </a:custGeom>
            <a:solidFill>
              <a:srgbClr val="FFFFFF"/>
            </a:solidFill>
          </p:spPr>
          <p:txBody>
            <a:bodyPr/>
            <a:lstStyle/>
            <a:p>
              <a:endParaRPr lang="en-ZA"/>
            </a:p>
          </p:txBody>
        </p:sp>
        <p:sp>
          <p:nvSpPr>
            <p:cNvPr id="9" name="TextBox 9"/>
            <p:cNvSpPr txBox="1"/>
            <p:nvPr/>
          </p:nvSpPr>
          <p:spPr>
            <a:xfrm>
              <a:off x="0" y="-57150"/>
              <a:ext cx="2192553" cy="2415273"/>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13169462" y="2869670"/>
            <a:ext cx="4114978" cy="4547661"/>
            <a:chOff x="0" y="0"/>
            <a:chExt cx="1935901" cy="2139458"/>
          </a:xfrm>
        </p:grpSpPr>
        <p:sp>
          <p:nvSpPr>
            <p:cNvPr id="11" name="Freeform 11"/>
            <p:cNvSpPr/>
            <p:nvPr/>
          </p:nvSpPr>
          <p:spPr>
            <a:xfrm>
              <a:off x="0" y="0"/>
              <a:ext cx="1935903" cy="2139471"/>
            </a:xfrm>
            <a:custGeom>
              <a:avLst/>
              <a:gdLst/>
              <a:ahLst/>
              <a:cxnLst/>
              <a:rect l="l" t="t" r="r" b="b"/>
              <a:pathLst>
                <a:path w="1935903" h="2139471">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9591" r="-9591"/>
              </a:stretch>
            </a:blipFill>
          </p:spPr>
          <p:txBody>
            <a:bodyPr/>
            <a:lstStyle/>
            <a:p>
              <a:endParaRPr lang="en-ZA"/>
            </a:p>
          </p:txBody>
        </p:sp>
      </p:grpSp>
      <p:sp>
        <p:nvSpPr>
          <p:cNvPr id="12" name="TextBox 12"/>
          <p:cNvSpPr txBox="1"/>
          <p:nvPr/>
        </p:nvSpPr>
        <p:spPr>
          <a:xfrm>
            <a:off x="1916837" y="2232373"/>
            <a:ext cx="8358042" cy="984250"/>
          </a:xfrm>
          <a:prstGeom prst="rect">
            <a:avLst/>
          </a:prstGeom>
        </p:spPr>
        <p:txBody>
          <a:bodyPr lIns="0" tIns="0" rIns="0" bIns="0" rtlCol="0" anchor="t">
            <a:spAutoFit/>
          </a:bodyPr>
          <a:lstStyle/>
          <a:p>
            <a:pPr algn="l">
              <a:lnSpc>
                <a:spcPts val="2600"/>
              </a:lnSpc>
            </a:pPr>
            <a:r>
              <a:rPr lang="en-US" sz="2000" spc="-110">
                <a:solidFill>
                  <a:srgbClr val="F8F7EF"/>
                </a:solidFill>
                <a:latin typeface="Work Sans"/>
                <a:ea typeface="Work Sans"/>
                <a:cs typeface="Work Sans"/>
                <a:sym typeface="Work Sans"/>
              </a:rPr>
              <a:t>Shift marketing budget toward high-converting channels such as Email and Paid Ads. Reassess targeting strategy for Social traffic, which converts at 7%.</a:t>
            </a:r>
          </a:p>
        </p:txBody>
      </p:sp>
      <p:sp>
        <p:nvSpPr>
          <p:cNvPr id="13" name="TextBox 13"/>
          <p:cNvSpPr txBox="1"/>
          <p:nvPr/>
        </p:nvSpPr>
        <p:spPr>
          <a:xfrm>
            <a:off x="1916837" y="7480647"/>
            <a:ext cx="8358042" cy="1631950"/>
          </a:xfrm>
          <a:prstGeom prst="rect">
            <a:avLst/>
          </a:prstGeom>
        </p:spPr>
        <p:txBody>
          <a:bodyPr lIns="0" tIns="0" rIns="0" bIns="0" rtlCol="0" anchor="t">
            <a:spAutoFit/>
          </a:bodyPr>
          <a:lstStyle/>
          <a:p>
            <a:pPr algn="l">
              <a:lnSpc>
                <a:spcPts val="2600"/>
              </a:lnSpc>
            </a:pPr>
            <a:r>
              <a:rPr lang="en-US" sz="2000" spc="-110">
                <a:solidFill>
                  <a:srgbClr val="F8F7EF"/>
                </a:solidFill>
                <a:latin typeface="Work Sans"/>
                <a:ea typeface="Work Sans"/>
                <a:cs typeface="Work Sans"/>
                <a:sym typeface="Work Sans"/>
              </a:rPr>
              <a:t>This stage has the greatest revenue impact potential. Since downstream conversion performance is strong, even a small improvement in Add-to-Cart rates could significantly increase overall revenue. The focus should be on improving product relevance and customer targeting to capture more Product View stage customers.</a:t>
            </a:r>
          </a:p>
        </p:txBody>
      </p:sp>
      <p:sp>
        <p:nvSpPr>
          <p:cNvPr id="14" name="TextBox 14"/>
          <p:cNvSpPr txBox="1"/>
          <p:nvPr/>
        </p:nvSpPr>
        <p:spPr>
          <a:xfrm>
            <a:off x="1916837" y="6163023"/>
            <a:ext cx="8358042" cy="660400"/>
          </a:xfrm>
          <a:prstGeom prst="rect">
            <a:avLst/>
          </a:prstGeom>
        </p:spPr>
        <p:txBody>
          <a:bodyPr lIns="0" tIns="0" rIns="0" bIns="0" rtlCol="0" anchor="t">
            <a:spAutoFit/>
          </a:bodyPr>
          <a:lstStyle/>
          <a:p>
            <a:pPr algn="l">
              <a:lnSpc>
                <a:spcPts val="2600"/>
              </a:lnSpc>
            </a:pPr>
            <a:r>
              <a:rPr lang="en-US" sz="2000" spc="-110">
                <a:solidFill>
                  <a:srgbClr val="F8F7EF"/>
                </a:solidFill>
                <a:latin typeface="Work Sans"/>
                <a:ea typeface="Work Sans"/>
                <a:cs typeface="Work Sans"/>
                <a:sym typeface="Work Sans"/>
              </a:rPr>
              <a:t>Improve product descriptions, visuals, reviews, and pricing clarity to encourage Add to Cart behaviour from customers.</a:t>
            </a:r>
          </a:p>
        </p:txBody>
      </p:sp>
      <p:sp>
        <p:nvSpPr>
          <p:cNvPr id="15" name="TextBox 15"/>
          <p:cNvSpPr txBox="1"/>
          <p:nvPr/>
        </p:nvSpPr>
        <p:spPr>
          <a:xfrm>
            <a:off x="1916837" y="3873848"/>
            <a:ext cx="8358042" cy="1631950"/>
          </a:xfrm>
          <a:prstGeom prst="rect">
            <a:avLst/>
          </a:prstGeom>
        </p:spPr>
        <p:txBody>
          <a:bodyPr lIns="0" tIns="0" rIns="0" bIns="0" rtlCol="0" anchor="t">
            <a:spAutoFit/>
          </a:bodyPr>
          <a:lstStyle/>
          <a:p>
            <a:pPr algn="l">
              <a:lnSpc>
                <a:spcPts val="2600"/>
              </a:lnSpc>
            </a:pPr>
            <a:r>
              <a:rPr lang="en-US" sz="2000" spc="-110">
                <a:solidFill>
                  <a:srgbClr val="F8F7EF"/>
                </a:solidFill>
                <a:latin typeface="Work Sans"/>
                <a:ea typeface="Work Sans"/>
                <a:cs typeface="Work Sans"/>
                <a:sym typeface="Work Sans"/>
              </a:rPr>
              <a:t>A large number of customers leave at the Product View stage before adding anything to their cart. This suggests that many customers are not finding products that match what they expected when they clicked on our website. Introducing broader product options can capture more initial interest.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785</Words>
  <Application>Microsoft Office PowerPoint</Application>
  <PresentationFormat>Custom</PresentationFormat>
  <Paragraphs>99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Work Sans Semi-Bold</vt:lpstr>
      <vt:lpstr>Work Sans</vt:lpstr>
      <vt:lpstr>Calibri</vt:lpstr>
      <vt:lpstr>Work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Review of Purchase Stages</dc:title>
  <dc:description>Presentation - Review of Purchase Stages</dc:description>
  <cp:lastModifiedBy>Kopano Mofokeng</cp:lastModifiedBy>
  <cp:revision>1</cp:revision>
  <dcterms:created xsi:type="dcterms:W3CDTF">2006-08-16T00:00:00Z</dcterms:created>
  <dcterms:modified xsi:type="dcterms:W3CDTF">2026-03-10T05:08:50Z</dcterms:modified>
  <dc:identifier>DAHB7lY-Ksg</dc:identifier>
</cp:coreProperties>
</file>