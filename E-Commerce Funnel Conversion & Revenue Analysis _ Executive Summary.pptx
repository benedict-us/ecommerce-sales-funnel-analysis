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Lst>
  <p:sldSz cx="18288000" cy="10287000"/>
  <p:notesSz cx="6858000" cy="9144000"/>
  <p:embeddedFontLst>
    <p:embeddedFont>
      <p:font typeface="Work Sans Semi-Bold" charset="1" panose="00000000000000000000"/>
      <p:regular r:id="rId13"/>
    </p:embeddedFont>
    <p:embeddedFont>
      <p:font typeface="Work Sans" charset="1" panose="00000000000000000000"/>
      <p:regular r:id="rId14"/>
    </p:embeddedFont>
    <p:embeddedFont>
      <p:font typeface="Work Sans Bold" charset="1" panose="00000000000000000000"/>
      <p:regular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fonts/font13.fntdata" Type="http://schemas.openxmlformats.org/officeDocument/2006/relationships/font"/><Relationship Id="rId14" Target="fonts/font14.fntdata" Type="http://schemas.openxmlformats.org/officeDocument/2006/relationships/font"/><Relationship Id="rId15" Target="fonts/font15.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svg" Type="http://schemas.openxmlformats.org/officeDocument/2006/relationships/image"/><Relationship Id="rId11" Target="https://github.com/benedict-us/ecommerce-sales-funnel-analysis" TargetMode="External" Type="http://schemas.openxmlformats.org/officeDocument/2006/relationships/hyperlink"/><Relationship Id="rId12" Target="../media/image9.png" Type="http://schemas.openxmlformats.org/officeDocument/2006/relationships/image"/><Relationship Id="rId13" Target="../media/image10.svg" Type="http://schemas.openxmlformats.org/officeDocument/2006/relationships/image"/><Relationship Id="rId14" Target="../media/image11.png" Type="http://schemas.openxmlformats.org/officeDocument/2006/relationships/image"/><Relationship Id="rId15" Target="../media/image12.svg" Type="http://schemas.openxmlformats.org/officeDocument/2006/relationships/image"/><Relationship Id="rId2" Target="../media/image1.jpeg" Type="http://schemas.openxmlformats.org/officeDocument/2006/relationships/image"/><Relationship Id="rId3" Target="../media/image2.jpe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http://www.linkedin.com/in/kopanomofokeng/" TargetMode="External" Type="http://schemas.openxmlformats.org/officeDocument/2006/relationships/hyperlink"/><Relationship Id="rId9"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jpeg" Type="http://schemas.openxmlformats.org/officeDocument/2006/relationships/image"/><Relationship Id="rId3" Target="../media/image14.png" Type="http://schemas.openxmlformats.org/officeDocument/2006/relationships/image"/><Relationship Id="rId4" Target="../media/image1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9.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666750"/>
            <a:ext cx="16954500" cy="2686050"/>
            <a:chOff x="0" y="0"/>
            <a:chExt cx="4987154" cy="790100"/>
          </a:xfrm>
        </p:grpSpPr>
        <p:sp>
          <p:nvSpPr>
            <p:cNvPr name="Freeform 3" id="3"/>
            <p:cNvSpPr/>
            <p:nvPr/>
          </p:nvSpPr>
          <p:spPr>
            <a:xfrm flipH="false" flipV="false" rot="0">
              <a:off x="0" y="0"/>
              <a:ext cx="4987156" cy="790100"/>
            </a:xfrm>
            <a:custGeom>
              <a:avLst/>
              <a:gdLst/>
              <a:ahLst/>
              <a:cxnLst/>
              <a:rect r="r" b="b" t="t" l="l"/>
              <a:pathLst>
                <a:path h="790100" w="4987156">
                  <a:moveTo>
                    <a:pt x="4640197" y="0"/>
                  </a:moveTo>
                  <a:lnTo>
                    <a:pt x="148415" y="0"/>
                  </a:lnTo>
                  <a:cubicBezTo>
                    <a:pt x="66448" y="0"/>
                    <a:pt x="0" y="66448"/>
                    <a:pt x="0" y="148415"/>
                  </a:cubicBezTo>
                  <a:lnTo>
                    <a:pt x="0" y="510707"/>
                  </a:lnTo>
                  <a:cubicBezTo>
                    <a:pt x="0" y="547218"/>
                    <a:pt x="13458" y="582448"/>
                    <a:pt x="37800" y="609659"/>
                  </a:cubicBezTo>
                  <a:lnTo>
                    <a:pt x="154967" y="740636"/>
                  </a:lnTo>
                  <a:cubicBezTo>
                    <a:pt x="183122" y="772111"/>
                    <a:pt x="223353" y="790101"/>
                    <a:pt x="265584" y="790100"/>
                  </a:cubicBezTo>
                  <a:lnTo>
                    <a:pt x="4838740" y="790100"/>
                  </a:lnTo>
                  <a:cubicBezTo>
                    <a:pt x="4878102" y="790100"/>
                    <a:pt x="4915853" y="774464"/>
                    <a:pt x="4943686" y="746630"/>
                  </a:cubicBezTo>
                  <a:cubicBezTo>
                    <a:pt x="4971519" y="718797"/>
                    <a:pt x="4987156" y="681047"/>
                    <a:pt x="4987156" y="641685"/>
                  </a:cubicBezTo>
                  <a:lnTo>
                    <a:pt x="4987156" y="366141"/>
                  </a:lnTo>
                  <a:cubicBezTo>
                    <a:pt x="4987156" y="329143"/>
                    <a:pt x="4973337" y="293478"/>
                    <a:pt x="4948407" y="266140"/>
                  </a:cubicBezTo>
                  <a:lnTo>
                    <a:pt x="4749864" y="48414"/>
                  </a:lnTo>
                  <a:cubicBezTo>
                    <a:pt x="4721742" y="17574"/>
                    <a:pt x="4681934" y="0"/>
                    <a:pt x="4640197" y="0"/>
                  </a:cubicBezTo>
                  <a:close/>
                </a:path>
              </a:pathLst>
            </a:custGeom>
            <a:solidFill>
              <a:srgbClr val="093C25"/>
            </a:solidFill>
          </p:spPr>
        </p:sp>
      </p:grpSp>
      <p:grpSp>
        <p:nvGrpSpPr>
          <p:cNvPr name="Group 4" id="4"/>
          <p:cNvGrpSpPr/>
          <p:nvPr/>
        </p:nvGrpSpPr>
        <p:grpSpPr>
          <a:xfrm rot="0">
            <a:off x="10734675" y="6779029"/>
            <a:ext cx="6886575" cy="1400933"/>
            <a:chOff x="0" y="0"/>
            <a:chExt cx="1813748" cy="368970"/>
          </a:xfrm>
        </p:grpSpPr>
        <p:sp>
          <p:nvSpPr>
            <p:cNvPr name="Freeform 5" id="5"/>
            <p:cNvSpPr/>
            <p:nvPr/>
          </p:nvSpPr>
          <p:spPr>
            <a:xfrm flipH="false" flipV="false" rot="0">
              <a:off x="0" y="0"/>
              <a:ext cx="1813748" cy="368970"/>
            </a:xfrm>
            <a:custGeom>
              <a:avLst/>
              <a:gdLst/>
              <a:ahLst/>
              <a:cxnLst/>
              <a:rect r="r" b="b" t="t" l="l"/>
              <a:pathLst>
                <a:path h="368970" w="1813748">
                  <a:moveTo>
                    <a:pt x="44968" y="0"/>
                  </a:moveTo>
                  <a:lnTo>
                    <a:pt x="1768780" y="0"/>
                  </a:lnTo>
                  <a:cubicBezTo>
                    <a:pt x="1780706" y="0"/>
                    <a:pt x="1792144" y="4738"/>
                    <a:pt x="1800577" y="13171"/>
                  </a:cubicBezTo>
                  <a:cubicBezTo>
                    <a:pt x="1809011" y="21604"/>
                    <a:pt x="1813748" y="33042"/>
                    <a:pt x="1813748" y="44968"/>
                  </a:cubicBezTo>
                  <a:lnTo>
                    <a:pt x="1813748" y="324002"/>
                  </a:lnTo>
                  <a:cubicBezTo>
                    <a:pt x="1813748" y="335928"/>
                    <a:pt x="1809011" y="347366"/>
                    <a:pt x="1800577" y="355799"/>
                  </a:cubicBezTo>
                  <a:cubicBezTo>
                    <a:pt x="1792144" y="364232"/>
                    <a:pt x="1780706" y="368970"/>
                    <a:pt x="1768780" y="368970"/>
                  </a:cubicBezTo>
                  <a:lnTo>
                    <a:pt x="44968" y="368970"/>
                  </a:lnTo>
                  <a:cubicBezTo>
                    <a:pt x="33042" y="368970"/>
                    <a:pt x="21604" y="364232"/>
                    <a:pt x="13171" y="355799"/>
                  </a:cubicBezTo>
                  <a:cubicBezTo>
                    <a:pt x="4738" y="347366"/>
                    <a:pt x="0" y="335928"/>
                    <a:pt x="0" y="324002"/>
                  </a:cubicBezTo>
                  <a:lnTo>
                    <a:pt x="0" y="44968"/>
                  </a:lnTo>
                  <a:cubicBezTo>
                    <a:pt x="0" y="33042"/>
                    <a:pt x="4738" y="21604"/>
                    <a:pt x="13171" y="13171"/>
                  </a:cubicBezTo>
                  <a:cubicBezTo>
                    <a:pt x="21604" y="4738"/>
                    <a:pt x="33042" y="0"/>
                    <a:pt x="44968" y="0"/>
                  </a:cubicBezTo>
                  <a:close/>
                </a:path>
              </a:pathLst>
            </a:custGeom>
            <a:solidFill>
              <a:srgbClr val="FFFFFF"/>
            </a:solidFill>
          </p:spPr>
        </p:sp>
        <p:sp>
          <p:nvSpPr>
            <p:cNvPr name="TextBox 6" id="6"/>
            <p:cNvSpPr txBox="true"/>
            <p:nvPr/>
          </p:nvSpPr>
          <p:spPr>
            <a:xfrm>
              <a:off x="0" y="-57150"/>
              <a:ext cx="1813748" cy="426120"/>
            </a:xfrm>
            <a:prstGeom prst="rect">
              <a:avLst/>
            </a:prstGeom>
          </p:spPr>
          <p:txBody>
            <a:bodyPr anchor="ctr" rtlCol="false" tIns="50800" lIns="50800" bIns="50800" rIns="50800"/>
            <a:lstStyle/>
            <a:p>
              <a:pPr algn="ctr">
                <a:lnSpc>
                  <a:spcPts val="3359"/>
                </a:lnSpc>
              </a:pPr>
            </a:p>
          </p:txBody>
        </p:sp>
      </p:grpSp>
      <p:grpSp>
        <p:nvGrpSpPr>
          <p:cNvPr name="Group 7" id="7"/>
          <p:cNvGrpSpPr/>
          <p:nvPr/>
        </p:nvGrpSpPr>
        <p:grpSpPr>
          <a:xfrm rot="0">
            <a:off x="10734675" y="3657600"/>
            <a:ext cx="6886575" cy="2645179"/>
            <a:chOff x="0" y="0"/>
            <a:chExt cx="1066911" cy="409807"/>
          </a:xfrm>
        </p:grpSpPr>
        <p:sp>
          <p:nvSpPr>
            <p:cNvPr name="Freeform 8" id="8"/>
            <p:cNvSpPr/>
            <p:nvPr/>
          </p:nvSpPr>
          <p:spPr>
            <a:xfrm flipH="false" flipV="false" rot="0">
              <a:off x="0" y="0"/>
              <a:ext cx="1066911" cy="409807"/>
            </a:xfrm>
            <a:custGeom>
              <a:avLst/>
              <a:gdLst/>
              <a:ahLst/>
              <a:cxnLst/>
              <a:rect r="r" b="b" t="t" l="l"/>
              <a:pathLst>
                <a:path h="409807" w="1066911">
                  <a:moveTo>
                    <a:pt x="44968" y="0"/>
                  </a:moveTo>
                  <a:lnTo>
                    <a:pt x="1021942" y="0"/>
                  </a:lnTo>
                  <a:cubicBezTo>
                    <a:pt x="1033869" y="0"/>
                    <a:pt x="1045307" y="4738"/>
                    <a:pt x="1053740" y="13171"/>
                  </a:cubicBezTo>
                  <a:cubicBezTo>
                    <a:pt x="1062173" y="21604"/>
                    <a:pt x="1066911" y="33042"/>
                    <a:pt x="1066911" y="44968"/>
                  </a:cubicBezTo>
                  <a:lnTo>
                    <a:pt x="1066911" y="364839"/>
                  </a:lnTo>
                  <a:cubicBezTo>
                    <a:pt x="1066911" y="389675"/>
                    <a:pt x="1046778" y="409807"/>
                    <a:pt x="1021942" y="409807"/>
                  </a:cubicBezTo>
                  <a:lnTo>
                    <a:pt x="44968" y="409807"/>
                  </a:lnTo>
                  <a:cubicBezTo>
                    <a:pt x="33042" y="409807"/>
                    <a:pt x="21604" y="405070"/>
                    <a:pt x="13171" y="396637"/>
                  </a:cubicBezTo>
                  <a:cubicBezTo>
                    <a:pt x="4738" y="388203"/>
                    <a:pt x="0" y="376766"/>
                    <a:pt x="0" y="364839"/>
                  </a:cubicBezTo>
                  <a:lnTo>
                    <a:pt x="0" y="44968"/>
                  </a:lnTo>
                  <a:cubicBezTo>
                    <a:pt x="0" y="33042"/>
                    <a:pt x="4738" y="21604"/>
                    <a:pt x="13171" y="13171"/>
                  </a:cubicBezTo>
                  <a:cubicBezTo>
                    <a:pt x="21604" y="4738"/>
                    <a:pt x="33042" y="0"/>
                    <a:pt x="44968" y="0"/>
                  </a:cubicBezTo>
                  <a:close/>
                </a:path>
              </a:pathLst>
            </a:custGeom>
            <a:blipFill>
              <a:blip r:embed="rId2"/>
              <a:stretch>
                <a:fillRect l="0" t="-22896" r="0" b="-22896"/>
              </a:stretch>
            </a:blipFill>
          </p:spPr>
        </p:sp>
      </p:grpSp>
      <p:grpSp>
        <p:nvGrpSpPr>
          <p:cNvPr name="Group 9" id="9"/>
          <p:cNvGrpSpPr/>
          <p:nvPr/>
        </p:nvGrpSpPr>
        <p:grpSpPr>
          <a:xfrm rot="0">
            <a:off x="666750" y="3657600"/>
            <a:ext cx="9763125" cy="5962650"/>
            <a:chOff x="0" y="0"/>
            <a:chExt cx="4083676" cy="2494030"/>
          </a:xfrm>
        </p:grpSpPr>
        <p:sp>
          <p:nvSpPr>
            <p:cNvPr name="Freeform 10" id="10"/>
            <p:cNvSpPr/>
            <p:nvPr/>
          </p:nvSpPr>
          <p:spPr>
            <a:xfrm flipH="false" flipV="false" rot="0">
              <a:off x="54483" y="50038"/>
              <a:ext cx="3974583" cy="2394589"/>
            </a:xfrm>
            <a:custGeom>
              <a:avLst/>
              <a:gdLst/>
              <a:ahLst/>
              <a:cxnLst/>
              <a:rect r="r" b="b" t="t" l="l"/>
              <a:pathLst>
                <a:path h="2394589" w="3974583">
                  <a:moveTo>
                    <a:pt x="3886953" y="2394589"/>
                  </a:moveTo>
                  <a:lnTo>
                    <a:pt x="87757" y="2394589"/>
                  </a:lnTo>
                  <a:cubicBezTo>
                    <a:pt x="39370" y="2394589"/>
                    <a:pt x="0" y="2355346"/>
                    <a:pt x="0" y="2306832"/>
                  </a:cubicBezTo>
                  <a:lnTo>
                    <a:pt x="0" y="87757"/>
                  </a:lnTo>
                  <a:cubicBezTo>
                    <a:pt x="0" y="39370"/>
                    <a:pt x="39243" y="0"/>
                    <a:pt x="87757" y="0"/>
                  </a:cubicBezTo>
                  <a:lnTo>
                    <a:pt x="3886826" y="0"/>
                  </a:lnTo>
                  <a:cubicBezTo>
                    <a:pt x="3935213" y="0"/>
                    <a:pt x="3974583" y="39243"/>
                    <a:pt x="3974583" y="87757"/>
                  </a:cubicBezTo>
                  <a:lnTo>
                    <a:pt x="3974583" y="2306832"/>
                  </a:lnTo>
                  <a:cubicBezTo>
                    <a:pt x="3974583" y="2355219"/>
                    <a:pt x="3935340" y="2394589"/>
                    <a:pt x="3886826" y="2394589"/>
                  </a:cubicBezTo>
                  <a:close/>
                </a:path>
              </a:pathLst>
            </a:custGeom>
            <a:blipFill>
              <a:blip r:embed="rId3"/>
              <a:stretch>
                <a:fillRect l="0" t="-209" r="0" b="-209"/>
              </a:stretch>
            </a:blipFill>
          </p:spPr>
        </p:sp>
        <p:sp>
          <p:nvSpPr>
            <p:cNvPr name="Freeform 11" id="11"/>
            <p:cNvSpPr/>
            <p:nvPr/>
          </p:nvSpPr>
          <p:spPr>
            <a:xfrm flipH="false" flipV="false" rot="0">
              <a:off x="0" y="0"/>
              <a:ext cx="4083549" cy="2493903"/>
            </a:xfrm>
            <a:custGeom>
              <a:avLst/>
              <a:gdLst/>
              <a:ahLst/>
              <a:cxnLst/>
              <a:rect r="r" b="b" t="t" l="l"/>
              <a:pathLst>
                <a:path h="2493903" w="4083549">
                  <a:moveTo>
                    <a:pt x="0" y="91567"/>
                  </a:moveTo>
                  <a:lnTo>
                    <a:pt x="0" y="2402337"/>
                  </a:lnTo>
                  <a:cubicBezTo>
                    <a:pt x="0" y="2452882"/>
                    <a:pt x="41021" y="2493903"/>
                    <a:pt x="91567" y="2493903"/>
                  </a:cubicBezTo>
                  <a:lnTo>
                    <a:pt x="3991982" y="2493903"/>
                  </a:lnTo>
                  <a:cubicBezTo>
                    <a:pt x="4042528" y="2493903"/>
                    <a:pt x="4083549" y="2452882"/>
                    <a:pt x="4083549" y="2402337"/>
                  </a:cubicBezTo>
                  <a:lnTo>
                    <a:pt x="4083549" y="91567"/>
                  </a:lnTo>
                  <a:cubicBezTo>
                    <a:pt x="4083549" y="41021"/>
                    <a:pt x="4042528" y="0"/>
                    <a:pt x="3991982" y="0"/>
                  </a:cubicBezTo>
                  <a:lnTo>
                    <a:pt x="91567" y="0"/>
                  </a:lnTo>
                  <a:cubicBezTo>
                    <a:pt x="41021" y="0"/>
                    <a:pt x="0" y="41021"/>
                    <a:pt x="0" y="91567"/>
                  </a:cubicBezTo>
                  <a:close/>
                  <a:moveTo>
                    <a:pt x="3241793" y="331724"/>
                  </a:moveTo>
                  <a:lnTo>
                    <a:pt x="3900923" y="331724"/>
                  </a:lnTo>
                  <a:cubicBezTo>
                    <a:pt x="3951469" y="331724"/>
                    <a:pt x="3992490" y="372745"/>
                    <a:pt x="3992490" y="423291"/>
                  </a:cubicBezTo>
                  <a:lnTo>
                    <a:pt x="3992490" y="2311277"/>
                  </a:lnTo>
                  <a:cubicBezTo>
                    <a:pt x="3992490" y="2361823"/>
                    <a:pt x="3951469" y="2402844"/>
                    <a:pt x="3900923" y="2402844"/>
                  </a:cubicBezTo>
                  <a:lnTo>
                    <a:pt x="182753" y="2402844"/>
                  </a:lnTo>
                  <a:cubicBezTo>
                    <a:pt x="132207" y="2402844"/>
                    <a:pt x="91186" y="2361823"/>
                    <a:pt x="91186" y="2311277"/>
                  </a:cubicBezTo>
                  <a:lnTo>
                    <a:pt x="91186" y="182753"/>
                  </a:lnTo>
                  <a:cubicBezTo>
                    <a:pt x="91186" y="132207"/>
                    <a:pt x="132207" y="91186"/>
                    <a:pt x="182753" y="91186"/>
                  </a:cubicBezTo>
                  <a:lnTo>
                    <a:pt x="2944740" y="91186"/>
                  </a:lnTo>
                  <a:cubicBezTo>
                    <a:pt x="2970775" y="91186"/>
                    <a:pt x="2995667" y="102235"/>
                    <a:pt x="3013066" y="121666"/>
                  </a:cubicBezTo>
                  <a:lnTo>
                    <a:pt x="3173721" y="301244"/>
                  </a:lnTo>
                  <a:cubicBezTo>
                    <a:pt x="3191120" y="320675"/>
                    <a:pt x="3215885" y="331724"/>
                    <a:pt x="3242047" y="331724"/>
                  </a:cubicBezTo>
                  <a:lnTo>
                    <a:pt x="3241793" y="331724"/>
                  </a:lnTo>
                  <a:close/>
                </a:path>
              </a:pathLst>
            </a:custGeom>
            <a:solidFill>
              <a:srgbClr val="E8FF54"/>
            </a:solidFill>
          </p:spPr>
        </p:sp>
      </p:grpSp>
      <p:sp>
        <p:nvSpPr>
          <p:cNvPr name="Freeform 12" id="12"/>
          <p:cNvSpPr/>
          <p:nvPr/>
        </p:nvSpPr>
        <p:spPr>
          <a:xfrm flipH="false" flipV="false" rot="0">
            <a:off x="15220953" y="1376364"/>
            <a:ext cx="1266822" cy="1266822"/>
          </a:xfrm>
          <a:custGeom>
            <a:avLst/>
            <a:gdLst/>
            <a:ahLst/>
            <a:cxnLst/>
            <a:rect r="r" b="b" t="t" l="l"/>
            <a:pathLst>
              <a:path h="1266822" w="1266822">
                <a:moveTo>
                  <a:pt x="0" y="0"/>
                </a:moveTo>
                <a:lnTo>
                  <a:pt x="1266822" y="0"/>
                </a:lnTo>
                <a:lnTo>
                  <a:pt x="1266822" y="1266822"/>
                </a:lnTo>
                <a:lnTo>
                  <a:pt x="0" y="126682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3" id="13">
            <a:hlinkClick r:id="rId8" tooltip="http://www.linkedin.com/in/kopanomofokeng/"/>
          </p:cNvPr>
          <p:cNvSpPr/>
          <p:nvPr/>
        </p:nvSpPr>
        <p:spPr>
          <a:xfrm flipH="false" flipV="false" rot="0">
            <a:off x="16637651" y="8354675"/>
            <a:ext cx="983599" cy="983599"/>
          </a:xfrm>
          <a:custGeom>
            <a:avLst/>
            <a:gdLst/>
            <a:ahLst/>
            <a:cxnLst/>
            <a:rect r="r" b="b" t="t" l="l"/>
            <a:pathLst>
              <a:path h="983599" w="983599">
                <a:moveTo>
                  <a:pt x="0" y="0"/>
                </a:moveTo>
                <a:lnTo>
                  <a:pt x="983599" y="0"/>
                </a:lnTo>
                <a:lnTo>
                  <a:pt x="983599" y="983599"/>
                </a:lnTo>
                <a:lnTo>
                  <a:pt x="0" y="98359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4" id="14">
            <a:hlinkClick r:id="rId11" tooltip="https://github.com/benedict-us/ecommerce-sales-funnel-analysis"/>
          </p:cNvPr>
          <p:cNvSpPr/>
          <p:nvPr/>
        </p:nvSpPr>
        <p:spPr>
          <a:xfrm flipH="false" flipV="false" rot="0">
            <a:off x="14666596" y="8339982"/>
            <a:ext cx="998292" cy="998292"/>
          </a:xfrm>
          <a:custGeom>
            <a:avLst/>
            <a:gdLst/>
            <a:ahLst/>
            <a:cxnLst/>
            <a:rect r="r" b="b" t="t" l="l"/>
            <a:pathLst>
              <a:path h="998292" w="998292">
                <a:moveTo>
                  <a:pt x="0" y="0"/>
                </a:moveTo>
                <a:lnTo>
                  <a:pt x="998292" y="0"/>
                </a:lnTo>
                <a:lnTo>
                  <a:pt x="998292" y="998292"/>
                </a:lnTo>
                <a:lnTo>
                  <a:pt x="0" y="99829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5" id="15"/>
          <p:cNvSpPr/>
          <p:nvPr/>
        </p:nvSpPr>
        <p:spPr>
          <a:xfrm flipH="false" flipV="false" rot="0">
            <a:off x="12996032" y="8646110"/>
            <a:ext cx="1374606" cy="386035"/>
          </a:xfrm>
          <a:custGeom>
            <a:avLst/>
            <a:gdLst/>
            <a:ahLst/>
            <a:cxnLst/>
            <a:rect r="r" b="b" t="t" l="l"/>
            <a:pathLst>
              <a:path h="386035" w="1374606">
                <a:moveTo>
                  <a:pt x="0" y="0"/>
                </a:moveTo>
                <a:lnTo>
                  <a:pt x="1374606" y="0"/>
                </a:lnTo>
                <a:lnTo>
                  <a:pt x="1374606" y="386035"/>
                </a:lnTo>
                <a:lnTo>
                  <a:pt x="0" y="386035"/>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6" id="16"/>
          <p:cNvSpPr/>
          <p:nvPr/>
        </p:nvSpPr>
        <p:spPr>
          <a:xfrm flipH="false" flipV="false" rot="0">
            <a:off x="11001528" y="9338274"/>
            <a:ext cx="6352869" cy="714698"/>
          </a:xfrm>
          <a:custGeom>
            <a:avLst/>
            <a:gdLst/>
            <a:ahLst/>
            <a:cxnLst/>
            <a:rect r="r" b="b" t="t" l="l"/>
            <a:pathLst>
              <a:path h="714698" w="6352869">
                <a:moveTo>
                  <a:pt x="0" y="0"/>
                </a:moveTo>
                <a:lnTo>
                  <a:pt x="6352869" y="0"/>
                </a:lnTo>
                <a:lnTo>
                  <a:pt x="6352869" y="714698"/>
                </a:lnTo>
                <a:lnTo>
                  <a:pt x="0" y="714698"/>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TextBox 17" id="17"/>
          <p:cNvSpPr txBox="true"/>
          <p:nvPr/>
        </p:nvSpPr>
        <p:spPr>
          <a:xfrm rot="0">
            <a:off x="1320434" y="1168582"/>
            <a:ext cx="13424266" cy="1809755"/>
          </a:xfrm>
          <a:prstGeom prst="rect">
            <a:avLst/>
          </a:prstGeom>
        </p:spPr>
        <p:txBody>
          <a:bodyPr anchor="t" rtlCol="false" tIns="0" lIns="0" bIns="0" rIns="0">
            <a:spAutoFit/>
          </a:bodyPr>
          <a:lstStyle/>
          <a:p>
            <a:pPr algn="l" marL="0" indent="0" lvl="0">
              <a:lnSpc>
                <a:spcPts val="6840"/>
              </a:lnSpc>
            </a:pPr>
            <a:r>
              <a:rPr lang="en-US" b="true" sz="7200" spc="-396">
                <a:solidFill>
                  <a:srgbClr val="F8F7EF"/>
                </a:solidFill>
                <a:latin typeface="Work Sans Semi-Bold"/>
                <a:ea typeface="Work Sans Semi-Bold"/>
                <a:cs typeface="Work Sans Semi-Bold"/>
                <a:sym typeface="Work Sans Semi-Bold"/>
              </a:rPr>
              <a:t>E-Commerce Funnel Conversion &amp; Revenue Analysis</a:t>
            </a:r>
          </a:p>
        </p:txBody>
      </p:sp>
      <p:grpSp>
        <p:nvGrpSpPr>
          <p:cNvPr name="Group 18" id="18"/>
          <p:cNvGrpSpPr/>
          <p:nvPr/>
        </p:nvGrpSpPr>
        <p:grpSpPr>
          <a:xfrm rot="0">
            <a:off x="11376357" y="6979550"/>
            <a:ext cx="5603210" cy="999890"/>
            <a:chOff x="0" y="0"/>
            <a:chExt cx="7470947" cy="1333187"/>
          </a:xfrm>
        </p:grpSpPr>
        <p:sp>
          <p:nvSpPr>
            <p:cNvPr name="TextBox 19" id="19"/>
            <p:cNvSpPr txBox="true"/>
            <p:nvPr/>
          </p:nvSpPr>
          <p:spPr>
            <a:xfrm rot="0">
              <a:off x="0" y="-47625"/>
              <a:ext cx="7470947" cy="657225"/>
            </a:xfrm>
            <a:prstGeom prst="rect">
              <a:avLst/>
            </a:prstGeom>
          </p:spPr>
          <p:txBody>
            <a:bodyPr anchor="t" rtlCol="false" tIns="0" lIns="0" bIns="0" rIns="0">
              <a:spAutoFit/>
            </a:bodyPr>
            <a:lstStyle/>
            <a:p>
              <a:pPr algn="l" marL="0" indent="0" lvl="0">
                <a:lnSpc>
                  <a:spcPts val="3900"/>
                </a:lnSpc>
              </a:pPr>
              <a:r>
                <a:rPr lang="en-US" b="true" sz="3000" spc="-165">
                  <a:solidFill>
                    <a:srgbClr val="093C25"/>
                  </a:solidFill>
                  <a:latin typeface="Work Sans Semi-Bold"/>
                  <a:ea typeface="Work Sans Semi-Bold"/>
                  <a:cs typeface="Work Sans Semi-Bold"/>
                  <a:sym typeface="Work Sans Semi-Bold"/>
                </a:rPr>
                <a:t>Analysis </a:t>
              </a:r>
              <a:r>
                <a:rPr lang="en-US" b="true" sz="3000" spc="-165">
                  <a:solidFill>
                    <a:srgbClr val="093C25"/>
                  </a:solidFill>
                  <a:latin typeface="Work Sans Semi-Bold"/>
                  <a:ea typeface="Work Sans Semi-Bold"/>
                  <a:cs typeface="Work Sans Semi-Bold"/>
                  <a:sym typeface="Work Sans Semi-Bold"/>
                </a:rPr>
                <a:t>by</a:t>
              </a:r>
            </a:p>
          </p:txBody>
        </p:sp>
        <p:sp>
          <p:nvSpPr>
            <p:cNvPr name="TextBox 20" id="20"/>
            <p:cNvSpPr txBox="true"/>
            <p:nvPr/>
          </p:nvSpPr>
          <p:spPr>
            <a:xfrm rot="0">
              <a:off x="0" y="675962"/>
              <a:ext cx="7470947" cy="657225"/>
            </a:xfrm>
            <a:prstGeom prst="rect">
              <a:avLst/>
            </a:prstGeom>
          </p:spPr>
          <p:txBody>
            <a:bodyPr anchor="t" rtlCol="false" tIns="0" lIns="0" bIns="0" rIns="0">
              <a:spAutoFit/>
            </a:bodyPr>
            <a:lstStyle/>
            <a:p>
              <a:pPr algn="l" marL="0" indent="0" lvl="0">
                <a:lnSpc>
                  <a:spcPts val="3900"/>
                </a:lnSpc>
              </a:pPr>
              <a:r>
                <a:rPr lang="en-US" sz="3000" spc="-165">
                  <a:solidFill>
                    <a:srgbClr val="093C25"/>
                  </a:solidFill>
                  <a:latin typeface="Work Sans"/>
                  <a:ea typeface="Work Sans"/>
                  <a:cs typeface="Work Sans"/>
                  <a:sym typeface="Work Sans"/>
                </a:rPr>
                <a:t>Kopano Mofokeng</a:t>
              </a:r>
            </a:p>
          </p:txBody>
        </p:sp>
      </p:grpSp>
      <p:sp>
        <p:nvSpPr>
          <p:cNvPr name="TextBox 21" id="21"/>
          <p:cNvSpPr txBox="true"/>
          <p:nvPr/>
        </p:nvSpPr>
        <p:spPr>
          <a:xfrm rot="0">
            <a:off x="16080606" y="8570487"/>
            <a:ext cx="141327" cy="544830"/>
          </a:xfrm>
          <a:prstGeom prst="rect">
            <a:avLst/>
          </a:prstGeom>
        </p:spPr>
        <p:txBody>
          <a:bodyPr anchor="t" rtlCol="false" tIns="0" lIns="0" bIns="0" rIns="0">
            <a:spAutoFit/>
          </a:bodyPr>
          <a:lstStyle/>
          <a:p>
            <a:pPr algn="ctr">
              <a:lnSpc>
                <a:spcPts val="4199"/>
              </a:lnSpc>
              <a:spcBef>
                <a:spcPct val="0"/>
              </a:spcBef>
            </a:pPr>
            <a:r>
              <a:rPr lang="en-US" b="true" sz="4199" spc="-230">
                <a:solidFill>
                  <a:srgbClr val="000000"/>
                </a:solidFill>
                <a:latin typeface="Work Sans Bold"/>
                <a:ea typeface="Work Sans Bold"/>
                <a:cs typeface="Work Sans Bold"/>
                <a:sym typeface="Work Sans Bold"/>
              </a:rPr>
              <a:t>|</a:t>
            </a:r>
          </a:p>
        </p:txBody>
      </p:sp>
      <p:sp>
        <p:nvSpPr>
          <p:cNvPr name="TextBox 22" id="22"/>
          <p:cNvSpPr txBox="true"/>
          <p:nvPr/>
        </p:nvSpPr>
        <p:spPr>
          <a:xfrm rot="0">
            <a:off x="11001528" y="8635892"/>
            <a:ext cx="1698546" cy="375920"/>
          </a:xfrm>
          <a:prstGeom prst="rect">
            <a:avLst/>
          </a:prstGeom>
        </p:spPr>
        <p:txBody>
          <a:bodyPr anchor="t" rtlCol="false" tIns="0" lIns="0" bIns="0" rIns="0">
            <a:spAutoFit/>
          </a:bodyPr>
          <a:lstStyle/>
          <a:p>
            <a:pPr algn="ctr">
              <a:lnSpc>
                <a:spcPts val="2799"/>
              </a:lnSpc>
              <a:spcBef>
                <a:spcPct val="0"/>
              </a:spcBef>
            </a:pPr>
            <a:r>
              <a:rPr lang="en-US" b="true" sz="2799" spc="-153">
                <a:solidFill>
                  <a:srgbClr val="000000"/>
                </a:solidFill>
                <a:latin typeface="Work Sans Bold"/>
                <a:ea typeface="Work Sans Bold"/>
                <a:cs typeface="Work Sans Bold"/>
                <a:sym typeface="Work Sans Bold"/>
              </a:rPr>
              <a:t>Click Here:</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666750"/>
            <a:ext cx="13244896" cy="8953500"/>
            <a:chOff x="0" y="0"/>
            <a:chExt cx="2577814" cy="1742593"/>
          </a:xfrm>
        </p:grpSpPr>
        <p:sp>
          <p:nvSpPr>
            <p:cNvPr name="Freeform 3" id="3"/>
            <p:cNvSpPr/>
            <p:nvPr/>
          </p:nvSpPr>
          <p:spPr>
            <a:xfrm flipH="false" flipV="false" rot="0">
              <a:off x="0" y="0"/>
              <a:ext cx="2577814" cy="1742587"/>
            </a:xfrm>
            <a:custGeom>
              <a:avLst/>
              <a:gdLst/>
              <a:ahLst/>
              <a:cxnLst/>
              <a:rect r="r" b="b" t="t" l="l"/>
              <a:pathLst>
                <a:path h="1742587" w="2577814">
                  <a:moveTo>
                    <a:pt x="965120" y="1606277"/>
                  </a:moveTo>
                  <a:cubicBezTo>
                    <a:pt x="983327" y="1585924"/>
                    <a:pt x="1009342" y="1574291"/>
                    <a:pt x="1036650" y="1574291"/>
                  </a:cubicBezTo>
                  <a:lnTo>
                    <a:pt x="2491549" y="1574626"/>
                  </a:lnTo>
                  <a:cubicBezTo>
                    <a:pt x="2514424" y="1574639"/>
                    <a:pt x="2536366" y="1565561"/>
                    <a:pt x="2552545" y="1549390"/>
                  </a:cubicBezTo>
                  <a:cubicBezTo>
                    <a:pt x="2568724" y="1533220"/>
                    <a:pt x="2577814" y="1511283"/>
                    <a:pt x="2577814" y="1488408"/>
                  </a:cubicBezTo>
                  <a:lnTo>
                    <a:pt x="2577814" y="86219"/>
                  </a:lnTo>
                  <a:cubicBezTo>
                    <a:pt x="2577814" y="63352"/>
                    <a:pt x="2568730" y="41422"/>
                    <a:pt x="2552561" y="25253"/>
                  </a:cubicBezTo>
                  <a:cubicBezTo>
                    <a:pt x="2536392" y="9084"/>
                    <a:pt x="2514462" y="0"/>
                    <a:pt x="2491595" y="0"/>
                  </a:cubicBezTo>
                  <a:lnTo>
                    <a:pt x="303022" y="0"/>
                  </a:lnTo>
                  <a:cubicBezTo>
                    <a:pt x="278489" y="-1"/>
                    <a:pt x="255117" y="10450"/>
                    <a:pt x="238760" y="28735"/>
                  </a:cubicBezTo>
                  <a:lnTo>
                    <a:pt x="21960" y="271092"/>
                  </a:lnTo>
                  <a:cubicBezTo>
                    <a:pt x="7818" y="286900"/>
                    <a:pt x="0" y="307366"/>
                    <a:pt x="0" y="328576"/>
                  </a:cubicBezTo>
                  <a:lnTo>
                    <a:pt x="0" y="1656375"/>
                  </a:lnTo>
                  <a:cubicBezTo>
                    <a:pt x="4" y="1703990"/>
                    <a:pt x="38604" y="1742587"/>
                    <a:pt x="86219" y="1742587"/>
                  </a:cubicBezTo>
                  <a:lnTo>
                    <a:pt x="804624" y="1742587"/>
                  </a:lnTo>
                  <a:cubicBezTo>
                    <a:pt x="829157" y="1742588"/>
                    <a:pt x="852529" y="1732137"/>
                    <a:pt x="868886" y="1713853"/>
                  </a:cubicBezTo>
                  <a:close/>
                </a:path>
              </a:pathLst>
            </a:custGeom>
            <a:solidFill>
              <a:srgbClr val="FFFFFF"/>
            </a:solidFill>
          </p:spPr>
        </p:sp>
      </p:grpSp>
      <p:grpSp>
        <p:nvGrpSpPr>
          <p:cNvPr name="Group 4" id="4"/>
          <p:cNvGrpSpPr/>
          <p:nvPr/>
        </p:nvGrpSpPr>
        <p:grpSpPr>
          <a:xfrm rot="0">
            <a:off x="2105025" y="1562100"/>
            <a:ext cx="12639675" cy="6346788"/>
            <a:chOff x="0" y="0"/>
            <a:chExt cx="16852900" cy="8462384"/>
          </a:xfrm>
        </p:grpSpPr>
        <p:sp>
          <p:nvSpPr>
            <p:cNvPr name="TextBox 5" id="5"/>
            <p:cNvSpPr txBox="true"/>
            <p:nvPr/>
          </p:nvSpPr>
          <p:spPr>
            <a:xfrm rot="0">
              <a:off x="0" y="133350"/>
              <a:ext cx="16852900" cy="1284817"/>
            </a:xfrm>
            <a:prstGeom prst="rect">
              <a:avLst/>
            </a:prstGeom>
          </p:spPr>
          <p:txBody>
            <a:bodyPr anchor="t" rtlCol="false" tIns="0" lIns="0" bIns="0" rIns="0">
              <a:spAutoFit/>
            </a:bodyPr>
            <a:lstStyle/>
            <a:p>
              <a:pPr algn="l" marL="0" indent="0" lvl="0">
                <a:lnSpc>
                  <a:spcPts val="6999"/>
                </a:lnSpc>
              </a:pPr>
              <a:r>
                <a:rPr lang="en-US" b="true" sz="6999" spc="-384" strike="noStrike" u="none">
                  <a:solidFill>
                    <a:srgbClr val="093C25"/>
                  </a:solidFill>
                  <a:latin typeface="Work Sans Semi-Bold"/>
                  <a:ea typeface="Work Sans Semi-Bold"/>
                  <a:cs typeface="Work Sans Semi-Bold"/>
                  <a:sym typeface="Work Sans Semi-Bold"/>
                </a:rPr>
                <a:t>B</a:t>
              </a:r>
              <a:r>
                <a:rPr lang="en-US" b="true" sz="6999" spc="-384" strike="noStrike" u="none">
                  <a:solidFill>
                    <a:srgbClr val="093C25"/>
                  </a:solidFill>
                  <a:latin typeface="Work Sans Semi-Bold"/>
                  <a:ea typeface="Work Sans Semi-Bold"/>
                  <a:cs typeface="Work Sans Semi-Bold"/>
                  <a:sym typeface="Work Sans Semi-Bold"/>
                </a:rPr>
                <a:t>us</a:t>
              </a:r>
              <a:r>
                <a:rPr lang="en-US" b="true" sz="6999" spc="-384" strike="noStrike" u="none">
                  <a:solidFill>
                    <a:srgbClr val="093C25"/>
                  </a:solidFill>
                  <a:latin typeface="Work Sans Semi-Bold"/>
                  <a:ea typeface="Work Sans Semi-Bold"/>
                  <a:cs typeface="Work Sans Semi-Bold"/>
                  <a:sym typeface="Work Sans Semi-Bold"/>
                </a:rPr>
                <a:t>in</a:t>
              </a:r>
              <a:r>
                <a:rPr lang="en-US" b="true" sz="6999" spc="-384" strike="noStrike" u="none">
                  <a:solidFill>
                    <a:srgbClr val="093C25"/>
                  </a:solidFill>
                  <a:latin typeface="Work Sans Semi-Bold"/>
                  <a:ea typeface="Work Sans Semi-Bold"/>
                  <a:cs typeface="Work Sans Semi-Bold"/>
                  <a:sym typeface="Work Sans Semi-Bold"/>
                </a:rPr>
                <a:t>e</a:t>
              </a:r>
              <a:r>
                <a:rPr lang="en-US" b="true" sz="6999" spc="-384" strike="noStrike" u="none">
                  <a:solidFill>
                    <a:srgbClr val="093C25"/>
                  </a:solidFill>
                  <a:latin typeface="Work Sans Semi-Bold"/>
                  <a:ea typeface="Work Sans Semi-Bold"/>
                  <a:cs typeface="Work Sans Semi-Bold"/>
                  <a:sym typeface="Work Sans Semi-Bold"/>
                </a:rPr>
                <a:t>ss</a:t>
              </a:r>
              <a:r>
                <a:rPr lang="en-US" b="true" sz="6999" spc="-384" strike="noStrike" u="none">
                  <a:solidFill>
                    <a:srgbClr val="093C25"/>
                  </a:solidFill>
                  <a:latin typeface="Work Sans Semi-Bold"/>
                  <a:ea typeface="Work Sans Semi-Bold"/>
                  <a:cs typeface="Work Sans Semi-Bold"/>
                  <a:sym typeface="Work Sans Semi-Bold"/>
                </a:rPr>
                <a:t> </a:t>
              </a:r>
              <a:r>
                <a:rPr lang="en-US" b="true" sz="6999" spc="-384" strike="noStrike" u="none">
                  <a:solidFill>
                    <a:srgbClr val="093C25"/>
                  </a:solidFill>
                  <a:latin typeface="Work Sans Semi-Bold"/>
                  <a:ea typeface="Work Sans Semi-Bold"/>
                  <a:cs typeface="Work Sans Semi-Bold"/>
                  <a:sym typeface="Work Sans Semi-Bold"/>
                </a:rPr>
                <a:t>Con</a:t>
              </a:r>
              <a:r>
                <a:rPr lang="en-US" b="true" sz="6999" spc="-384" strike="noStrike" u="none">
                  <a:solidFill>
                    <a:srgbClr val="093C25"/>
                  </a:solidFill>
                  <a:latin typeface="Work Sans Semi-Bold"/>
                  <a:ea typeface="Work Sans Semi-Bold"/>
                  <a:cs typeface="Work Sans Semi-Bold"/>
                  <a:sym typeface="Work Sans Semi-Bold"/>
                </a:rPr>
                <a:t>te</a:t>
              </a:r>
              <a:r>
                <a:rPr lang="en-US" b="true" sz="6999" spc="-384" strike="noStrike" u="none">
                  <a:solidFill>
                    <a:srgbClr val="093C25"/>
                  </a:solidFill>
                  <a:latin typeface="Work Sans Semi-Bold"/>
                  <a:ea typeface="Work Sans Semi-Bold"/>
                  <a:cs typeface="Work Sans Semi-Bold"/>
                  <a:sym typeface="Work Sans Semi-Bold"/>
                </a:rPr>
                <a:t>xt</a:t>
              </a:r>
            </a:p>
          </p:txBody>
        </p:sp>
        <p:sp>
          <p:nvSpPr>
            <p:cNvPr name="TextBox 6" id="6"/>
            <p:cNvSpPr txBox="true"/>
            <p:nvPr/>
          </p:nvSpPr>
          <p:spPr>
            <a:xfrm rot="0">
              <a:off x="0" y="1611369"/>
              <a:ext cx="14580202" cy="6851015"/>
            </a:xfrm>
            <a:prstGeom prst="rect">
              <a:avLst/>
            </a:prstGeom>
          </p:spPr>
          <p:txBody>
            <a:bodyPr anchor="t" rtlCol="false" tIns="0" lIns="0" bIns="0" rIns="0">
              <a:spAutoFit/>
            </a:bodyPr>
            <a:lstStyle/>
            <a:p>
              <a:pPr algn="l">
                <a:lnSpc>
                  <a:spcPts val="2730"/>
                </a:lnSpc>
              </a:pPr>
              <a:r>
                <a:rPr lang="en-US" sz="2100" spc="-115">
                  <a:solidFill>
                    <a:srgbClr val="093C25"/>
                  </a:solidFill>
                  <a:latin typeface="Work Sans"/>
                  <a:ea typeface="Work Sans"/>
                  <a:cs typeface="Work Sans"/>
                  <a:sym typeface="Work Sans"/>
                </a:rPr>
                <a:t>The objective of this analysis was to evaluate customer behaviour across the five-stage purchase journey: </a:t>
              </a:r>
              <a:r>
                <a:rPr lang="en-US" sz="2100" spc="-115">
                  <a:solidFill>
                    <a:srgbClr val="093C25"/>
                  </a:solidFill>
                  <a:latin typeface="Work Sans"/>
                  <a:ea typeface="Work Sans"/>
                  <a:cs typeface="Work Sans"/>
                  <a:sym typeface="Work Sans"/>
                </a:rPr>
                <a:t>Product View, Add to Cart, Checkout, Payment, and Purchase.</a:t>
              </a:r>
            </a:p>
            <a:p>
              <a:pPr algn="l">
                <a:lnSpc>
                  <a:spcPts val="2730"/>
                </a:lnSpc>
              </a:pPr>
            </a:p>
            <a:p>
              <a:pPr algn="l" marL="0" indent="0" lvl="0">
                <a:lnSpc>
                  <a:spcPts val="2730"/>
                </a:lnSpc>
              </a:pPr>
              <a:r>
                <a:rPr lang="en-US" sz="2100" spc="-115">
                  <a:solidFill>
                    <a:srgbClr val="093C25"/>
                  </a:solidFill>
                  <a:latin typeface="Work Sans"/>
                  <a:ea typeface="Work Sans"/>
                  <a:cs typeface="Work Sans"/>
                  <a:sym typeface="Work Sans"/>
                </a:rPr>
                <a:t>The purpose was to identify conversion bottlenecks, assess traffic quality, and determine where optimisation efforts should be focused to increase revenue efficiently.</a:t>
              </a:r>
            </a:p>
            <a:p>
              <a:pPr algn="l" marL="0" indent="0" lvl="0">
                <a:lnSpc>
                  <a:spcPts val="2730"/>
                </a:lnSpc>
              </a:pPr>
            </a:p>
            <a:p>
              <a:pPr algn="l" marL="0" indent="0" lvl="0">
                <a:lnSpc>
                  <a:spcPts val="2730"/>
                </a:lnSpc>
              </a:pPr>
              <a:r>
                <a:rPr lang="en-US" sz="2100" spc="-115">
                  <a:solidFill>
                    <a:srgbClr val="093C25"/>
                  </a:solidFill>
                  <a:latin typeface="Work Sans"/>
                  <a:ea typeface="Work Sans"/>
                  <a:cs typeface="Work Sans"/>
                  <a:sym typeface="Work Sans"/>
                </a:rPr>
                <a:t>Specifically, the analysis sought to answer:</a:t>
              </a:r>
            </a:p>
            <a:p>
              <a:pPr algn="l" marL="453390" indent="-226695" lvl="1">
                <a:lnSpc>
                  <a:spcPts val="2730"/>
                </a:lnSpc>
                <a:buFont typeface="Arial"/>
                <a:buChar char="•"/>
              </a:pPr>
              <a:r>
                <a:rPr lang="en-US" sz="2100" spc="-115">
                  <a:solidFill>
                    <a:srgbClr val="093C25"/>
                  </a:solidFill>
                  <a:latin typeface="Work Sans"/>
                  <a:ea typeface="Work Sans"/>
                  <a:cs typeface="Work Sans"/>
                  <a:sym typeface="Work Sans"/>
                </a:rPr>
                <a:t>Where are customers dropping off in the funnel?</a:t>
              </a:r>
            </a:p>
            <a:p>
              <a:pPr algn="l" marL="453390" indent="-226695" lvl="1">
                <a:lnSpc>
                  <a:spcPts val="2730"/>
                </a:lnSpc>
                <a:buFont typeface="Arial"/>
                <a:buChar char="•"/>
              </a:pPr>
              <a:r>
                <a:rPr lang="en-US" sz="2100" spc="-115">
                  <a:solidFill>
                    <a:srgbClr val="093C25"/>
                  </a:solidFill>
                  <a:latin typeface="Work Sans"/>
                  <a:ea typeface="Work Sans"/>
                  <a:cs typeface="Work Sans"/>
                  <a:sym typeface="Work Sans"/>
                </a:rPr>
                <a:t>Which traffic sources bring high-quality users?</a:t>
              </a:r>
            </a:p>
            <a:p>
              <a:pPr algn="l" marL="453390" indent="-226695" lvl="1">
                <a:lnSpc>
                  <a:spcPts val="2730"/>
                </a:lnSpc>
                <a:buFont typeface="Arial"/>
                <a:buChar char="•"/>
              </a:pPr>
              <a:r>
                <a:rPr lang="en-US" sz="2100" spc="-115">
                  <a:solidFill>
                    <a:srgbClr val="093C25"/>
                  </a:solidFill>
                  <a:latin typeface="Work Sans"/>
                  <a:ea typeface="Work Sans"/>
                  <a:cs typeface="Work Sans"/>
                  <a:sym typeface="Work Sans"/>
                </a:rPr>
                <a:t>Where should optimisation efforts be prioritised to drive revenue growth?</a:t>
              </a:r>
            </a:p>
            <a:p>
              <a:pPr algn="l">
                <a:lnSpc>
                  <a:spcPts val="2730"/>
                </a:lnSpc>
              </a:pPr>
            </a:p>
            <a:p>
              <a:pPr algn="l" marL="0" indent="0" lvl="0">
                <a:lnSpc>
                  <a:spcPts val="2730"/>
                </a:lnSpc>
              </a:pPr>
              <a:r>
                <a:rPr lang="en-US" sz="2100" spc="-115">
                  <a:solidFill>
                    <a:srgbClr val="093C25"/>
                  </a:solidFill>
                  <a:latin typeface="Work Sans"/>
                  <a:ea typeface="Work Sans"/>
                  <a:cs typeface="Work Sans"/>
                  <a:sym typeface="Work Sans"/>
                </a:rPr>
                <a:t>The analysis covers the period 16 January to 15 February 2026 and compares performance against historical benchmarks.</a:t>
              </a:r>
            </a:p>
            <a:p>
              <a:pPr algn="l" marL="0" indent="0" lvl="0">
                <a:lnSpc>
                  <a:spcPts val="2730"/>
                </a:lnSpc>
              </a:pPr>
            </a:p>
            <a:p>
              <a:pPr algn="l" marL="0" indent="0" lvl="0">
                <a:lnSpc>
                  <a:spcPts val="2730"/>
                </a:lnSpc>
              </a:pP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1654716" y="1934952"/>
            <a:ext cx="5966534" cy="6417096"/>
            <a:chOff x="0" y="0"/>
            <a:chExt cx="2192553" cy="2358123"/>
          </a:xfrm>
        </p:grpSpPr>
        <p:sp>
          <p:nvSpPr>
            <p:cNvPr name="Freeform 5" id="5"/>
            <p:cNvSpPr/>
            <p:nvPr/>
          </p:nvSpPr>
          <p:spPr>
            <a:xfrm flipH="false" flipV="false" rot="0">
              <a:off x="0" y="0"/>
              <a:ext cx="2192553" cy="2358124"/>
            </a:xfrm>
            <a:custGeom>
              <a:avLst/>
              <a:gdLst/>
              <a:ahLst/>
              <a:cxnLst/>
              <a:rect r="r" b="b" t="t" l="l"/>
              <a:pathLst>
                <a:path h="2358124" w="2192553">
                  <a:moveTo>
                    <a:pt x="71366" y="0"/>
                  </a:moveTo>
                  <a:lnTo>
                    <a:pt x="2121188" y="0"/>
                  </a:lnTo>
                  <a:cubicBezTo>
                    <a:pt x="2160602" y="0"/>
                    <a:pt x="2192553" y="31951"/>
                    <a:pt x="2192553" y="71366"/>
                  </a:cubicBezTo>
                  <a:lnTo>
                    <a:pt x="2192553" y="2286758"/>
                  </a:lnTo>
                  <a:cubicBezTo>
                    <a:pt x="2192553" y="2326172"/>
                    <a:pt x="2160602" y="2358124"/>
                    <a:pt x="2121188" y="2358124"/>
                  </a:cubicBezTo>
                  <a:lnTo>
                    <a:pt x="71366" y="2358124"/>
                  </a:lnTo>
                  <a:cubicBezTo>
                    <a:pt x="52438" y="2358124"/>
                    <a:pt x="34286" y="2350605"/>
                    <a:pt x="20903" y="2337221"/>
                  </a:cubicBezTo>
                  <a:cubicBezTo>
                    <a:pt x="7519" y="2323837"/>
                    <a:pt x="0" y="2305685"/>
                    <a:pt x="0" y="2286758"/>
                  </a:cubicBezTo>
                  <a:lnTo>
                    <a:pt x="0" y="71366"/>
                  </a:lnTo>
                  <a:cubicBezTo>
                    <a:pt x="0" y="52438"/>
                    <a:pt x="7519" y="34286"/>
                    <a:pt x="20903" y="20903"/>
                  </a:cubicBezTo>
                  <a:cubicBezTo>
                    <a:pt x="34286" y="7519"/>
                    <a:pt x="52438" y="0"/>
                    <a:pt x="71366" y="0"/>
                  </a:cubicBezTo>
                  <a:close/>
                </a:path>
              </a:pathLst>
            </a:custGeom>
            <a:solidFill>
              <a:srgbClr val="FFFFFF"/>
            </a:solidFill>
          </p:spPr>
        </p:sp>
        <p:sp>
          <p:nvSpPr>
            <p:cNvPr name="TextBox 6" id="6"/>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7" id="7"/>
          <p:cNvGrpSpPr/>
          <p:nvPr/>
        </p:nvGrpSpPr>
        <p:grpSpPr>
          <a:xfrm rot="0">
            <a:off x="12074378" y="2310336"/>
            <a:ext cx="5127211" cy="5666328"/>
            <a:chOff x="0" y="0"/>
            <a:chExt cx="1935901" cy="2139458"/>
          </a:xfrm>
        </p:grpSpPr>
        <p:sp>
          <p:nvSpPr>
            <p:cNvPr name="Freeform 8" id="8"/>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t="0" r="-353" b="0"/>
              </a:stretch>
            </a:blipFill>
          </p:spPr>
        </p:sp>
      </p:grpSp>
      <p:sp>
        <p:nvSpPr>
          <p:cNvPr name="Freeform 9" id="9"/>
          <p:cNvSpPr/>
          <p:nvPr/>
        </p:nvSpPr>
        <p:spPr>
          <a:xfrm flipH="false" flipV="false" rot="0">
            <a:off x="12575427" y="3216001"/>
            <a:ext cx="4125113" cy="4114800"/>
          </a:xfrm>
          <a:custGeom>
            <a:avLst/>
            <a:gdLst/>
            <a:ahLst/>
            <a:cxnLst/>
            <a:rect r="r" b="b" t="t" l="l"/>
            <a:pathLst>
              <a:path h="4114800" w="4125113">
                <a:moveTo>
                  <a:pt x="0" y="0"/>
                </a:moveTo>
                <a:lnTo>
                  <a:pt x="4125112" y="0"/>
                </a:lnTo>
                <a:lnTo>
                  <a:pt x="412511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0" id="10"/>
          <p:cNvGrpSpPr/>
          <p:nvPr/>
        </p:nvGrpSpPr>
        <p:grpSpPr>
          <a:xfrm rot="0">
            <a:off x="1466138" y="756012"/>
            <a:ext cx="8843411" cy="9302720"/>
            <a:chOff x="0" y="0"/>
            <a:chExt cx="11791215" cy="12403627"/>
          </a:xfrm>
        </p:grpSpPr>
        <p:sp>
          <p:nvSpPr>
            <p:cNvPr name="TextBox 11" id="11"/>
            <p:cNvSpPr txBox="true"/>
            <p:nvPr/>
          </p:nvSpPr>
          <p:spPr>
            <a:xfrm rot="0">
              <a:off x="0" y="2521060"/>
              <a:ext cx="11791215" cy="9882567"/>
            </a:xfrm>
            <a:prstGeom prst="rect">
              <a:avLst/>
            </a:prstGeom>
          </p:spPr>
          <p:txBody>
            <a:bodyPr anchor="t" rtlCol="false" tIns="0" lIns="0" bIns="0" rIns="0">
              <a:spAutoFit/>
            </a:bodyPr>
            <a:lstStyle/>
            <a:p>
              <a:pPr algn="l" marL="0" indent="0" lvl="0">
                <a:lnSpc>
                  <a:spcPts val="2600"/>
                </a:lnSpc>
              </a:pPr>
              <a:r>
                <a:rPr lang="en-US" sz="2000" spc="-110">
                  <a:solidFill>
                    <a:srgbClr val="F8F7EF"/>
                  </a:solidFill>
                  <a:latin typeface="Work Sans"/>
                  <a:ea typeface="Work Sans"/>
                  <a:cs typeface="Work Sans"/>
                  <a:sym typeface="Work Sans"/>
                </a:rPr>
                <a:t>All-Time Data</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5,000 P</a:t>
              </a:r>
              <a:r>
                <a:rPr lang="en-US" sz="2000" spc="-110">
                  <a:solidFill>
                    <a:srgbClr val="F8F7EF"/>
                  </a:solidFill>
                  <a:latin typeface="Work Sans"/>
                  <a:ea typeface="Work Sans"/>
                  <a:cs typeface="Work Sans"/>
                  <a:sym typeface="Work Sans"/>
                </a:rPr>
                <a:t>r</a:t>
              </a:r>
              <a:r>
                <a:rPr lang="en-US" sz="2000" spc="-110">
                  <a:solidFill>
                    <a:srgbClr val="F8F7EF"/>
                  </a:solidFill>
                  <a:latin typeface="Work Sans"/>
                  <a:ea typeface="Work Sans"/>
                  <a:cs typeface="Work Sans"/>
                  <a:sym typeface="Work Sans"/>
                </a:rPr>
                <a:t>oduct Vi</a:t>
              </a:r>
              <a:r>
                <a:rPr lang="en-US" sz="2000" spc="-110">
                  <a:solidFill>
                    <a:srgbClr val="F8F7EF"/>
                  </a:solidFill>
                  <a:latin typeface="Work Sans"/>
                  <a:ea typeface="Work Sans"/>
                  <a:cs typeface="Work Sans"/>
                  <a:sym typeface="Work Sans"/>
                </a:rPr>
                <a:t>e</a:t>
              </a:r>
              <a:r>
                <a:rPr lang="en-US" sz="2000" spc="-110">
                  <a:solidFill>
                    <a:srgbClr val="F8F7EF"/>
                  </a:solidFill>
                  <a:latin typeface="Work Sans"/>
                  <a:ea typeface="Work Sans"/>
                  <a:cs typeface="Work Sans"/>
                  <a:sym typeface="Work Sans"/>
                </a:rPr>
                <a:t>w</a:t>
              </a:r>
              <a:r>
                <a:rPr lang="en-US" sz="2000" spc="-110">
                  <a:solidFill>
                    <a:srgbClr val="F8F7EF"/>
                  </a:solidFill>
                  <a:latin typeface="Work Sans"/>
                  <a:ea typeface="Work Sans"/>
                  <a:cs typeface="Work Sans"/>
                  <a:sym typeface="Work Sans"/>
                </a:rPr>
                <a:t>e</a:t>
              </a:r>
              <a:r>
                <a:rPr lang="en-US" sz="2000" spc="-110">
                  <a:solidFill>
                    <a:srgbClr val="F8F7EF"/>
                  </a:solidFill>
                  <a:latin typeface="Work Sans"/>
                  <a:ea typeface="Work Sans"/>
                  <a:cs typeface="Work Sans"/>
                  <a:sym typeface="Work Sans"/>
                </a:rPr>
                <a:t>r</a:t>
              </a:r>
              <a:r>
                <a:rPr lang="en-US" sz="2000" spc="-110">
                  <a:solidFill>
                    <a:srgbClr val="F8F7EF"/>
                  </a:solidFill>
                  <a:latin typeface="Work Sans"/>
                  <a:ea typeface="Work Sans"/>
                  <a:cs typeface="Work Sans"/>
                  <a:sym typeface="Work Sans"/>
                </a:rPr>
                <a:t>s</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All-time conversion rate: 16.5%</a:t>
              </a:r>
            </a:p>
            <a:p>
              <a:pPr algn="l">
                <a:lnSpc>
                  <a:spcPts val="2600"/>
                </a:lnSpc>
              </a:pPr>
            </a:p>
            <a:p>
              <a:pPr algn="l" marL="0" indent="0" lvl="0">
                <a:lnSpc>
                  <a:spcPts val="2600"/>
                </a:lnSpc>
              </a:pPr>
              <a:r>
                <a:rPr lang="en-US" sz="2000" spc="-110">
                  <a:solidFill>
                    <a:srgbClr val="F8F7EF"/>
                  </a:solidFill>
                  <a:latin typeface="Work Sans"/>
                  <a:ea typeface="Work Sans"/>
                  <a:cs typeface="Work Sans"/>
                  <a:sym typeface="Work Sans"/>
                </a:rPr>
                <a:t>Last 30 Days Funnel Data</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2,630 Product Views</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829 Add to Cart</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580 Checkout</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457 Payment Page</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424 Purchases</a:t>
              </a:r>
            </a:p>
            <a:p>
              <a:pPr algn="l" marL="0" indent="0" lvl="0">
                <a:lnSpc>
                  <a:spcPts val="2600"/>
                </a:lnSpc>
              </a:pPr>
              <a:r>
                <a:rPr lang="en-US" sz="2000" spc="-110">
                  <a:solidFill>
                    <a:srgbClr val="F8F7EF"/>
                  </a:solidFill>
                  <a:latin typeface="Work Sans"/>
                  <a:ea typeface="Work Sans"/>
                  <a:cs typeface="Work Sans"/>
                  <a:sym typeface="Work Sans"/>
                </a:rPr>
                <a:t>30-day conversion rate: 16.1%</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The largest drop-off occurs at the Product View stage. But once customers add items to their cart, conversion performance strengthens significantly:</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More than half proceed to checkout</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93% successfully complete payment</a:t>
              </a:r>
            </a:p>
            <a:p>
              <a:pPr algn="l" marL="0" indent="0" lvl="0">
                <a:lnSpc>
                  <a:spcPts val="2947"/>
                </a:lnSpc>
              </a:pPr>
            </a:p>
            <a:p>
              <a:pPr algn="l" marL="0" indent="0" lvl="0">
                <a:lnSpc>
                  <a:spcPts val="2947"/>
                </a:lnSpc>
              </a:pPr>
              <a:r>
                <a:rPr lang="en-US" sz="2267" spc="-124">
                  <a:solidFill>
                    <a:srgbClr val="F8F7EF"/>
                  </a:solidFill>
                  <a:latin typeface="Work Sans"/>
                  <a:ea typeface="Work Sans"/>
                  <a:cs typeface="Work Sans"/>
                  <a:sym typeface="Work Sans"/>
                </a:rPr>
                <a:t>The similarity between the all-time conversion rate (16.5%) and the last 30-day rate (16.1%) indicates consistent funnel performance over time. The primary issue is not transaction failure, It is early-stage disengagement</a:t>
              </a:r>
            </a:p>
            <a:p>
              <a:pPr algn="l" marL="0" indent="0" lvl="0">
                <a:lnSpc>
                  <a:spcPts val="2947"/>
                </a:lnSpc>
              </a:pPr>
            </a:p>
          </p:txBody>
        </p:sp>
        <p:sp>
          <p:nvSpPr>
            <p:cNvPr name="TextBox 12" id="12"/>
            <p:cNvSpPr txBox="true"/>
            <p:nvPr/>
          </p:nvSpPr>
          <p:spPr>
            <a:xfrm rot="0">
              <a:off x="0" y="104775"/>
              <a:ext cx="11194685" cy="22709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Funnel Performance Analysis</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466138" y="756012"/>
            <a:ext cx="8843411" cy="6959570"/>
            <a:chOff x="0" y="0"/>
            <a:chExt cx="11791215" cy="9279427"/>
          </a:xfrm>
        </p:grpSpPr>
        <p:sp>
          <p:nvSpPr>
            <p:cNvPr name="TextBox 5" id="5"/>
            <p:cNvSpPr txBox="true"/>
            <p:nvPr/>
          </p:nvSpPr>
          <p:spPr>
            <a:xfrm rot="0">
              <a:off x="0" y="1441560"/>
              <a:ext cx="11791215" cy="7837867"/>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Conversion performance varies significantly by channel:</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Email: 280 customers, 91 purchases = </a:t>
              </a:r>
              <a:r>
                <a:rPr lang="en-US" sz="2000" spc="-110">
                  <a:solidFill>
                    <a:srgbClr val="F8F7EF"/>
                  </a:solidFill>
                  <a:latin typeface="Work Sans"/>
                  <a:ea typeface="Work Sans"/>
                  <a:cs typeface="Work Sans"/>
                  <a:sym typeface="Work Sans"/>
                </a:rPr>
                <a:t>33% conversion</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Paid Ads: 490 customers, 102 purchases = 21% conversion</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Organic: 1069 customers, 182 purchases = 17% conversion</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Social: 791 customers, 49 purchases = 6% conversion</a:t>
              </a:r>
            </a:p>
            <a:p>
              <a:pPr algn="l">
                <a:lnSpc>
                  <a:spcPts val="2600"/>
                </a:lnSpc>
              </a:pPr>
            </a:p>
            <a:p>
              <a:pPr algn="l" marL="0" indent="0" lvl="0">
                <a:lnSpc>
                  <a:spcPts val="2600"/>
                </a:lnSpc>
              </a:pPr>
              <a:r>
                <a:rPr lang="en-US" sz="2000" spc="-110">
                  <a:solidFill>
                    <a:srgbClr val="F8F7EF"/>
                  </a:solidFill>
                  <a:latin typeface="Work Sans"/>
                  <a:ea typeface="Work Sans"/>
                  <a:cs typeface="Work Sans"/>
                  <a:sym typeface="Work Sans"/>
                </a:rPr>
                <a:t>This indicates that not all traffic is equally aligned with the product off</a:t>
              </a:r>
              <a:r>
                <a:rPr lang="en-US" sz="2000" spc="-110">
                  <a:solidFill>
                    <a:srgbClr val="F8F7EF"/>
                  </a:solidFill>
                  <a:latin typeface="Work Sans"/>
                  <a:ea typeface="Work Sans"/>
                  <a:cs typeface="Work Sans"/>
                  <a:sym typeface="Work Sans"/>
                </a:rPr>
                <a:t>ering.</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Social traffic, despite generating customers or visits, converts at less than one fifth of Email performance.</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While Social drives traffic volume, it underperforms in conversion efficiency compared to Email and Paid Ads, indicating lower purchase intent</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Traffic quality plays a major role in funnel progression.</a:t>
              </a:r>
            </a:p>
            <a:p>
              <a:pPr algn="l" marL="0" indent="0" lvl="0">
                <a:lnSpc>
                  <a:spcPts val="2600"/>
                </a:lnSpc>
              </a:pPr>
            </a:p>
            <a:p>
              <a:pPr algn="l" marL="0" indent="0" lvl="0">
                <a:lnSpc>
                  <a:spcPts val="2600"/>
                </a:lnSpc>
              </a:pPr>
            </a:p>
            <a:p>
              <a:pPr algn="l" marL="0" indent="0" lvl="0">
                <a:lnSpc>
                  <a:spcPts val="2947"/>
                </a:lnSpc>
              </a:pPr>
            </a:p>
          </p:txBody>
        </p:sp>
        <p:sp>
          <p:nvSpPr>
            <p:cNvPr name="TextBox 6" id="6"/>
            <p:cNvSpPr txBox="true"/>
            <p:nvPr/>
          </p:nvSpPr>
          <p:spPr>
            <a:xfrm rot="0">
              <a:off x="0" y="104775"/>
              <a:ext cx="11194685" cy="11914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Traffic Source Analysis</a:t>
              </a:r>
            </a:p>
          </p:txBody>
        </p:sp>
        <p:sp>
          <p:nvSpPr>
            <p:cNvPr name="TextBox 7" id="7"/>
            <p:cNvSpPr txBox="true"/>
            <p:nvPr/>
          </p:nvSpPr>
          <p:spPr>
            <a:xfrm rot="0">
              <a:off x="0" y="3287808"/>
              <a:ext cx="10686204" cy="667786"/>
            </a:xfrm>
            <a:prstGeom prst="rect">
              <a:avLst/>
            </a:prstGeom>
          </p:spPr>
          <p:txBody>
            <a:bodyPr anchor="t" rtlCol="false" tIns="0" lIns="0" bIns="0" rIns="0">
              <a:spAutoFit/>
            </a:bodyPr>
            <a:lstStyle/>
            <a:p>
              <a:pPr algn="l" marL="0" indent="0" lvl="0">
                <a:lnSpc>
                  <a:spcPts val="3887"/>
                </a:lnSpc>
                <a:spcBef>
                  <a:spcPct val="0"/>
                </a:spcBef>
              </a:pPr>
            </a:p>
          </p:txBody>
        </p:sp>
      </p:grpSp>
      <p:grpSp>
        <p:nvGrpSpPr>
          <p:cNvPr name="Group 8" id="8"/>
          <p:cNvGrpSpPr/>
          <p:nvPr/>
        </p:nvGrpSpPr>
        <p:grpSpPr>
          <a:xfrm rot="0">
            <a:off x="12901989" y="2568395"/>
            <a:ext cx="4788599" cy="5150209"/>
            <a:chOff x="0" y="0"/>
            <a:chExt cx="2192553" cy="2358123"/>
          </a:xfrm>
        </p:grpSpPr>
        <p:sp>
          <p:nvSpPr>
            <p:cNvPr name="Freeform 9" id="9"/>
            <p:cNvSpPr/>
            <p:nvPr/>
          </p:nvSpPr>
          <p:spPr>
            <a:xfrm flipH="false" flipV="false" rot="0">
              <a:off x="0" y="0"/>
              <a:ext cx="2192553" cy="2358124"/>
            </a:xfrm>
            <a:custGeom>
              <a:avLst/>
              <a:gdLst/>
              <a:ahLst/>
              <a:cxnLst/>
              <a:rect r="r" b="b" t="t" l="l"/>
              <a:pathLst>
                <a:path h="2358124" w="2192553">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sp>
        <p:sp>
          <p:nvSpPr>
            <p:cNvPr name="TextBox 10" id="10"/>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11" id="11"/>
          <p:cNvGrpSpPr/>
          <p:nvPr/>
        </p:nvGrpSpPr>
        <p:grpSpPr>
          <a:xfrm rot="0">
            <a:off x="13238800" y="2869670"/>
            <a:ext cx="4114978" cy="4547661"/>
            <a:chOff x="0" y="0"/>
            <a:chExt cx="1935901" cy="2139458"/>
          </a:xfrm>
        </p:grpSpPr>
        <p:sp>
          <p:nvSpPr>
            <p:cNvPr name="Freeform 12" id="12"/>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t="0" r="-353" b="0"/>
              </a:stretch>
            </a:blipFill>
          </p:spPr>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466138" y="756012"/>
            <a:ext cx="8635396" cy="6473795"/>
            <a:chOff x="0" y="0"/>
            <a:chExt cx="11513861" cy="8631727"/>
          </a:xfrm>
        </p:grpSpPr>
        <p:sp>
          <p:nvSpPr>
            <p:cNvPr name="TextBox 5" id="5"/>
            <p:cNvSpPr txBox="true"/>
            <p:nvPr/>
          </p:nvSpPr>
          <p:spPr>
            <a:xfrm rot="0">
              <a:off x="0" y="2521060"/>
              <a:ext cx="11513861" cy="6110667"/>
            </a:xfrm>
            <a:prstGeom prst="rect">
              <a:avLst/>
            </a:prstGeom>
          </p:spPr>
          <p:txBody>
            <a:bodyPr anchor="t" rtlCol="false" tIns="0" lIns="0" bIns="0" rIns="0">
              <a:spAutoFit/>
            </a:bodyPr>
            <a:lstStyle/>
            <a:p>
              <a:pPr algn="l" marL="0" indent="0" lvl="0">
                <a:lnSpc>
                  <a:spcPts val="2600"/>
                </a:lnSpc>
              </a:pPr>
              <a:r>
                <a:rPr lang="en-US" sz="2000" spc="-110">
                  <a:solidFill>
                    <a:srgbClr val="F8F7EF"/>
                  </a:solidFill>
                  <a:latin typeface="Work Sans"/>
                  <a:ea typeface="Work Sans"/>
                  <a:cs typeface="Work Sans"/>
                  <a:sym typeface="Work Sans"/>
                </a:rPr>
                <a:t>Time an</a:t>
              </a:r>
              <a:r>
                <a:rPr lang="en-US" sz="2000" spc="-110">
                  <a:solidFill>
                    <a:srgbClr val="F8F7EF"/>
                  </a:solidFill>
                  <a:latin typeface="Work Sans"/>
                  <a:ea typeface="Work Sans"/>
                  <a:cs typeface="Work Sans"/>
                  <a:sym typeface="Work Sans"/>
                </a:rPr>
                <a:t>alysis shows that customers who pr</a:t>
              </a:r>
              <a:r>
                <a:rPr lang="en-US" sz="2000" spc="-110">
                  <a:solidFill>
                    <a:srgbClr val="F8F7EF"/>
                  </a:solidFill>
                  <a:latin typeface="Work Sans"/>
                  <a:ea typeface="Work Sans"/>
                  <a:cs typeface="Work Sans"/>
                  <a:sym typeface="Work Sans"/>
                </a:rPr>
                <a:t>ogress past the Product View stage move efficiently through Checkout and Payment stage.</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Customers spend an average of 11 minutes in the View stage, and</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an average of 13 minutes between the four stages of Add to Cart and Purchase stage.</a:t>
              </a:r>
            </a:p>
            <a:p>
              <a:pPr algn="l">
                <a:lnSpc>
                  <a:spcPts val="2600"/>
                </a:lnSpc>
              </a:pPr>
            </a:p>
            <a:p>
              <a:pPr algn="l" marL="0" indent="0" lvl="0">
                <a:lnSpc>
                  <a:spcPts val="2600"/>
                </a:lnSpc>
              </a:pPr>
              <a:r>
                <a:rPr lang="en-US" sz="2000" spc="-110">
                  <a:solidFill>
                    <a:srgbClr val="F8F7EF"/>
                  </a:solidFill>
                  <a:latin typeface="Work Sans"/>
                  <a:ea typeface="Work Sans"/>
                  <a:cs typeface="Work Sans"/>
                  <a:sym typeface="Work Sans"/>
                </a:rPr>
                <a:t>Mo</a:t>
              </a:r>
              <a:r>
                <a:rPr lang="en-US" sz="2000" spc="-110">
                  <a:solidFill>
                    <a:srgbClr val="F8F7EF"/>
                  </a:solidFill>
                  <a:latin typeface="Work Sans"/>
                  <a:ea typeface="Work Sans"/>
                  <a:cs typeface="Work Sans"/>
                  <a:sym typeface="Work Sans"/>
                </a:rPr>
                <a:t>st exits occur early, suggesting that customers may not be finding products th</a:t>
              </a:r>
              <a:r>
                <a:rPr lang="en-US" sz="2000" spc="-110">
                  <a:solidFill>
                    <a:srgbClr val="F8F7EF"/>
                  </a:solidFill>
                  <a:latin typeface="Work Sans"/>
                  <a:ea typeface="Work Sans"/>
                  <a:cs typeface="Work Sans"/>
                  <a:sym typeface="Work Sans"/>
                </a:rPr>
                <a:t>at match their expectations when they land on the website.</a:t>
              </a:r>
            </a:p>
            <a:p>
              <a:pPr algn="l" marL="0" indent="0" lvl="0">
                <a:lnSpc>
                  <a:spcPts val="2600"/>
                </a:lnSpc>
              </a:pPr>
            </a:p>
            <a:p>
              <a:pPr algn="l" marL="0" indent="0" lvl="0">
                <a:lnSpc>
                  <a:spcPts val="2600"/>
                </a:lnSpc>
              </a:pPr>
              <a:r>
                <a:rPr lang="en-US" sz="2000" spc="-110">
                  <a:solidFill>
                    <a:srgbClr val="F8F7EF"/>
                  </a:solidFill>
                  <a:latin typeface="Work Sans"/>
                  <a:ea typeface="Work Sans"/>
                  <a:cs typeface="Work Sans"/>
                  <a:sym typeface="Work Sans"/>
                </a:rPr>
                <a:t>This points to a potential misalignment between:</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Audience targeting</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Product assortment</a:t>
              </a: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L</a:t>
              </a:r>
              <a:r>
                <a:rPr lang="en-US" sz="2000" spc="-110">
                  <a:solidFill>
                    <a:srgbClr val="F8F7EF"/>
                  </a:solidFill>
                  <a:latin typeface="Work Sans"/>
                  <a:ea typeface="Work Sans"/>
                  <a:cs typeface="Work Sans"/>
                  <a:sym typeface="Work Sans"/>
                </a:rPr>
                <a:t>anding page experience</a:t>
              </a:r>
            </a:p>
            <a:p>
              <a:pPr algn="l" marL="0" indent="0" lvl="0">
                <a:lnSpc>
                  <a:spcPts val="2947"/>
                </a:lnSpc>
              </a:pPr>
            </a:p>
          </p:txBody>
        </p:sp>
        <p:sp>
          <p:nvSpPr>
            <p:cNvPr name="TextBox 6" id="6"/>
            <p:cNvSpPr txBox="true"/>
            <p:nvPr/>
          </p:nvSpPr>
          <p:spPr>
            <a:xfrm rot="0">
              <a:off x="0" y="104775"/>
              <a:ext cx="10931363" cy="22709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Behavioural Insight Analysis</a:t>
              </a:r>
            </a:p>
          </p:txBody>
        </p:sp>
        <p:sp>
          <p:nvSpPr>
            <p:cNvPr name="TextBox 7" id="7"/>
            <p:cNvSpPr txBox="true"/>
            <p:nvPr/>
          </p:nvSpPr>
          <p:spPr>
            <a:xfrm rot="0">
              <a:off x="0" y="4367308"/>
              <a:ext cx="10434842" cy="667786"/>
            </a:xfrm>
            <a:prstGeom prst="rect">
              <a:avLst/>
            </a:prstGeom>
          </p:spPr>
          <p:txBody>
            <a:bodyPr anchor="t" rtlCol="false" tIns="0" lIns="0" bIns="0" rIns="0">
              <a:spAutoFit/>
            </a:bodyPr>
            <a:lstStyle/>
            <a:p>
              <a:pPr algn="l" marL="0" indent="0" lvl="0">
                <a:lnSpc>
                  <a:spcPts val="3887"/>
                </a:lnSpc>
                <a:spcBef>
                  <a:spcPct val="0"/>
                </a:spcBef>
              </a:pPr>
            </a:p>
          </p:txBody>
        </p:sp>
      </p:grpSp>
      <p:grpSp>
        <p:nvGrpSpPr>
          <p:cNvPr name="Group 8" id="8"/>
          <p:cNvGrpSpPr/>
          <p:nvPr/>
        </p:nvGrpSpPr>
        <p:grpSpPr>
          <a:xfrm rot="0">
            <a:off x="12832651" y="2568395"/>
            <a:ext cx="4788599" cy="5150209"/>
            <a:chOff x="0" y="0"/>
            <a:chExt cx="2192553" cy="2358123"/>
          </a:xfrm>
        </p:grpSpPr>
        <p:sp>
          <p:nvSpPr>
            <p:cNvPr name="Freeform 9" id="9"/>
            <p:cNvSpPr/>
            <p:nvPr/>
          </p:nvSpPr>
          <p:spPr>
            <a:xfrm flipH="false" flipV="false" rot="0">
              <a:off x="0" y="0"/>
              <a:ext cx="2192553" cy="2358124"/>
            </a:xfrm>
            <a:custGeom>
              <a:avLst/>
              <a:gdLst/>
              <a:ahLst/>
              <a:cxnLst/>
              <a:rect r="r" b="b" t="t" l="l"/>
              <a:pathLst>
                <a:path h="2358124" w="2192553">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sp>
        <p:sp>
          <p:nvSpPr>
            <p:cNvPr name="TextBox 10" id="10"/>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11" id="11"/>
          <p:cNvGrpSpPr/>
          <p:nvPr/>
        </p:nvGrpSpPr>
        <p:grpSpPr>
          <a:xfrm rot="0">
            <a:off x="13169462" y="2869670"/>
            <a:ext cx="4114978" cy="4547661"/>
            <a:chOff x="0" y="0"/>
            <a:chExt cx="1935901" cy="2139458"/>
          </a:xfrm>
        </p:grpSpPr>
        <p:sp>
          <p:nvSpPr>
            <p:cNvPr name="Freeform 12" id="12"/>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353" t="0" r="-353" b="0"/>
              </a:stretch>
            </a:blipFill>
          </p:spPr>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2901989" y="2568395"/>
            <a:ext cx="4788599" cy="5150209"/>
            <a:chOff x="0" y="0"/>
            <a:chExt cx="2192553" cy="2358123"/>
          </a:xfrm>
        </p:grpSpPr>
        <p:sp>
          <p:nvSpPr>
            <p:cNvPr name="Freeform 5" id="5"/>
            <p:cNvSpPr/>
            <p:nvPr/>
          </p:nvSpPr>
          <p:spPr>
            <a:xfrm flipH="false" flipV="false" rot="0">
              <a:off x="0" y="0"/>
              <a:ext cx="2192553" cy="2358124"/>
            </a:xfrm>
            <a:custGeom>
              <a:avLst/>
              <a:gdLst/>
              <a:ahLst/>
              <a:cxnLst/>
              <a:rect r="r" b="b" t="t" l="l"/>
              <a:pathLst>
                <a:path h="2358124" w="2192553">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sp>
        <p:sp>
          <p:nvSpPr>
            <p:cNvPr name="TextBox 6" id="6"/>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7" id="7"/>
          <p:cNvGrpSpPr/>
          <p:nvPr/>
        </p:nvGrpSpPr>
        <p:grpSpPr>
          <a:xfrm rot="0">
            <a:off x="13238800" y="2869670"/>
            <a:ext cx="4114978" cy="4547661"/>
            <a:chOff x="0" y="0"/>
            <a:chExt cx="1935901" cy="2139458"/>
          </a:xfrm>
        </p:grpSpPr>
        <p:sp>
          <p:nvSpPr>
            <p:cNvPr name="Freeform 8" id="8"/>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14117" t="0" r="-14117" b="0"/>
              </a:stretch>
            </a:blipFill>
          </p:spPr>
        </p:sp>
      </p:grpSp>
      <p:grpSp>
        <p:nvGrpSpPr>
          <p:cNvPr name="Group 9" id="9"/>
          <p:cNvGrpSpPr/>
          <p:nvPr/>
        </p:nvGrpSpPr>
        <p:grpSpPr>
          <a:xfrm rot="0">
            <a:off x="1466138" y="756012"/>
            <a:ext cx="8843411" cy="6149945"/>
            <a:chOff x="0" y="0"/>
            <a:chExt cx="11791215" cy="8199927"/>
          </a:xfrm>
        </p:grpSpPr>
        <p:sp>
          <p:nvSpPr>
            <p:cNvPr name="TextBox 10" id="10"/>
            <p:cNvSpPr txBox="true"/>
            <p:nvPr/>
          </p:nvSpPr>
          <p:spPr>
            <a:xfrm rot="0">
              <a:off x="0" y="2521060"/>
              <a:ext cx="11791215" cy="5678867"/>
            </a:xfrm>
            <a:prstGeom prst="rect">
              <a:avLst/>
            </a:prstGeom>
          </p:spPr>
          <p:txBody>
            <a:bodyPr anchor="t" rtlCol="false" tIns="0" lIns="0" bIns="0" rIns="0">
              <a:spAutoFit/>
            </a:bodyPr>
            <a:lstStyle/>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Re</a:t>
              </a:r>
              <a:r>
                <a:rPr lang="en-US" sz="2000" spc="-110">
                  <a:solidFill>
                    <a:srgbClr val="F8F7EF"/>
                  </a:solidFill>
                  <a:latin typeface="Work Sans"/>
                  <a:ea typeface="Work Sans"/>
                  <a:cs typeface="Work Sans"/>
                  <a:sym typeface="Work Sans"/>
                </a:rPr>
                <a:t>venue growth does not depend on fixing checkout.</a:t>
              </a: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Revenue growth depends on converting more of the 68% who exit at the Product View stage.</a:t>
              </a: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If we increase the View to Cart conversion rate even slightly, revenue will grow quickly because downstream conv</a:t>
              </a:r>
              <a:r>
                <a:rPr lang="en-US" sz="2000" spc="-110">
                  <a:solidFill>
                    <a:srgbClr val="F8F7EF"/>
                  </a:solidFill>
                  <a:latin typeface="Work Sans"/>
                  <a:ea typeface="Work Sans"/>
                  <a:cs typeface="Work Sans"/>
                  <a:sym typeface="Work Sans"/>
                </a:rPr>
                <a:t>ersion is already strong.</a:t>
              </a: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I</a:t>
              </a:r>
              <a:r>
                <a:rPr lang="en-US" sz="2000" spc="-110">
                  <a:solidFill>
                    <a:srgbClr val="F8F7EF"/>
                  </a:solidFill>
                  <a:latin typeface="Work Sans"/>
                  <a:ea typeface="Work Sans"/>
                  <a:cs typeface="Work Sans"/>
                  <a:sym typeface="Work Sans"/>
                </a:rPr>
                <a:t>ncreasing View to Cart conversion from 32% to 36% would pus</a:t>
              </a:r>
              <a:r>
                <a:rPr lang="en-US" sz="2000" spc="-110">
                  <a:solidFill>
                    <a:srgbClr val="F8F7EF"/>
                  </a:solidFill>
                  <a:latin typeface="Work Sans"/>
                  <a:ea typeface="Work Sans"/>
                  <a:cs typeface="Work Sans"/>
                  <a:sym typeface="Work Sans"/>
                </a:rPr>
                <a:t>h more customers into a funnel that already converts efficiently.</a:t>
              </a:r>
            </a:p>
            <a:p>
              <a:pPr algn="l">
                <a:lnSpc>
                  <a:spcPts val="2600"/>
                </a:lnSpc>
              </a:pPr>
            </a:p>
            <a:p>
              <a:pPr algn="l" marL="0" indent="0" lvl="0">
                <a:lnSpc>
                  <a:spcPts val="2600"/>
                </a:lnSpc>
              </a:pPr>
              <a:r>
                <a:rPr lang="en-US" sz="2000" spc="-110">
                  <a:solidFill>
                    <a:srgbClr val="F8F7EF"/>
                  </a:solidFill>
                  <a:latin typeface="Work Sans"/>
                  <a:ea typeface="Work Sans"/>
                  <a:cs typeface="Work Sans"/>
                  <a:sym typeface="Work Sans"/>
                </a:rPr>
                <a:t>This would increase revenue without increasing t</a:t>
              </a:r>
              <a:r>
                <a:rPr lang="en-US" sz="2000" spc="-110">
                  <a:solidFill>
                    <a:srgbClr val="F8F7EF"/>
                  </a:solidFill>
                  <a:latin typeface="Work Sans"/>
                  <a:ea typeface="Work Sans"/>
                  <a:cs typeface="Work Sans"/>
                  <a:sym typeface="Work Sans"/>
                </a:rPr>
                <a:t>raffic acquisition costs.</a:t>
              </a:r>
            </a:p>
            <a:p>
              <a:pPr algn="l" marL="0" indent="0" lvl="0">
                <a:lnSpc>
                  <a:spcPts val="2947"/>
                </a:lnSpc>
              </a:pPr>
            </a:p>
          </p:txBody>
        </p:sp>
        <p:sp>
          <p:nvSpPr>
            <p:cNvPr name="TextBox 11" id="11"/>
            <p:cNvSpPr txBox="true"/>
            <p:nvPr/>
          </p:nvSpPr>
          <p:spPr>
            <a:xfrm rot="0">
              <a:off x="0" y="104775"/>
              <a:ext cx="11194685" cy="22709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Revenue Insight Analysis</a:t>
              </a:r>
            </a:p>
          </p:txBody>
        </p:sp>
        <p:sp>
          <p:nvSpPr>
            <p:cNvPr name="TextBox 12" id="12"/>
            <p:cNvSpPr txBox="true"/>
            <p:nvPr/>
          </p:nvSpPr>
          <p:spPr>
            <a:xfrm rot="0">
              <a:off x="0" y="4367308"/>
              <a:ext cx="10686204" cy="667786"/>
            </a:xfrm>
            <a:prstGeom prst="rect">
              <a:avLst/>
            </a:prstGeom>
          </p:spPr>
          <p:txBody>
            <a:bodyPr anchor="t" rtlCol="false" tIns="0" lIns="0" bIns="0" rIns="0">
              <a:spAutoFit/>
            </a:bodyPr>
            <a:lstStyle/>
            <a:p>
              <a:pPr algn="l" marL="0" indent="0" lvl="0">
                <a:lnSpc>
                  <a:spcPts val="3887"/>
                </a:lnSpc>
                <a:spcBef>
                  <a:spcPct val="0"/>
                </a:spcBef>
              </a:pP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EE6D9"/>
        </a:solidFill>
      </p:bgPr>
    </p:bg>
    <p:spTree>
      <p:nvGrpSpPr>
        <p:cNvPr id="1" name=""/>
        <p:cNvGrpSpPr/>
        <p:nvPr/>
      </p:nvGrpSpPr>
      <p:grpSpPr>
        <a:xfrm>
          <a:off x="0" y="0"/>
          <a:ext cx="0" cy="0"/>
          <a:chOff x="0" y="0"/>
          <a:chExt cx="0" cy="0"/>
        </a:xfrm>
      </p:grpSpPr>
      <p:grpSp>
        <p:nvGrpSpPr>
          <p:cNvPr name="Group 2" id="2"/>
          <p:cNvGrpSpPr/>
          <p:nvPr/>
        </p:nvGrpSpPr>
        <p:grpSpPr>
          <a:xfrm rot="0">
            <a:off x="666750" y="266497"/>
            <a:ext cx="9994789" cy="9668214"/>
            <a:chOff x="0" y="0"/>
            <a:chExt cx="2722626" cy="2633665"/>
          </a:xfrm>
        </p:grpSpPr>
        <p:sp>
          <p:nvSpPr>
            <p:cNvPr name="Freeform 3" id="3"/>
            <p:cNvSpPr/>
            <p:nvPr/>
          </p:nvSpPr>
          <p:spPr>
            <a:xfrm flipH="false" flipV="false" rot="0">
              <a:off x="0" y="0"/>
              <a:ext cx="2722628" cy="2633665"/>
            </a:xfrm>
            <a:custGeom>
              <a:avLst/>
              <a:gdLst/>
              <a:ahLst/>
              <a:cxnLst/>
              <a:rect r="r" b="b" t="t" l="l"/>
              <a:pathLst>
                <a:path h="2633665" w="2722628">
                  <a:moveTo>
                    <a:pt x="2375669" y="0"/>
                  </a:moveTo>
                  <a:lnTo>
                    <a:pt x="148415" y="0"/>
                  </a:lnTo>
                  <a:cubicBezTo>
                    <a:pt x="66448" y="0"/>
                    <a:pt x="0" y="66448"/>
                    <a:pt x="0" y="148415"/>
                  </a:cubicBezTo>
                  <a:lnTo>
                    <a:pt x="0" y="2354273"/>
                  </a:lnTo>
                  <a:cubicBezTo>
                    <a:pt x="0" y="2390784"/>
                    <a:pt x="13458" y="2426013"/>
                    <a:pt x="37800" y="2453225"/>
                  </a:cubicBezTo>
                  <a:lnTo>
                    <a:pt x="154967" y="2584201"/>
                  </a:lnTo>
                  <a:cubicBezTo>
                    <a:pt x="183122" y="2615677"/>
                    <a:pt x="223353" y="2633666"/>
                    <a:pt x="265584" y="2633665"/>
                  </a:cubicBezTo>
                  <a:lnTo>
                    <a:pt x="2574212" y="2633665"/>
                  </a:lnTo>
                  <a:cubicBezTo>
                    <a:pt x="2613575" y="2633666"/>
                    <a:pt x="2651325" y="2618029"/>
                    <a:pt x="2679158" y="2590196"/>
                  </a:cubicBezTo>
                  <a:cubicBezTo>
                    <a:pt x="2706992" y="2562363"/>
                    <a:pt x="2722628" y="2524613"/>
                    <a:pt x="2722628" y="2485251"/>
                  </a:cubicBezTo>
                  <a:lnTo>
                    <a:pt x="2722628" y="366141"/>
                  </a:lnTo>
                  <a:cubicBezTo>
                    <a:pt x="2722629" y="329143"/>
                    <a:pt x="2708809" y="293478"/>
                    <a:pt x="2683879" y="266140"/>
                  </a:cubicBezTo>
                  <a:lnTo>
                    <a:pt x="2485336" y="48414"/>
                  </a:lnTo>
                  <a:cubicBezTo>
                    <a:pt x="2457214" y="17574"/>
                    <a:pt x="2417406" y="0"/>
                    <a:pt x="2375669" y="0"/>
                  </a:cubicBezTo>
                  <a:close/>
                </a:path>
              </a:pathLst>
            </a:custGeom>
            <a:solidFill>
              <a:srgbClr val="093C25"/>
            </a:solidFill>
          </p:spPr>
        </p:sp>
      </p:grpSp>
      <p:grpSp>
        <p:nvGrpSpPr>
          <p:cNvPr name="Group 4" id="4"/>
          <p:cNvGrpSpPr/>
          <p:nvPr/>
        </p:nvGrpSpPr>
        <p:grpSpPr>
          <a:xfrm rot="0">
            <a:off x="1466138" y="756012"/>
            <a:ext cx="8635396" cy="7283420"/>
            <a:chOff x="0" y="0"/>
            <a:chExt cx="11513861" cy="9711227"/>
          </a:xfrm>
        </p:grpSpPr>
        <p:sp>
          <p:nvSpPr>
            <p:cNvPr name="TextBox 5" id="5"/>
            <p:cNvSpPr txBox="true"/>
            <p:nvPr/>
          </p:nvSpPr>
          <p:spPr>
            <a:xfrm rot="0">
              <a:off x="0" y="1441560"/>
              <a:ext cx="11513861" cy="8269667"/>
            </a:xfrm>
            <a:prstGeom prst="rect">
              <a:avLst/>
            </a:prstGeom>
          </p:spPr>
          <p:txBody>
            <a:bodyPr anchor="t" rtlCol="false" tIns="0" lIns="0" bIns="0" rIns="0">
              <a:spAutoFit/>
            </a:bodyPr>
            <a:lstStyle/>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Improve a</a:t>
              </a:r>
              <a:r>
                <a:rPr lang="en-US" sz="2000" spc="-110">
                  <a:solidFill>
                    <a:srgbClr val="F8F7EF"/>
                  </a:solidFill>
                  <a:latin typeface="Work Sans"/>
                  <a:ea typeface="Work Sans"/>
                  <a:cs typeface="Work Sans"/>
                  <a:sym typeface="Work Sans"/>
                </a:rPr>
                <a:t>udience targeting</a:t>
              </a:r>
            </a:p>
            <a:p>
              <a:pPr algn="just">
                <a:lnSpc>
                  <a:spcPts val="2600"/>
                </a:lnSpc>
              </a:pPr>
              <a:r>
                <a:rPr lang="en-US" sz="2000" spc="-110">
                  <a:solidFill>
                    <a:srgbClr val="F8F7EF"/>
                  </a:solidFill>
                  <a:latin typeface="Work Sans"/>
                  <a:ea typeface="Work Sans"/>
                  <a:cs typeface="Work Sans"/>
                  <a:sym typeface="Work Sans"/>
                </a:rPr>
                <a:t> </a:t>
              </a:r>
            </a:p>
            <a:p>
              <a:pPr algn="just">
                <a:lnSpc>
                  <a:spcPts val="2600"/>
                </a:lnSpc>
              </a:pPr>
            </a:p>
            <a:p>
              <a:pPr algn="just">
                <a:lnSpc>
                  <a:spcPts val="2600"/>
                </a:lnSpc>
              </a:pPr>
            </a:p>
            <a:p>
              <a:pPr algn="just">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Expand and diversify product offerings</a:t>
              </a:r>
            </a:p>
            <a:p>
              <a:pPr algn="l">
                <a:lnSpc>
                  <a:spcPts val="2600"/>
                </a:lnSpc>
              </a:pPr>
            </a:p>
            <a:p>
              <a:pPr algn="l">
                <a:lnSpc>
                  <a:spcPts val="2600"/>
                </a:lnSpc>
              </a:pPr>
            </a:p>
            <a:p>
              <a:pPr algn="l">
                <a:lnSpc>
                  <a:spcPts val="2600"/>
                </a:lnSpc>
              </a:pPr>
            </a:p>
            <a:p>
              <a:pPr algn="l">
                <a:lnSpc>
                  <a:spcPts val="2600"/>
                </a:lnSpc>
              </a:pPr>
            </a:p>
            <a:p>
              <a:pPr algn="l">
                <a:lnSpc>
                  <a:spcPts val="2600"/>
                </a:lnSpc>
              </a:pP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Optimise product pages</a:t>
              </a:r>
            </a:p>
            <a:p>
              <a:pPr algn="l">
                <a:lnSpc>
                  <a:spcPts val="2600"/>
                </a:lnSpc>
              </a:pPr>
            </a:p>
            <a:p>
              <a:pPr algn="l">
                <a:lnSpc>
                  <a:spcPts val="2600"/>
                </a:lnSpc>
              </a:pPr>
            </a:p>
            <a:p>
              <a:pPr algn="l">
                <a:lnSpc>
                  <a:spcPts val="2600"/>
                </a:lnSpc>
              </a:pPr>
            </a:p>
            <a:p>
              <a:pPr algn="l" marL="431801" indent="-215900" lvl="1">
                <a:lnSpc>
                  <a:spcPts val="2600"/>
                </a:lnSpc>
                <a:buFont typeface="Arial"/>
                <a:buChar char="•"/>
              </a:pPr>
              <a:r>
                <a:rPr lang="en-US" sz="2000" spc="-110">
                  <a:solidFill>
                    <a:srgbClr val="F8F7EF"/>
                  </a:solidFill>
                  <a:latin typeface="Work Sans"/>
                  <a:ea typeface="Work Sans"/>
                  <a:cs typeface="Work Sans"/>
                  <a:sym typeface="Work Sans"/>
                </a:rPr>
                <a:t>Monitor View-to-Cart as a primary growth metric</a:t>
              </a:r>
            </a:p>
            <a:p>
              <a:pPr algn="l">
                <a:lnSpc>
                  <a:spcPts val="2600"/>
                </a:lnSpc>
              </a:pPr>
            </a:p>
            <a:p>
              <a:pPr algn="l" marL="0" indent="0" lvl="0">
                <a:lnSpc>
                  <a:spcPts val="2947"/>
                </a:lnSpc>
              </a:pPr>
            </a:p>
          </p:txBody>
        </p:sp>
        <p:sp>
          <p:nvSpPr>
            <p:cNvPr name="TextBox 6" id="6"/>
            <p:cNvSpPr txBox="true"/>
            <p:nvPr/>
          </p:nvSpPr>
          <p:spPr>
            <a:xfrm rot="0">
              <a:off x="0" y="104775"/>
              <a:ext cx="10931363" cy="1191472"/>
            </a:xfrm>
            <a:prstGeom prst="rect">
              <a:avLst/>
            </a:prstGeom>
          </p:spPr>
          <p:txBody>
            <a:bodyPr anchor="t" rtlCol="false" tIns="0" lIns="0" bIns="0" rIns="0">
              <a:spAutoFit/>
            </a:bodyPr>
            <a:lstStyle/>
            <a:p>
              <a:pPr algn="l" marL="0" indent="0" lvl="0">
                <a:lnSpc>
                  <a:spcPts val="6400"/>
                </a:lnSpc>
              </a:pPr>
              <a:r>
                <a:rPr lang="en-US" b="true" sz="6400" spc="-352">
                  <a:solidFill>
                    <a:srgbClr val="F8F7EF"/>
                  </a:solidFill>
                  <a:latin typeface="Work Sans Semi-Bold"/>
                  <a:ea typeface="Work Sans Semi-Bold"/>
                  <a:cs typeface="Work Sans Semi-Bold"/>
                  <a:sym typeface="Work Sans Semi-Bold"/>
                </a:rPr>
                <a:t>Recommendations</a:t>
              </a:r>
            </a:p>
          </p:txBody>
        </p:sp>
      </p:grpSp>
      <p:grpSp>
        <p:nvGrpSpPr>
          <p:cNvPr name="Group 7" id="7"/>
          <p:cNvGrpSpPr/>
          <p:nvPr/>
        </p:nvGrpSpPr>
        <p:grpSpPr>
          <a:xfrm rot="0">
            <a:off x="12832651" y="2568395"/>
            <a:ext cx="4788599" cy="5150209"/>
            <a:chOff x="0" y="0"/>
            <a:chExt cx="2192553" cy="2358123"/>
          </a:xfrm>
        </p:grpSpPr>
        <p:sp>
          <p:nvSpPr>
            <p:cNvPr name="Freeform 8" id="8"/>
            <p:cNvSpPr/>
            <p:nvPr/>
          </p:nvSpPr>
          <p:spPr>
            <a:xfrm flipH="false" flipV="false" rot="0">
              <a:off x="0" y="0"/>
              <a:ext cx="2192553" cy="2358124"/>
            </a:xfrm>
            <a:custGeom>
              <a:avLst/>
              <a:gdLst/>
              <a:ahLst/>
              <a:cxnLst/>
              <a:rect r="r" b="b" t="t" l="l"/>
              <a:pathLst>
                <a:path h="2358124" w="2192553">
                  <a:moveTo>
                    <a:pt x="88921" y="0"/>
                  </a:moveTo>
                  <a:lnTo>
                    <a:pt x="2103632" y="0"/>
                  </a:lnTo>
                  <a:cubicBezTo>
                    <a:pt x="2152742" y="0"/>
                    <a:pt x="2192553" y="39811"/>
                    <a:pt x="2192553" y="88921"/>
                  </a:cubicBezTo>
                  <a:lnTo>
                    <a:pt x="2192553" y="2269203"/>
                  </a:lnTo>
                  <a:cubicBezTo>
                    <a:pt x="2192553" y="2318312"/>
                    <a:pt x="2152742" y="2358124"/>
                    <a:pt x="2103632" y="2358124"/>
                  </a:cubicBezTo>
                  <a:lnTo>
                    <a:pt x="88921" y="2358124"/>
                  </a:lnTo>
                  <a:cubicBezTo>
                    <a:pt x="39811" y="2358124"/>
                    <a:pt x="0" y="2318312"/>
                    <a:pt x="0" y="2269203"/>
                  </a:cubicBezTo>
                  <a:lnTo>
                    <a:pt x="0" y="88921"/>
                  </a:lnTo>
                  <a:cubicBezTo>
                    <a:pt x="0" y="39811"/>
                    <a:pt x="39811" y="0"/>
                    <a:pt x="88921" y="0"/>
                  </a:cubicBezTo>
                  <a:close/>
                </a:path>
              </a:pathLst>
            </a:custGeom>
            <a:solidFill>
              <a:srgbClr val="FFFFFF"/>
            </a:solidFill>
          </p:spPr>
        </p:sp>
        <p:sp>
          <p:nvSpPr>
            <p:cNvPr name="TextBox 9" id="9"/>
            <p:cNvSpPr txBox="true"/>
            <p:nvPr/>
          </p:nvSpPr>
          <p:spPr>
            <a:xfrm>
              <a:off x="0" y="-57150"/>
              <a:ext cx="2192553" cy="2415273"/>
            </a:xfrm>
            <a:prstGeom prst="rect">
              <a:avLst/>
            </a:prstGeom>
          </p:spPr>
          <p:txBody>
            <a:bodyPr anchor="ctr" rtlCol="false" tIns="50800" lIns="50800" bIns="50800" rIns="50800"/>
            <a:lstStyle/>
            <a:p>
              <a:pPr algn="ctr">
                <a:lnSpc>
                  <a:spcPts val="3359"/>
                </a:lnSpc>
              </a:pPr>
            </a:p>
          </p:txBody>
        </p:sp>
      </p:grpSp>
      <p:grpSp>
        <p:nvGrpSpPr>
          <p:cNvPr name="Group 10" id="10"/>
          <p:cNvGrpSpPr/>
          <p:nvPr/>
        </p:nvGrpSpPr>
        <p:grpSpPr>
          <a:xfrm rot="0">
            <a:off x="13169462" y="2869670"/>
            <a:ext cx="4114978" cy="4547661"/>
            <a:chOff x="0" y="0"/>
            <a:chExt cx="1935901" cy="2139458"/>
          </a:xfrm>
        </p:grpSpPr>
        <p:sp>
          <p:nvSpPr>
            <p:cNvPr name="Freeform 11" id="11"/>
            <p:cNvSpPr/>
            <p:nvPr/>
          </p:nvSpPr>
          <p:spPr>
            <a:xfrm flipH="false" flipV="false" rot="0">
              <a:off x="0" y="0"/>
              <a:ext cx="1935903" cy="2139471"/>
            </a:xfrm>
            <a:custGeom>
              <a:avLst/>
              <a:gdLst/>
              <a:ahLst/>
              <a:cxnLst/>
              <a:rect r="r" b="b" t="t" l="l"/>
              <a:pathLst>
                <a:path h="2139471" w="1935903">
                  <a:moveTo>
                    <a:pt x="1448460" y="0"/>
                  </a:moveTo>
                  <a:lnTo>
                    <a:pt x="177673" y="0"/>
                  </a:lnTo>
                  <a:cubicBezTo>
                    <a:pt x="79547" y="0"/>
                    <a:pt x="0" y="79547"/>
                    <a:pt x="0" y="177673"/>
                  </a:cubicBezTo>
                  <a:lnTo>
                    <a:pt x="0" y="1961798"/>
                  </a:lnTo>
                  <a:cubicBezTo>
                    <a:pt x="0" y="2059924"/>
                    <a:pt x="79547" y="2139471"/>
                    <a:pt x="177673" y="2139471"/>
                  </a:cubicBezTo>
                  <a:lnTo>
                    <a:pt x="1758230" y="2139471"/>
                  </a:lnTo>
                  <a:cubicBezTo>
                    <a:pt x="1856356" y="2139471"/>
                    <a:pt x="1935903" y="2059924"/>
                    <a:pt x="1935903" y="1961798"/>
                  </a:cubicBezTo>
                  <a:lnTo>
                    <a:pt x="1935903" y="523958"/>
                  </a:lnTo>
                  <a:cubicBezTo>
                    <a:pt x="1935903" y="480251"/>
                    <a:pt x="1919793" y="438079"/>
                    <a:pt x="1890654" y="405503"/>
                  </a:cubicBezTo>
                  <a:lnTo>
                    <a:pt x="1580877" y="59214"/>
                  </a:lnTo>
                  <a:cubicBezTo>
                    <a:pt x="1547173" y="21536"/>
                    <a:pt x="1499013" y="0"/>
                    <a:pt x="1448460" y="0"/>
                  </a:cubicBezTo>
                  <a:close/>
                </a:path>
              </a:pathLst>
            </a:custGeom>
            <a:blipFill>
              <a:blip r:embed="rId2"/>
              <a:stretch>
                <a:fillRect l="-9591" t="0" r="-9591" b="0"/>
              </a:stretch>
            </a:blipFill>
          </p:spPr>
        </p:sp>
      </p:grpSp>
      <p:sp>
        <p:nvSpPr>
          <p:cNvPr name="TextBox 12" id="12"/>
          <p:cNvSpPr txBox="true"/>
          <p:nvPr/>
        </p:nvSpPr>
        <p:spPr>
          <a:xfrm rot="0">
            <a:off x="1916837" y="2232373"/>
            <a:ext cx="8358042" cy="984250"/>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Shift marketing bu</a:t>
            </a:r>
            <a:r>
              <a:rPr lang="en-US" sz="2000" spc="-110">
                <a:solidFill>
                  <a:srgbClr val="F8F7EF"/>
                </a:solidFill>
                <a:latin typeface="Work Sans"/>
                <a:ea typeface="Work Sans"/>
                <a:cs typeface="Work Sans"/>
                <a:sym typeface="Work Sans"/>
              </a:rPr>
              <a:t>dget toward high-converting channels such as Email and Paid Ads. Reassess targeting strategy for Social traffic, which converts at 6%.</a:t>
            </a:r>
          </a:p>
        </p:txBody>
      </p:sp>
      <p:sp>
        <p:nvSpPr>
          <p:cNvPr name="TextBox 13" id="13"/>
          <p:cNvSpPr txBox="true"/>
          <p:nvPr/>
        </p:nvSpPr>
        <p:spPr>
          <a:xfrm rot="0">
            <a:off x="1916837" y="7480647"/>
            <a:ext cx="8358042" cy="1631950"/>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This</a:t>
            </a:r>
            <a:r>
              <a:rPr lang="en-US" sz="2000" spc="-110">
                <a:solidFill>
                  <a:srgbClr val="F8F7EF"/>
                </a:solidFill>
                <a:latin typeface="Work Sans"/>
                <a:ea typeface="Work Sans"/>
                <a:cs typeface="Work Sans"/>
                <a:sym typeface="Work Sans"/>
              </a:rPr>
              <a:t> stage has the greatest revenue impact potential. Since downstream conversion performance is strong, even a small improvement in Add-to-Cart rates could significantly increase overall revenue. The focus should be on improving product relevance and customer targeting to capture more Product View stage customers.</a:t>
            </a:r>
          </a:p>
        </p:txBody>
      </p:sp>
      <p:sp>
        <p:nvSpPr>
          <p:cNvPr name="TextBox 14" id="14"/>
          <p:cNvSpPr txBox="true"/>
          <p:nvPr/>
        </p:nvSpPr>
        <p:spPr>
          <a:xfrm rot="0">
            <a:off x="1916837" y="6163023"/>
            <a:ext cx="8358042" cy="660400"/>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Improve pro</a:t>
            </a:r>
            <a:r>
              <a:rPr lang="en-US" sz="2000" spc="-110">
                <a:solidFill>
                  <a:srgbClr val="F8F7EF"/>
                </a:solidFill>
                <a:latin typeface="Work Sans"/>
                <a:ea typeface="Work Sans"/>
                <a:cs typeface="Work Sans"/>
                <a:sym typeface="Work Sans"/>
              </a:rPr>
              <a:t>duct descriptions, visuals, reviews, and pricing clarity to encourage Add to Cart behaviour from customers.</a:t>
            </a:r>
          </a:p>
        </p:txBody>
      </p:sp>
      <p:sp>
        <p:nvSpPr>
          <p:cNvPr name="TextBox 15" id="15"/>
          <p:cNvSpPr txBox="true"/>
          <p:nvPr/>
        </p:nvSpPr>
        <p:spPr>
          <a:xfrm rot="0">
            <a:off x="1916837" y="3873848"/>
            <a:ext cx="8358042" cy="1631950"/>
          </a:xfrm>
          <a:prstGeom prst="rect">
            <a:avLst/>
          </a:prstGeom>
        </p:spPr>
        <p:txBody>
          <a:bodyPr anchor="t" rtlCol="false" tIns="0" lIns="0" bIns="0" rIns="0">
            <a:spAutoFit/>
          </a:bodyPr>
          <a:lstStyle/>
          <a:p>
            <a:pPr algn="l">
              <a:lnSpc>
                <a:spcPts val="2600"/>
              </a:lnSpc>
            </a:pPr>
            <a:r>
              <a:rPr lang="en-US" sz="2000" spc="-110">
                <a:solidFill>
                  <a:srgbClr val="F8F7EF"/>
                </a:solidFill>
                <a:latin typeface="Work Sans"/>
                <a:ea typeface="Work Sans"/>
                <a:cs typeface="Work Sans"/>
                <a:sym typeface="Work Sans"/>
              </a:rPr>
              <a:t>A large number of customers leave at the Product View stage before adding anything to their cart. This suggests that many customers are not finding products that match what they expected when they clicked on our website.</a:t>
            </a:r>
            <a:r>
              <a:rPr lang="en-US" sz="2000" spc="-110">
                <a:solidFill>
                  <a:srgbClr val="F8F7EF"/>
                </a:solidFill>
                <a:latin typeface="Work Sans"/>
                <a:ea typeface="Work Sans"/>
                <a:cs typeface="Work Sans"/>
                <a:sym typeface="Work Sans"/>
              </a:rPr>
              <a:t> Introducing broader product options can capture more initial interest.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Presentation - Review of Purchase Stages</dc:description>
  <dc:identifier>DAHB7lY-Ksg</dc:identifier>
  <dcterms:modified xsi:type="dcterms:W3CDTF">2011-08-01T06:04:30Z</dcterms:modified>
  <cp:revision>1</cp:revision>
  <dc:title>Presentation - Review of Purchase Stages</dc:title>
</cp:coreProperties>
</file>